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handoutMasterIdLst>
    <p:handoutMasterId r:id="rId25"/>
  </p:handoutMasterIdLst>
  <p:sldIdLst>
    <p:sldId id="269" r:id="rId2"/>
    <p:sldId id="270" r:id="rId3"/>
    <p:sldId id="278" r:id="rId4"/>
    <p:sldId id="279" r:id="rId5"/>
    <p:sldId id="280" r:id="rId6"/>
    <p:sldId id="281" r:id="rId7"/>
    <p:sldId id="282" r:id="rId8"/>
    <p:sldId id="283" r:id="rId9"/>
    <p:sldId id="284" r:id="rId10"/>
    <p:sldId id="287" r:id="rId11"/>
    <p:sldId id="285" r:id="rId12"/>
    <p:sldId id="286" r:id="rId13"/>
    <p:sldId id="288" r:id="rId14"/>
    <p:sldId id="289" r:id="rId15"/>
    <p:sldId id="271" r:id="rId16"/>
    <p:sldId id="272" r:id="rId17"/>
    <p:sldId id="273" r:id="rId18"/>
    <p:sldId id="263" r:id="rId19"/>
    <p:sldId id="274" r:id="rId20"/>
    <p:sldId id="275" r:id="rId21"/>
    <p:sldId id="276" r:id="rId22"/>
    <p:sldId id="277" r:id="rId2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p:cViewPr varScale="1">
        <p:scale>
          <a:sx n="72" d="100"/>
          <a:sy n="72" d="100"/>
        </p:scale>
        <p:origin x="331" y="67"/>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5/11/2022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5/11/2022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15</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16</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17</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181B6-B371-4031-9CBE-ED0985B01CB6}" type="slidenum">
              <a:rPr lang="en-US"/>
              <a:pPr/>
              <a:t>18</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extLst>
      <p:ext uri="{BB962C8B-B14F-4D97-AF65-F5344CB8AC3E}">
        <p14:creationId xmlns:p14="http://schemas.microsoft.com/office/powerpoint/2010/main" val="2229052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custom or tradition here.</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19</a:t>
            </a:fld>
            <a:endParaRPr lang="en-US"/>
          </a:p>
        </p:txBody>
      </p:sp>
    </p:spTree>
    <p:extLst>
      <p:ext uri="{BB962C8B-B14F-4D97-AF65-F5344CB8AC3E}">
        <p14:creationId xmlns:p14="http://schemas.microsoft.com/office/powerpoint/2010/main" val="2063820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the head leader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20</a:t>
            </a:fld>
            <a:endParaRPr lang="en-US"/>
          </a:p>
        </p:txBody>
      </p:sp>
    </p:spTree>
    <p:extLst>
      <p:ext uri="{BB962C8B-B14F-4D97-AF65-F5344CB8AC3E}">
        <p14:creationId xmlns:p14="http://schemas.microsoft.com/office/powerpoint/2010/main" val="3204451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21</a:t>
            </a:fld>
            <a:endParaRPr lang="en-US"/>
          </a:p>
        </p:txBody>
      </p:sp>
    </p:spTree>
    <p:extLst>
      <p:ext uri="{BB962C8B-B14F-4D97-AF65-F5344CB8AC3E}">
        <p14:creationId xmlns:p14="http://schemas.microsoft.com/office/powerpoint/2010/main" val="1681772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one of the points of interest for your country.</a:t>
            </a:r>
          </a:p>
        </p:txBody>
      </p:sp>
      <p:sp>
        <p:nvSpPr>
          <p:cNvPr id="4" name="Slide Number Placeholder 3"/>
          <p:cNvSpPr>
            <a:spLocks noGrp="1"/>
          </p:cNvSpPr>
          <p:nvPr>
            <p:ph type="sldNum" sz="quarter" idx="10"/>
          </p:nvPr>
        </p:nvSpPr>
        <p:spPr/>
        <p:txBody>
          <a:bodyPr/>
          <a:lstStyle/>
          <a:p>
            <a:fld id="{69C971FF-EF28-4195-A575-329446EFAA55}" type="slidenum">
              <a:rPr lang="en-US" smtClean="0"/>
              <a:t>22</a:t>
            </a:fld>
            <a:endParaRPr lang="en-US"/>
          </a:p>
        </p:txBody>
      </p:sp>
    </p:spTree>
    <p:extLst>
      <p:ext uri="{BB962C8B-B14F-4D97-AF65-F5344CB8AC3E}">
        <p14:creationId xmlns:p14="http://schemas.microsoft.com/office/powerpoint/2010/main" val="3969760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5/11/2022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5/11/2022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5/11/2022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5/11/2022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5/11/2022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5/11/2022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5/11/2022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5/11/2022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5/11/2022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5/11/2022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5/11/2022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5/11/2022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1812" y="533400"/>
            <a:ext cx="9753600" cy="1371600"/>
          </a:xfrm>
        </p:spPr>
        <p:txBody>
          <a:bodyPr/>
          <a:lstStyle/>
          <a:p>
            <a:r>
              <a:rPr lang="en-US" dirty="0" smtClean="0"/>
              <a:t>Chapter 5</a:t>
            </a:r>
            <a:br>
              <a:rPr lang="en-US" dirty="0" smtClean="0"/>
            </a:br>
            <a:endParaRPr lang="en-US" dirty="0"/>
          </a:p>
        </p:txBody>
      </p:sp>
      <p:sp>
        <p:nvSpPr>
          <p:cNvPr id="5" name="Subtitle 4"/>
          <p:cNvSpPr>
            <a:spLocks noGrp="1"/>
          </p:cNvSpPr>
          <p:nvPr>
            <p:ph type="subTitle" idx="1"/>
          </p:nvPr>
        </p:nvSpPr>
        <p:spPr>
          <a:xfrm>
            <a:off x="379412" y="1447800"/>
            <a:ext cx="6324600" cy="4038600"/>
          </a:xfrm>
        </p:spPr>
        <p:txBody>
          <a:bodyPr>
            <a:normAutofit/>
          </a:bodyPr>
          <a:lstStyle/>
          <a:p>
            <a:r>
              <a:rPr lang="en-US" dirty="0" smtClean="0"/>
              <a:t>Completing application</a:t>
            </a:r>
            <a:r>
              <a:rPr lang="en-US" dirty="0" smtClean="0"/>
              <a:t>| Insurability Information| Policy Delivery |Provisions Riders Exclusions</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792162"/>
          </a:xfrm>
        </p:spPr>
        <p:txBody>
          <a:bodyPr/>
          <a:lstStyle/>
          <a:p>
            <a:r>
              <a:rPr lang="en-US" dirty="0" smtClean="0"/>
              <a:t>Application</a:t>
            </a:r>
            <a:endParaRPr lang="en-US" dirty="0"/>
          </a:p>
        </p:txBody>
      </p:sp>
      <p:sp>
        <p:nvSpPr>
          <p:cNvPr id="2" name="Content Placeholder 1"/>
          <p:cNvSpPr>
            <a:spLocks noGrp="1"/>
          </p:cNvSpPr>
          <p:nvPr>
            <p:ph idx="1"/>
          </p:nvPr>
        </p:nvSpPr>
        <p:spPr>
          <a:xfrm>
            <a:off x="227012" y="1143000"/>
            <a:ext cx="11811000" cy="5638800"/>
          </a:xfrm>
        </p:spPr>
        <p:txBody>
          <a:bodyPr/>
          <a:lstStyle/>
          <a:p>
            <a:r>
              <a:rPr lang="en-US" dirty="0" smtClean="0"/>
              <a:t>Insurance starts with a insurance application in a form provided by the insurance company and completed by the agent as questions are asked by the agent and answered by the applicant (recorded applicants responses)</a:t>
            </a:r>
          </a:p>
          <a:p>
            <a:r>
              <a:rPr lang="en-US" dirty="0" smtClean="0"/>
              <a:t>This form is also called app and is then submitted to the insurance provider for its approval or rejection. </a:t>
            </a:r>
          </a:p>
          <a:p>
            <a:r>
              <a:rPr lang="en-US" dirty="0" smtClean="0"/>
              <a:t>The application is the applicant’s written request to the insurer to issue a policy or contract based upon the information contained in the application.</a:t>
            </a:r>
          </a:p>
          <a:p>
            <a:r>
              <a:rPr lang="en-US" dirty="0" smtClean="0"/>
              <a:t>Entire Contact: If policy is issued a copy of this application is stapled to the back of the policy and it becomes a part of the entire contract.</a:t>
            </a:r>
          </a:p>
          <a:p>
            <a:r>
              <a:rPr lang="en-US" dirty="0" smtClean="0"/>
              <a:t>Notice to applicant: is issued to every applicant for health insurance coverage. This informs the applicant that  credit report will be ordered concerning their prior history and any other health insurance previously applied, agent needs to leave the notice with the applicant </a:t>
            </a:r>
            <a:endParaRPr lang="en-US" dirty="0"/>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2" y="76200"/>
            <a:ext cx="9753600" cy="639762"/>
          </a:xfrm>
        </p:spPr>
        <p:txBody>
          <a:bodyPr>
            <a:normAutofit fontScale="90000"/>
          </a:bodyPr>
          <a:lstStyle/>
          <a:p>
            <a:r>
              <a:rPr lang="en-US" dirty="0" err="1" smtClean="0"/>
              <a:t>ApplicATION</a:t>
            </a:r>
            <a:endParaRPr lang="en-US" dirty="0"/>
          </a:p>
        </p:txBody>
      </p:sp>
      <p:sp>
        <p:nvSpPr>
          <p:cNvPr id="3" name="Content Placeholder 2"/>
          <p:cNvSpPr>
            <a:spLocks noGrp="1"/>
          </p:cNvSpPr>
          <p:nvPr>
            <p:ph idx="1"/>
          </p:nvPr>
        </p:nvSpPr>
        <p:spPr>
          <a:xfrm>
            <a:off x="150812" y="715962"/>
            <a:ext cx="11963400" cy="5989638"/>
          </a:xfrm>
        </p:spPr>
        <p:txBody>
          <a:bodyPr>
            <a:normAutofit fontScale="92500" lnSpcReduction="20000"/>
          </a:bodyPr>
          <a:lstStyle/>
          <a:p>
            <a:r>
              <a:rPr lang="en-US" dirty="0" smtClean="0"/>
              <a:t>Agent must take special care with the accuracy of the application in the interest of both the insurance company and the insured</a:t>
            </a:r>
          </a:p>
          <a:p>
            <a:r>
              <a:rPr lang="en-US" dirty="0" smtClean="0"/>
              <a:t>Application is the primary source of information for underwriter, it’s the agent responsibility to fill out the application, accurately completely and the best of applicant’s knowledge.</a:t>
            </a:r>
          </a:p>
          <a:p>
            <a:r>
              <a:rPr lang="en-US" dirty="0" smtClean="0"/>
              <a:t>Signature: Every application is required to be signed by the owner</a:t>
            </a:r>
          </a:p>
          <a:p>
            <a:r>
              <a:rPr lang="en-US" dirty="0" smtClean="0"/>
              <a:t>Changes: If a change is need to made or a correction is required for a </a:t>
            </a:r>
            <a:r>
              <a:rPr lang="en-US" dirty="0" err="1" smtClean="0"/>
              <a:t>increction</a:t>
            </a:r>
            <a:r>
              <a:rPr lang="en-US" dirty="0" smtClean="0"/>
              <a:t> – best way is to fill out a new application – other way is to correct the mistake and initial by the owner/applicant  -must add their initial next to the </a:t>
            </a:r>
            <a:r>
              <a:rPr lang="en-US" dirty="0" err="1" smtClean="0"/>
              <a:t>correcton</a:t>
            </a:r>
            <a:endParaRPr lang="en-US" dirty="0" smtClean="0"/>
          </a:p>
          <a:p>
            <a:r>
              <a:rPr lang="en-US" dirty="0" smtClean="0"/>
              <a:t>Problems: if there is any problem with the application then it needs to be corrected, coverage will not start till the problem is corrected, if application is approved with the problems then insurance company is bound to pay the benefits.</a:t>
            </a:r>
          </a:p>
          <a:p>
            <a:r>
              <a:rPr lang="en-US" dirty="0" smtClean="0"/>
              <a:t>Initial premium: If premium is collected with the initial application then it can collected at the time of the delivery of the application along with the statement of good health.</a:t>
            </a:r>
          </a:p>
          <a:p>
            <a:r>
              <a:rPr lang="en-US" dirty="0"/>
              <a:t>An </a:t>
            </a:r>
            <a:r>
              <a:rPr lang="en-US" b="1" dirty="0"/>
              <a:t>applicant’s insurability</a:t>
            </a:r>
            <a:r>
              <a:rPr lang="en-US" dirty="0"/>
              <a:t> will affect whether or not he or she is even accepted for life insurance coverage. Based on health and other factors, if the applicant is accepted, their insurability will also affect whether they are considered to be a standard, sub-standard, or preferred risk</a:t>
            </a:r>
            <a:r>
              <a:rPr lang="en-US" dirty="0" smtClean="0"/>
              <a:t>.</a:t>
            </a:r>
            <a:endParaRPr lang="en-US" dirty="0"/>
          </a:p>
        </p:txBody>
      </p:sp>
    </p:spTree>
    <p:extLst>
      <p:ext uri="{BB962C8B-B14F-4D97-AF65-F5344CB8AC3E}">
        <p14:creationId xmlns:p14="http://schemas.microsoft.com/office/powerpoint/2010/main" val="1386024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150812" y="1371600"/>
            <a:ext cx="11811000" cy="5257800"/>
          </a:xfrm>
        </p:spPr>
        <p:txBody>
          <a:bodyPr>
            <a:normAutofit lnSpcReduction="10000"/>
          </a:bodyPr>
          <a:lstStyle/>
          <a:p>
            <a:r>
              <a:rPr lang="en-US" dirty="0"/>
              <a:t>Most agents try to collect the initial premium for submission with the application. When an agent collects the initial premium from the applicant, the agent should issue the applicant a</a:t>
            </a:r>
          </a:p>
          <a:p>
            <a:endParaRPr lang="en-US" dirty="0"/>
          </a:p>
          <a:p>
            <a:r>
              <a:rPr lang="en-US" dirty="0"/>
              <a:t>Warranty.</a:t>
            </a:r>
          </a:p>
          <a:p>
            <a:r>
              <a:rPr lang="en-US" b="1" i="1" dirty="0" smtClean="0"/>
              <a:t>Premium </a:t>
            </a:r>
            <a:r>
              <a:rPr lang="en-US" b="1" i="1" dirty="0"/>
              <a:t>receipt.</a:t>
            </a:r>
          </a:p>
          <a:p>
            <a:r>
              <a:rPr lang="en-US" dirty="0" smtClean="0"/>
              <a:t>Statement </a:t>
            </a:r>
            <a:r>
              <a:rPr lang="en-US" dirty="0"/>
              <a:t>of good health.</a:t>
            </a:r>
          </a:p>
          <a:p>
            <a:r>
              <a:rPr lang="en-US" dirty="0" smtClean="0"/>
              <a:t>Backdated </a:t>
            </a:r>
            <a:r>
              <a:rPr lang="en-US" dirty="0"/>
              <a:t>receipt.</a:t>
            </a:r>
          </a:p>
          <a:p>
            <a:endParaRPr lang="en-US" dirty="0"/>
          </a:p>
          <a:p>
            <a:r>
              <a:rPr lang="en-US" dirty="0"/>
              <a:t>When collecting the initial premium, the agent should issue the applicant a premium receipt.</a:t>
            </a:r>
          </a:p>
          <a:p>
            <a:endParaRPr lang="en-US" dirty="0"/>
          </a:p>
        </p:txBody>
      </p:sp>
    </p:spTree>
    <p:extLst>
      <p:ext uri="{BB962C8B-B14F-4D97-AF65-F5344CB8AC3E}">
        <p14:creationId xmlns:p14="http://schemas.microsoft.com/office/powerpoint/2010/main" val="9096183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303212" y="1295400"/>
            <a:ext cx="11582400" cy="5257800"/>
          </a:xfrm>
        </p:spPr>
        <p:txBody>
          <a:bodyPr>
            <a:normAutofit/>
          </a:bodyPr>
          <a:lstStyle/>
          <a:p>
            <a:r>
              <a:rPr lang="en-US" dirty="0"/>
              <a:t>What is the purpose of a conditional receipt?</a:t>
            </a:r>
          </a:p>
          <a:p>
            <a:endParaRPr lang="en-US" dirty="0"/>
          </a:p>
          <a:p>
            <a:r>
              <a:rPr lang="en-US" dirty="0"/>
              <a:t>It is intended to provide coverage on a date prior to the policy issue.</a:t>
            </a:r>
          </a:p>
          <a:p>
            <a:r>
              <a:rPr lang="en-US" dirty="0" smtClean="0"/>
              <a:t>It </a:t>
            </a:r>
            <a:r>
              <a:rPr lang="en-US" dirty="0"/>
              <a:t>guarantees that a policy will be issued in the amount applied for.</a:t>
            </a:r>
          </a:p>
          <a:p>
            <a:r>
              <a:rPr lang="en-US" dirty="0" smtClean="0"/>
              <a:t>It </a:t>
            </a:r>
            <a:r>
              <a:rPr lang="en-US" dirty="0"/>
              <a:t>serves as proof that the applicant has been determined insurable.</a:t>
            </a:r>
          </a:p>
          <a:p>
            <a:r>
              <a:rPr lang="en-US" dirty="0" smtClean="0"/>
              <a:t>It </a:t>
            </a:r>
            <a:r>
              <a:rPr lang="en-US" dirty="0"/>
              <a:t>is given only to applicants who fully prepay the premium.</a:t>
            </a:r>
          </a:p>
          <a:p>
            <a:endParaRPr lang="en-US" dirty="0"/>
          </a:p>
          <a:p>
            <a:r>
              <a:rPr lang="en-US" dirty="0"/>
              <a:t>Coverage commences on the date of the application or the date of a medical examination, whichever is later, on the condition that the applicant is determined to be insurable at the rate applied for.</a:t>
            </a:r>
          </a:p>
          <a:p>
            <a:endParaRPr lang="en-US" dirty="0"/>
          </a:p>
        </p:txBody>
      </p:sp>
    </p:spTree>
    <p:extLst>
      <p:ext uri="{BB962C8B-B14F-4D97-AF65-F5344CB8AC3E}">
        <p14:creationId xmlns:p14="http://schemas.microsoft.com/office/powerpoint/2010/main" val="7437456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1237293" y="1676400"/>
            <a:ext cx="10515602" cy="4876800"/>
          </a:xfrm>
        </p:spPr>
        <p:txBody>
          <a:bodyPr>
            <a:normAutofit fontScale="92500"/>
          </a:bodyPr>
          <a:lstStyle/>
          <a:p>
            <a:r>
              <a:rPr lang="en-US" dirty="0"/>
              <a:t>In insurance, an offer is usually made when</a:t>
            </a:r>
          </a:p>
          <a:p>
            <a:endParaRPr lang="en-US" dirty="0"/>
          </a:p>
          <a:p>
            <a:r>
              <a:rPr lang="en-US" dirty="0"/>
              <a:t>The agent hands the policy to the policyholder.</a:t>
            </a:r>
          </a:p>
          <a:p>
            <a:r>
              <a:rPr lang="en-US" dirty="0" smtClean="0"/>
              <a:t>An </a:t>
            </a:r>
            <a:r>
              <a:rPr lang="en-US" dirty="0"/>
              <a:t>agent explains a policy to a potential applicant.</a:t>
            </a:r>
          </a:p>
          <a:p>
            <a:r>
              <a:rPr lang="en-US" b="1" i="1" dirty="0" smtClean="0"/>
              <a:t>An </a:t>
            </a:r>
            <a:r>
              <a:rPr lang="en-US" b="1" i="1" dirty="0"/>
              <a:t>applicant submits an application to the insurer</a:t>
            </a:r>
            <a:r>
              <a:rPr lang="en-US" dirty="0"/>
              <a:t>.</a:t>
            </a:r>
          </a:p>
          <a:p>
            <a:r>
              <a:rPr lang="en-US" dirty="0" smtClean="0"/>
              <a:t>The </a:t>
            </a:r>
            <a:r>
              <a:rPr lang="en-US" dirty="0"/>
              <a:t>insurer approves the application and receives the initial premium.</a:t>
            </a:r>
          </a:p>
          <a:p>
            <a:endParaRPr lang="en-US" dirty="0"/>
          </a:p>
          <a:p>
            <a:r>
              <a:rPr lang="en-US" dirty="0"/>
              <a:t>In insurance, the offer is usually made by the applicant in the form of the application. Acceptance takes place when an insurer’s underwriter approves the application and issues a policy.</a:t>
            </a:r>
          </a:p>
          <a:p>
            <a:endParaRPr lang="en-US" dirty="0"/>
          </a:p>
        </p:txBody>
      </p:sp>
    </p:spTree>
    <p:extLst>
      <p:ext uri="{BB962C8B-B14F-4D97-AF65-F5344CB8AC3E}">
        <p14:creationId xmlns:p14="http://schemas.microsoft.com/office/powerpoint/2010/main" val="37785117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379412" y="1143000"/>
            <a:ext cx="11353800" cy="5334000"/>
          </a:xfrm>
        </p:spPr>
        <p:txBody>
          <a:bodyPr>
            <a:normAutofit lnSpcReduction="10000"/>
          </a:bodyPr>
          <a:lstStyle/>
          <a:p>
            <a:r>
              <a:rPr lang="en-US" dirty="0"/>
              <a:t>Which of the following best defines the "owner" as it pertains to life settlement contracts?</a:t>
            </a:r>
          </a:p>
          <a:p>
            <a:endParaRPr lang="en-US" dirty="0"/>
          </a:p>
          <a:p>
            <a:r>
              <a:rPr lang="en-US" dirty="0"/>
              <a:t>A financial entity that sponsors the transaction</a:t>
            </a:r>
          </a:p>
          <a:p>
            <a:r>
              <a:rPr lang="en-US" dirty="0" smtClean="0"/>
              <a:t>A </a:t>
            </a:r>
            <a:r>
              <a:rPr lang="en-US" dirty="0"/>
              <a:t>fiduciary for the contract</a:t>
            </a:r>
          </a:p>
          <a:p>
            <a:r>
              <a:rPr lang="en-US" dirty="0" smtClean="0"/>
              <a:t>The </a:t>
            </a:r>
            <a:r>
              <a:rPr lang="en-US" dirty="0"/>
              <a:t>insurance provider</a:t>
            </a:r>
          </a:p>
          <a:p>
            <a:r>
              <a:rPr lang="en-US" b="1" i="1" dirty="0" smtClean="0"/>
              <a:t>The </a:t>
            </a:r>
            <a:r>
              <a:rPr lang="en-US" b="1" i="1" dirty="0" err="1"/>
              <a:t>policyowner</a:t>
            </a:r>
            <a:r>
              <a:rPr lang="en-US" b="1" i="1" dirty="0"/>
              <a:t> of the life insurance policy</a:t>
            </a:r>
          </a:p>
          <a:p>
            <a:endParaRPr lang="en-US" dirty="0"/>
          </a:p>
          <a:p>
            <a:r>
              <a:rPr lang="en-US" dirty="0"/>
              <a:t>The term owner refers to the owner of the policy who may seek to enter into a life settlement contract. The term does not include an insurance provider, a qualified institutional buyer, a financing entity, a special purpose entity, or a related provider trust.</a:t>
            </a:r>
          </a:p>
          <a:p>
            <a:endParaRPr lang="en-US" dirty="0"/>
          </a:p>
        </p:txBody>
      </p:sp>
    </p:spTree>
    <p:extLst>
      <p:ext uri="{BB962C8B-B14F-4D97-AF65-F5344CB8AC3E}">
        <p14:creationId xmlns:p14="http://schemas.microsoft.com/office/powerpoint/2010/main" val="34915486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Agent</a:t>
            </a:r>
            <a:endParaRPr lang="en-US" dirty="0"/>
          </a:p>
        </p:txBody>
      </p:sp>
      <p:sp>
        <p:nvSpPr>
          <p:cNvPr id="3" name="Content Placeholder 2"/>
          <p:cNvSpPr>
            <a:spLocks noGrp="1"/>
          </p:cNvSpPr>
          <p:nvPr>
            <p:ph idx="1"/>
          </p:nvPr>
        </p:nvSpPr>
        <p:spPr>
          <a:xfrm>
            <a:off x="608012" y="1219200"/>
            <a:ext cx="11049000" cy="5181600"/>
          </a:xfrm>
        </p:spPr>
        <p:txBody>
          <a:bodyPr>
            <a:normAutofit lnSpcReduction="10000"/>
          </a:bodyPr>
          <a:lstStyle/>
          <a:p>
            <a:r>
              <a:rPr lang="en-US" dirty="0"/>
              <a:t>Whose responsibility is it to determine if all of the questions on an application have been answered?</a:t>
            </a:r>
          </a:p>
          <a:p>
            <a:endParaRPr lang="en-US" dirty="0"/>
          </a:p>
          <a:p>
            <a:r>
              <a:rPr lang="en-US" dirty="0"/>
              <a:t>The beneficiary</a:t>
            </a:r>
          </a:p>
          <a:p>
            <a:r>
              <a:rPr lang="en-US" dirty="0" smtClean="0"/>
              <a:t>The </a:t>
            </a:r>
            <a:r>
              <a:rPr lang="en-US" dirty="0"/>
              <a:t>agent</a:t>
            </a:r>
          </a:p>
          <a:p>
            <a:r>
              <a:rPr lang="en-US" dirty="0" smtClean="0"/>
              <a:t>The </a:t>
            </a:r>
            <a:r>
              <a:rPr lang="en-US" dirty="0"/>
              <a:t>insurer</a:t>
            </a:r>
          </a:p>
          <a:p>
            <a:r>
              <a:rPr lang="en-US" dirty="0" smtClean="0"/>
              <a:t>The </a:t>
            </a:r>
            <a:r>
              <a:rPr lang="en-US" dirty="0"/>
              <a:t>applicant</a:t>
            </a:r>
          </a:p>
          <a:p>
            <a:endParaRPr lang="en-US" dirty="0"/>
          </a:p>
          <a:p>
            <a:r>
              <a:rPr lang="en-US" dirty="0"/>
              <a:t>It is the responsibility of the agent to make sure that the application has been properly signed and that all questions have been answered correctly.</a:t>
            </a:r>
          </a:p>
          <a:p>
            <a:endParaRPr lang="en-US" dirty="0"/>
          </a:p>
        </p:txBody>
      </p:sp>
    </p:spTree>
    <p:extLst>
      <p:ext uri="{BB962C8B-B14F-4D97-AF65-F5344CB8AC3E}">
        <p14:creationId xmlns:p14="http://schemas.microsoft.com/office/powerpoint/2010/main" val="32730952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Agent</a:t>
            </a:r>
            <a:endParaRPr lang="en-US" dirty="0"/>
          </a:p>
        </p:txBody>
      </p:sp>
      <p:sp>
        <p:nvSpPr>
          <p:cNvPr id="3" name="Content Placeholder 2"/>
          <p:cNvSpPr>
            <a:spLocks noGrp="1"/>
          </p:cNvSpPr>
          <p:nvPr>
            <p:ph idx="1"/>
          </p:nvPr>
        </p:nvSpPr>
        <p:spPr>
          <a:xfrm>
            <a:off x="303212" y="1295400"/>
            <a:ext cx="11430000" cy="5334000"/>
          </a:xfrm>
        </p:spPr>
        <p:txBody>
          <a:bodyPr>
            <a:normAutofit/>
          </a:bodyPr>
          <a:lstStyle/>
          <a:p>
            <a:r>
              <a:rPr lang="en-US" dirty="0"/>
              <a:t>An agent completed a CE course in 2019. Until what year must the agent keep the records of completion?</a:t>
            </a:r>
          </a:p>
          <a:p>
            <a:endParaRPr lang="en-US" dirty="0"/>
          </a:p>
          <a:p>
            <a:r>
              <a:rPr lang="en-US" dirty="0"/>
              <a:t>2020</a:t>
            </a:r>
          </a:p>
          <a:p>
            <a:r>
              <a:rPr lang="en-US" dirty="0" smtClean="0"/>
              <a:t>2023</a:t>
            </a:r>
            <a:endParaRPr lang="en-US" dirty="0"/>
          </a:p>
          <a:p>
            <a:r>
              <a:rPr lang="en-US" dirty="0" smtClean="0"/>
              <a:t>2024</a:t>
            </a:r>
            <a:endParaRPr lang="en-US" dirty="0"/>
          </a:p>
          <a:p>
            <a:r>
              <a:rPr lang="en-US" dirty="0" smtClean="0"/>
              <a:t>2029</a:t>
            </a:r>
            <a:endParaRPr lang="en-US" dirty="0"/>
          </a:p>
          <a:p>
            <a:endParaRPr lang="en-US" dirty="0"/>
          </a:p>
          <a:p>
            <a:r>
              <a:rPr lang="en-US" dirty="0"/>
              <a:t>Producers must maintain records of completion of continuing education courses for 4 years from the date of the course completion.</a:t>
            </a:r>
          </a:p>
          <a:p>
            <a:endParaRPr lang="en-US" dirty="0"/>
          </a:p>
        </p:txBody>
      </p:sp>
    </p:spTree>
    <p:extLst>
      <p:ext uri="{BB962C8B-B14F-4D97-AF65-F5344CB8AC3E}">
        <p14:creationId xmlns:p14="http://schemas.microsoft.com/office/powerpoint/2010/main" val="1912666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Agent</a:t>
            </a:r>
            <a:endParaRPr lang="en-US" dirty="0"/>
          </a:p>
        </p:txBody>
      </p:sp>
      <p:sp>
        <p:nvSpPr>
          <p:cNvPr id="3" name="Content Placeholder 2"/>
          <p:cNvSpPr>
            <a:spLocks noGrp="1"/>
          </p:cNvSpPr>
          <p:nvPr>
            <p:ph idx="1"/>
          </p:nvPr>
        </p:nvSpPr>
        <p:spPr>
          <a:xfrm>
            <a:off x="150812" y="1219200"/>
            <a:ext cx="11887200" cy="5410200"/>
          </a:xfrm>
        </p:spPr>
        <p:txBody>
          <a:bodyPr>
            <a:normAutofit/>
          </a:bodyPr>
          <a:lstStyle/>
          <a:p>
            <a:r>
              <a:rPr lang="en-US" dirty="0"/>
              <a:t>In a life settlement contract, whom does the life settlement broker represent?</a:t>
            </a:r>
          </a:p>
          <a:p>
            <a:endParaRPr lang="en-US" dirty="0"/>
          </a:p>
          <a:p>
            <a:r>
              <a:rPr lang="en-US" dirty="0"/>
              <a:t>The owner</a:t>
            </a:r>
          </a:p>
          <a:p>
            <a:r>
              <a:rPr lang="en-US" dirty="0" smtClean="0"/>
              <a:t>The </a:t>
            </a:r>
            <a:r>
              <a:rPr lang="en-US" dirty="0"/>
              <a:t>insurer</a:t>
            </a:r>
          </a:p>
          <a:p>
            <a:r>
              <a:rPr lang="en-US" dirty="0" smtClean="0"/>
              <a:t>The </a:t>
            </a:r>
            <a:r>
              <a:rPr lang="en-US" dirty="0"/>
              <a:t>beneficiary</a:t>
            </a:r>
          </a:p>
          <a:p>
            <a:r>
              <a:rPr lang="en-US" dirty="0" smtClean="0"/>
              <a:t>The </a:t>
            </a:r>
            <a:r>
              <a:rPr lang="en-US" dirty="0"/>
              <a:t>life settlement intermediary</a:t>
            </a:r>
          </a:p>
          <a:p>
            <a:endParaRPr lang="en-US" dirty="0"/>
          </a:p>
          <a:p>
            <a:r>
              <a:rPr lang="en-US" dirty="0"/>
              <a:t>Life Settlement Broker is a person who, for compensation, solicits, negotiates, or offers to negotiate a life settlement contract. Life settlement brokers represent only the </a:t>
            </a:r>
            <a:r>
              <a:rPr lang="en-US" dirty="0" err="1"/>
              <a:t>policyowners</a:t>
            </a:r>
            <a:r>
              <a:rPr lang="en-US" dirty="0"/>
              <a:t>.</a:t>
            </a:r>
          </a:p>
        </p:txBody>
      </p:sp>
    </p:spTree>
    <p:extLst>
      <p:ext uri="{BB962C8B-B14F-4D97-AF65-F5344CB8AC3E}">
        <p14:creationId xmlns:p14="http://schemas.microsoft.com/office/powerpoint/2010/main" val="27783532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Sources of information</a:t>
            </a:r>
            <a:endParaRPr lang="en-US" dirty="0"/>
          </a:p>
        </p:txBody>
      </p:sp>
      <p:sp>
        <p:nvSpPr>
          <p:cNvPr id="3" name="Content Placeholder 2"/>
          <p:cNvSpPr>
            <a:spLocks noGrp="1"/>
          </p:cNvSpPr>
          <p:nvPr>
            <p:ph idx="1"/>
          </p:nvPr>
        </p:nvSpPr>
        <p:spPr>
          <a:xfrm>
            <a:off x="227012" y="1295400"/>
            <a:ext cx="11734800" cy="5410200"/>
          </a:xfrm>
        </p:spPr>
        <p:txBody>
          <a:bodyPr/>
          <a:lstStyle/>
          <a:p>
            <a:r>
              <a:rPr lang="en-US" dirty="0" smtClean="0"/>
              <a:t>Insurance provider can use external sources to determine the applicant‘s insurability, such as medical information board MIB, also adhere to Fair Credit Reporting ACT FCRA</a:t>
            </a:r>
          </a:p>
          <a:p>
            <a:r>
              <a:rPr lang="en-US" dirty="0" smtClean="0"/>
              <a:t>Attending physician report: if it is necessary an attending physician statements APS will be send to the applicant’s doctor for completion</a:t>
            </a:r>
          </a:p>
          <a:p>
            <a:r>
              <a:rPr lang="en-US" dirty="0" smtClean="0"/>
              <a:t>Medical exam report: Medical exams are conducted by paramedics or physician at the expense of the insurer.</a:t>
            </a:r>
          </a:p>
          <a:p>
            <a:r>
              <a:rPr lang="en-US" dirty="0" smtClean="0"/>
              <a:t>HIV or AIDS: If HIV test is required then insurer must first obtain the applicant’s written consent for the test.</a:t>
            </a:r>
          </a:p>
          <a:p>
            <a:r>
              <a:rPr lang="en-US" dirty="0" smtClean="0"/>
              <a:t>HIPPA: Privacy rule protected information is defined as individual identifiable health information held transmitted by covered entity or its business associate. This is known as protected health information PHI</a:t>
            </a:r>
            <a:endParaRPr lang="en-US" dirty="0"/>
          </a:p>
        </p:txBody>
      </p:sp>
    </p:spTree>
    <p:extLst>
      <p:ext uri="{BB962C8B-B14F-4D97-AF65-F5344CB8AC3E}">
        <p14:creationId xmlns:p14="http://schemas.microsoft.com/office/powerpoint/2010/main" val="553508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FCRA</a:t>
            </a:r>
            <a:endParaRPr lang="en-US" dirty="0"/>
          </a:p>
        </p:txBody>
      </p:sp>
      <p:sp>
        <p:nvSpPr>
          <p:cNvPr id="3" name="Content Placeholder 2"/>
          <p:cNvSpPr>
            <a:spLocks noGrp="1"/>
          </p:cNvSpPr>
          <p:nvPr>
            <p:ph idx="1"/>
          </p:nvPr>
        </p:nvSpPr>
        <p:spPr>
          <a:xfrm>
            <a:off x="303212" y="1143000"/>
            <a:ext cx="11734800" cy="5562600"/>
          </a:xfrm>
        </p:spPr>
        <p:txBody>
          <a:bodyPr>
            <a:normAutofit/>
          </a:bodyPr>
          <a:lstStyle/>
          <a:p>
            <a:r>
              <a:rPr lang="en-US" dirty="0"/>
              <a:t>To comply with Fair Credit Reporting Act, when must a producer notify an applicant that a credit report may be requested?</a:t>
            </a:r>
          </a:p>
          <a:p>
            <a:endParaRPr lang="en-US" dirty="0"/>
          </a:p>
          <a:p>
            <a:r>
              <a:rPr lang="en-US" b="1" i="1" dirty="0"/>
              <a:t>At the time of application</a:t>
            </a:r>
          </a:p>
          <a:p>
            <a:r>
              <a:rPr lang="en-US" dirty="0" smtClean="0"/>
              <a:t>When </a:t>
            </a:r>
            <a:r>
              <a:rPr lang="en-US" dirty="0"/>
              <a:t>the applicant's credit is checked</a:t>
            </a:r>
          </a:p>
          <a:p>
            <a:r>
              <a:rPr lang="en-US" dirty="0" smtClean="0"/>
              <a:t>When </a:t>
            </a:r>
            <a:r>
              <a:rPr lang="en-US" dirty="0"/>
              <a:t>the policy is delivered</a:t>
            </a:r>
          </a:p>
          <a:p>
            <a:r>
              <a:rPr lang="en-US" dirty="0" smtClean="0"/>
              <a:t>At </a:t>
            </a:r>
            <a:r>
              <a:rPr lang="en-US" dirty="0"/>
              <a:t>the initial interview</a:t>
            </a:r>
          </a:p>
          <a:p>
            <a:endParaRPr lang="en-US" dirty="0"/>
          </a:p>
          <a:p>
            <a:r>
              <a:rPr lang="en-US" dirty="0"/>
              <a:t>A notice to the applicant must be issued to all applicants for health insurance coverage.</a:t>
            </a:r>
          </a:p>
          <a:p>
            <a:endParaRPr lang="en-US" dirty="0"/>
          </a:p>
        </p:txBody>
      </p:sp>
    </p:spTree>
    <p:extLst>
      <p:ext uri="{BB962C8B-B14F-4D97-AF65-F5344CB8AC3E}">
        <p14:creationId xmlns:p14="http://schemas.microsoft.com/office/powerpoint/2010/main" val="29557956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Delivery</a:t>
            </a:r>
            <a:endParaRPr lang="en-US" dirty="0"/>
          </a:p>
        </p:txBody>
      </p:sp>
      <p:sp>
        <p:nvSpPr>
          <p:cNvPr id="3" name="Content Placeholder 2"/>
          <p:cNvSpPr>
            <a:spLocks noGrp="1"/>
          </p:cNvSpPr>
          <p:nvPr>
            <p:ph idx="1"/>
          </p:nvPr>
        </p:nvSpPr>
        <p:spPr>
          <a:xfrm>
            <a:off x="303212" y="1447800"/>
            <a:ext cx="11658600" cy="5257800"/>
          </a:xfrm>
        </p:spPr>
        <p:txBody>
          <a:bodyPr/>
          <a:lstStyle/>
          <a:p>
            <a:r>
              <a:rPr lang="en-US" dirty="0" smtClean="0"/>
              <a:t>Agent is responsible for the delivery of the application to insured and collect if due at the time of delivery and take statement of good health.</a:t>
            </a:r>
          </a:p>
          <a:p>
            <a:r>
              <a:rPr lang="en-US" dirty="0" smtClean="0"/>
              <a:t>Agent conditional receipt or delivery receipt or any kind of application receipt is not guaranteed insurability.</a:t>
            </a:r>
          </a:p>
          <a:p>
            <a:r>
              <a:rPr lang="en-US" dirty="0" smtClean="0"/>
              <a:t>Insurability is determined after the completion of the underwriter process.</a:t>
            </a:r>
          </a:p>
          <a:p>
            <a:r>
              <a:rPr lang="en-US" dirty="0" smtClean="0"/>
              <a:t>Agent main responsibility is to explain the policy main benefits, provision or exclusion </a:t>
            </a:r>
          </a:p>
          <a:p>
            <a:r>
              <a:rPr lang="en-US" dirty="0" smtClean="0"/>
              <a:t>If current policy is </a:t>
            </a:r>
            <a:r>
              <a:rPr lang="en-US" b="1" dirty="0" smtClean="0"/>
              <a:t>replaced</a:t>
            </a:r>
            <a:r>
              <a:rPr lang="en-US" dirty="0" smtClean="0"/>
              <a:t> with a new one then current policy is not canceled before the new one is issued.</a:t>
            </a:r>
          </a:p>
          <a:p>
            <a:endParaRPr lang="en-US" dirty="0"/>
          </a:p>
        </p:txBody>
      </p:sp>
    </p:spTree>
    <p:extLst>
      <p:ext uri="{BB962C8B-B14F-4D97-AF65-F5344CB8AC3E}">
        <p14:creationId xmlns:p14="http://schemas.microsoft.com/office/powerpoint/2010/main" val="29995645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227012" y="1295400"/>
            <a:ext cx="11734800" cy="5410200"/>
          </a:xfrm>
        </p:spPr>
        <p:txBody>
          <a:bodyPr/>
          <a:lstStyle/>
          <a:p>
            <a:r>
              <a:rPr lang="en-US" dirty="0" smtClean="0"/>
              <a:t>When Amy applies for health insurance at the age of 25, an nonsmoker with out health problems, he should have different premium than if he applied for a replacement policy at age of 45. after suffering a heart attach and having smoked for 15 years. Lets presumed that at the age of 25 Amy paid an excessively high premium because he was issued an overpriced policy. What happens at the age of 45? Amy is evaluated with his age and health considered (along with other factors) and premiums are higher due to these factors. Even though Amy was told he was paying excessive premiums are higher due to these factors. Even though Amy was told he was paying excessive premiums on his original policy, If a new policy is written, he will be judged on the factors that affect his new policy at that time not at time of original policy </a:t>
            </a:r>
            <a:r>
              <a:rPr lang="en-US" smtClean="0"/>
              <a:t>was written</a:t>
            </a:r>
            <a:endParaRPr lang="en-US" dirty="0"/>
          </a:p>
        </p:txBody>
      </p:sp>
    </p:spTree>
    <p:extLst>
      <p:ext uri="{BB962C8B-B14F-4D97-AF65-F5344CB8AC3E}">
        <p14:creationId xmlns:p14="http://schemas.microsoft.com/office/powerpoint/2010/main" val="3864687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Geographic Features of (your country)</a:t>
            </a:r>
          </a:p>
        </p:txBody>
      </p:sp>
      <p:sp>
        <p:nvSpPr>
          <p:cNvPr id="2" name="Content Placeholder 1"/>
          <p:cNvSpPr>
            <a:spLocks noGrp="1"/>
          </p:cNvSpPr>
          <p:nvPr>
            <p:ph sz="half" idx="1"/>
          </p:nvPr>
        </p:nvSpPr>
        <p:spPr/>
        <p:txBody>
          <a:bodyPr>
            <a:normAutofit/>
          </a:bodyPr>
          <a:lstStyle/>
          <a:p>
            <a:r>
              <a:rPr lang="en-US" dirty="0"/>
              <a:t>Name any important rivers, lakes, oceans, mountain ranges and other geographic features that can be found in or next to your country.</a:t>
            </a:r>
          </a:p>
        </p:txBody>
      </p:sp>
      <p:sp>
        <p:nvSpPr>
          <p:cNvPr id="4" name="Content Placeholder 3"/>
          <p:cNvSpPr>
            <a:spLocks noGrp="1"/>
          </p:cNvSpPr>
          <p:nvPr>
            <p:ph sz="half" idx="2"/>
          </p:nvPr>
        </p:nvSpPr>
        <p:spPr/>
        <p:txBody>
          <a:bodyPr/>
          <a:lstStyle/>
          <a:p>
            <a:endParaRPr lang="en-US"/>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Climate of (your country)</a:t>
            </a:r>
          </a:p>
        </p:txBody>
      </p:sp>
      <p:sp>
        <p:nvSpPr>
          <p:cNvPr id="3" name="Text Placeholder 2"/>
          <p:cNvSpPr>
            <a:spLocks noGrp="1"/>
          </p:cNvSpPr>
          <p:nvPr>
            <p:ph sz="half" idx="1"/>
          </p:nvPr>
        </p:nvSpPr>
        <p:spPr/>
        <p:txBody>
          <a:bodyPr/>
          <a:lstStyle/>
          <a:p>
            <a:r>
              <a:rPr lang="en-US" dirty="0"/>
              <a:t>Tell about the typical weather patterns in your country throughout the calendar year.</a:t>
            </a:r>
          </a:p>
        </p:txBody>
      </p:sp>
      <p:sp>
        <p:nvSpPr>
          <p:cNvPr id="2" name="Content Placeholder 1"/>
          <p:cNvSpPr>
            <a:spLocks noGrp="1"/>
          </p:cNvSpPr>
          <p:nvPr>
            <p:ph sz="half" idx="2"/>
          </p:nvPr>
        </p:nvSpPr>
        <p:spPr/>
        <p:txBody>
          <a:bodyPr/>
          <a:lstStyle/>
          <a:p>
            <a:endParaRPr lang="en-US"/>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Environment of (your country)</a:t>
            </a:r>
          </a:p>
        </p:txBody>
      </p:sp>
      <p:sp>
        <p:nvSpPr>
          <p:cNvPr id="6" name="Content Placeholder 5"/>
          <p:cNvSpPr>
            <a:spLocks noGrp="1"/>
          </p:cNvSpPr>
          <p:nvPr>
            <p:ph sz="half" idx="1"/>
          </p:nvPr>
        </p:nvSpPr>
        <p:spPr/>
        <p:txBody>
          <a:bodyPr/>
          <a:lstStyle/>
          <a:p>
            <a:r>
              <a:rPr lang="en-US" dirty="0"/>
              <a:t>Describe some of the native animals and plants that can be seen in your country.</a:t>
            </a:r>
          </a:p>
        </p:txBody>
      </p:sp>
      <p:sp>
        <p:nvSpPr>
          <p:cNvPr id="2" name="Content Placeholder 1"/>
          <p:cNvSpPr>
            <a:spLocks noGrp="1"/>
          </p:cNvSpPr>
          <p:nvPr>
            <p:ph sz="half" idx="2"/>
          </p:nvPr>
        </p:nvSpPr>
        <p:spPr/>
        <p:txBody>
          <a:bodyPr/>
          <a:lstStyle/>
          <a:p>
            <a:endParaRPr lang="en-US"/>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History of (your country)</a:t>
            </a:r>
          </a:p>
        </p:txBody>
      </p:sp>
      <p:sp>
        <p:nvSpPr>
          <p:cNvPr id="9" name="Content Placeholder 8"/>
          <p:cNvSpPr>
            <a:spLocks noGrp="1"/>
          </p:cNvSpPr>
          <p:nvPr>
            <p:ph idx="1"/>
          </p:nvPr>
        </p:nvSpPr>
        <p:spPr/>
        <p:txBody>
          <a:bodyPr/>
          <a:lstStyle/>
          <a:p>
            <a:r>
              <a:rPr lang="en-US" dirty="0"/>
              <a:t>Make a timeline of the important historical events of your country or province.</a:t>
            </a:r>
          </a:p>
        </p:txBody>
      </p:sp>
      <p:graphicFrame>
        <p:nvGraphicFramePr>
          <p:cNvPr id="5" name="Table 4"/>
          <p:cNvGraphicFramePr>
            <a:graphicFrameLocks noGrp="1"/>
          </p:cNvGraphicFramePr>
          <p:nvPr>
            <p:extLst>
              <p:ext uri="{D42A27DB-BD31-4B8C-83A1-F6EECF244321}">
                <p14:modId xmlns:p14="http://schemas.microsoft.com/office/powerpoint/2010/main" val="3994910185"/>
              </p:ext>
            </p:extLst>
          </p:nvPr>
        </p:nvGraphicFramePr>
        <p:xfrm>
          <a:off x="1200785" y="3407664"/>
          <a:ext cx="9753168" cy="2844060"/>
        </p:xfrm>
        <a:graphic>
          <a:graphicData uri="http://schemas.openxmlformats.org/drawingml/2006/table">
            <a:tbl>
              <a:tblPr firstRow="1" bandRow="1">
                <a:tableStyleId>{3B4B98B0-60AC-42C2-AFA5-B58CD77FA1E5}</a:tableStyleId>
              </a:tblPr>
              <a:tblGrid>
                <a:gridCol w="1290024">
                  <a:extLst>
                    <a:ext uri="{9D8B030D-6E8A-4147-A177-3AD203B41FA5}">
                      <a16:colId xmlns:a16="http://schemas.microsoft.com/office/drawing/2014/main" xmlns="" val="20000"/>
                    </a:ext>
                  </a:extLst>
                </a:gridCol>
                <a:gridCol w="1146687">
                  <a:extLst>
                    <a:ext uri="{9D8B030D-6E8A-4147-A177-3AD203B41FA5}">
                      <a16:colId xmlns:a16="http://schemas.microsoft.com/office/drawing/2014/main" xmlns="" val="20001"/>
                    </a:ext>
                  </a:extLst>
                </a:gridCol>
                <a:gridCol w="1220463">
                  <a:extLst>
                    <a:ext uri="{9D8B030D-6E8A-4147-A177-3AD203B41FA5}">
                      <a16:colId xmlns:a16="http://schemas.microsoft.com/office/drawing/2014/main" xmlns="" val="20002"/>
                    </a:ext>
                  </a:extLst>
                </a:gridCol>
                <a:gridCol w="1220465">
                  <a:extLst>
                    <a:ext uri="{9D8B030D-6E8A-4147-A177-3AD203B41FA5}">
                      <a16:colId xmlns:a16="http://schemas.microsoft.com/office/drawing/2014/main" xmlns="" val="20003"/>
                    </a:ext>
                  </a:extLst>
                </a:gridCol>
                <a:gridCol w="1218355">
                  <a:extLst>
                    <a:ext uri="{9D8B030D-6E8A-4147-A177-3AD203B41FA5}">
                      <a16:colId xmlns:a16="http://schemas.microsoft.com/office/drawing/2014/main" xmlns="" val="20004"/>
                    </a:ext>
                  </a:extLst>
                </a:gridCol>
                <a:gridCol w="1220463">
                  <a:extLst>
                    <a:ext uri="{9D8B030D-6E8A-4147-A177-3AD203B41FA5}">
                      <a16:colId xmlns:a16="http://schemas.microsoft.com/office/drawing/2014/main" xmlns="" val="20005"/>
                    </a:ext>
                  </a:extLst>
                </a:gridCol>
                <a:gridCol w="1216248">
                  <a:extLst>
                    <a:ext uri="{9D8B030D-6E8A-4147-A177-3AD203B41FA5}">
                      <a16:colId xmlns:a16="http://schemas.microsoft.com/office/drawing/2014/main" xmlns="" val="20006"/>
                    </a:ext>
                  </a:extLst>
                </a:gridCol>
                <a:gridCol w="1220463">
                  <a:extLst>
                    <a:ext uri="{9D8B030D-6E8A-4147-A177-3AD203B41FA5}">
                      <a16:colId xmlns:a16="http://schemas.microsoft.com/office/drawing/2014/main" xmlns="" val="20007"/>
                    </a:ext>
                  </a:extLst>
                </a:gridCol>
              </a:tblGrid>
              <a:tr h="887182">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1</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2</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3</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4</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5</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6</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7</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Name of Event 8</a:t>
                      </a:r>
                      <a:endParaRPr kumimoji="0" lang="en-US" sz="1200" b="1"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extLst>
                  <a:ext uri="{0D108BD9-81ED-4DB2-BD59-A6C34878D82A}">
                    <a16:rowId xmlns:a16="http://schemas.microsoft.com/office/drawing/2014/main" xmlns="" val="10000"/>
                  </a:ext>
                </a:extLst>
              </a:tr>
              <a:tr h="319005">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1st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2nd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3rd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4th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5th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6th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7th Date</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8th Date </a:t>
                      </a:r>
                      <a:endParaRPr kumimoji="0" lang="en-US" sz="1200" b="0" i="0" u="none" strike="noStrike" cap="none" normalizeH="0" baseline="0" dirty="0">
                        <a:ln>
                          <a:noFill/>
                        </a:ln>
                        <a:solidFill>
                          <a:schemeClr val="bg2">
                            <a:lumMod val="20000"/>
                            <a:lumOff val="80000"/>
                          </a:schemeClr>
                        </a:solidFill>
                        <a:effectLst/>
                        <a:latin typeface="+mn-lt"/>
                        <a:cs typeface="Times New Roman" panose="02020603050405020304" pitchFamily="18" charset="0"/>
                      </a:endParaRPr>
                    </a:p>
                  </a:txBody>
                  <a:tcPr marL="121414" marR="121414" marT="45708" marB="45708" anchor="b" horzOverflow="overflow"/>
                </a:tc>
                <a:extLst>
                  <a:ext uri="{0D108BD9-81ED-4DB2-BD59-A6C34878D82A}">
                    <a16:rowId xmlns:a16="http://schemas.microsoft.com/office/drawing/2014/main" xmlns="" val="10001"/>
                  </a:ext>
                </a:extLst>
              </a:tr>
              <a:tr h="1637873">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tc>
                  <a:txBody>
                    <a:bodyPr/>
                    <a:lstStyle>
                      <a:lvl1pPr algn="l">
                        <a:spcBef>
                          <a:spcPct val="20000"/>
                        </a:spcBef>
                        <a:buClr>
                          <a:schemeClr val="tx1"/>
                        </a:buClr>
                        <a:defRPr sz="2000">
                          <a:solidFill>
                            <a:schemeClr val="tx1"/>
                          </a:solidFill>
                          <a:latin typeface="Century Schoolbook" panose="02040604050505020304" pitchFamily="18" charset="0"/>
                          <a:cs typeface="Times New Roman" panose="02020603050405020304" pitchFamily="18" charset="0"/>
                        </a:defRPr>
                      </a:lvl1pPr>
                      <a:lvl2pPr algn="l">
                        <a:spcBef>
                          <a:spcPct val="20000"/>
                        </a:spcBef>
                        <a:buClr>
                          <a:schemeClr val="tx1"/>
                        </a:buClr>
                        <a:defRPr>
                          <a:solidFill>
                            <a:schemeClr val="tx1"/>
                          </a:solidFill>
                          <a:latin typeface="Century Schoolbook" panose="02040604050505020304" pitchFamily="18" charset="0"/>
                          <a:cs typeface="Times New Roman" panose="02020603050405020304" pitchFamily="18" charset="0"/>
                        </a:defRPr>
                      </a:lvl2pPr>
                      <a:lvl3pPr algn="l">
                        <a:spcBef>
                          <a:spcPct val="20000"/>
                        </a:spcBef>
                        <a:buClr>
                          <a:schemeClr val="tx1"/>
                        </a:buClr>
                        <a:defRPr sz="1600">
                          <a:solidFill>
                            <a:schemeClr val="tx1"/>
                          </a:solidFill>
                          <a:latin typeface="Century Schoolbook" panose="02040604050505020304" pitchFamily="18" charset="0"/>
                          <a:cs typeface="Times New Roman" panose="02020603050405020304" pitchFamily="18" charset="0"/>
                        </a:defRPr>
                      </a:lvl3pPr>
                      <a:lvl4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4pPr>
                      <a:lvl5pPr algn="l">
                        <a:spcBef>
                          <a:spcPct val="20000"/>
                        </a:spcBef>
                        <a:buClr>
                          <a:schemeClr val="tx1"/>
                        </a:buClr>
                        <a:defRPr sz="1400">
                          <a:solidFill>
                            <a:schemeClr val="tx1"/>
                          </a:solidFill>
                          <a:latin typeface="Century Schoolbook" panose="02040604050505020304" pitchFamily="18" charset="0"/>
                          <a:cs typeface="Times New Roman" panose="02020603050405020304" pitchFamily="18" charset="0"/>
                        </a:defRPr>
                      </a:lvl5pPr>
                      <a:lvl6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6pPr>
                      <a:lvl7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7pPr>
                      <a:lvl8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8pPr>
                      <a:lvl9pPr fontAlgn="base">
                        <a:spcBef>
                          <a:spcPct val="20000"/>
                        </a:spcBef>
                        <a:spcAft>
                          <a:spcPct val="0"/>
                        </a:spcAft>
                        <a:buClr>
                          <a:schemeClr val="tx1"/>
                        </a:buClr>
                        <a:defRPr sz="1400">
                          <a:solidFill>
                            <a:schemeClr val="tx1"/>
                          </a:solidFill>
                          <a:latin typeface="Century Schoolbook" panose="02040604050505020304" pitchFamily="18" charset="0"/>
                          <a:cs typeface="Times New Roman" panose="02020603050405020304" pitchFamily="18" charset="0"/>
                        </a:defRPr>
                      </a:lvl9pPr>
                    </a:lstStyle>
                    <a:p>
                      <a:pPr marL="0" marR="0" lvl="0" indent="0" algn="l" defTabSz="914400" rtl="0" eaLnBrk="1" fontAlgn="b" latinLnBrk="0" hangingPunct="1">
                        <a:lnSpc>
                          <a:spcPct val="100000"/>
                        </a:lnSpc>
                        <a:spcBef>
                          <a:spcPct val="0"/>
                        </a:spcBef>
                        <a:spcAft>
                          <a:spcPct val="0"/>
                        </a:spcAft>
                        <a:buClr>
                          <a:schemeClr val="bg1"/>
                        </a:buClr>
                        <a:buSzTx/>
                        <a:buFontTx/>
                        <a:buNone/>
                        <a:tabLst/>
                      </a:pPr>
                      <a:r>
                        <a:rPr kumimoji="0" lang="en-US" sz="1200" u="none" strike="noStrike" cap="none" normalizeH="0" baseline="0" dirty="0">
                          <a:ln>
                            <a:noFill/>
                          </a:ln>
                          <a:effectLst/>
                        </a:rPr>
                        <a:t>Description of Event</a:t>
                      </a:r>
                      <a:endParaRPr kumimoji="0" lang="en-US" sz="1200" b="0" i="0" u="none" strike="noStrike" cap="none" normalizeH="0" baseline="0" dirty="0">
                        <a:ln>
                          <a:noFill/>
                        </a:ln>
                        <a:solidFill>
                          <a:schemeClr val="tx1"/>
                        </a:solidFill>
                        <a:effectLst/>
                        <a:latin typeface="+mn-lt"/>
                        <a:cs typeface="Times New Roman" panose="02020603050405020304" pitchFamily="18" charset="0"/>
                      </a:endParaRPr>
                    </a:p>
                  </a:txBody>
                  <a:tcPr marL="121414" marR="121414" marT="45708" marB="45708" anchor="b" horzOverflow="overflow"/>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55394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Customs and Traditions</a:t>
            </a:r>
          </a:p>
        </p:txBody>
      </p:sp>
      <p:sp>
        <p:nvSpPr>
          <p:cNvPr id="5" name="Content Placeholder 4"/>
          <p:cNvSpPr>
            <a:spLocks noGrp="1"/>
          </p:cNvSpPr>
          <p:nvPr>
            <p:ph sz="half" idx="1"/>
          </p:nvPr>
        </p:nvSpPr>
        <p:spPr/>
        <p:txBody>
          <a:bodyPr/>
          <a:lstStyle/>
          <a:p>
            <a:r>
              <a:rPr lang="en-US" dirty="0"/>
              <a:t>Tell about the important customs and traditions celebrated in your country. Include information about who celebrates and when they celebrate.</a:t>
            </a:r>
          </a:p>
          <a:p>
            <a:endParaRPr lang="en-US" dirty="0"/>
          </a:p>
        </p:txBody>
      </p:sp>
      <p:sp>
        <p:nvSpPr>
          <p:cNvPr id="2" name="Content Placeholder 1"/>
          <p:cNvSpPr>
            <a:spLocks noGrp="1"/>
          </p:cNvSpPr>
          <p:nvPr>
            <p:ph sz="half" idx="2"/>
          </p:nvPr>
        </p:nvSpPr>
        <p:spPr/>
        <p:txBody>
          <a:bodyPr/>
          <a:lstStyle/>
          <a:p>
            <a:endParaRPr lang="en-US"/>
          </a:p>
        </p:txBody>
      </p:sp>
    </p:spTree>
    <p:extLst>
      <p:ext uri="{BB962C8B-B14F-4D97-AF65-F5344CB8AC3E}">
        <p14:creationId xmlns:p14="http://schemas.microsoft.com/office/powerpoint/2010/main" val="404019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Government of (your country)</a:t>
            </a:r>
          </a:p>
        </p:txBody>
      </p:sp>
      <p:sp>
        <p:nvSpPr>
          <p:cNvPr id="3" name="Content Placeholder 2"/>
          <p:cNvSpPr>
            <a:spLocks noGrp="1"/>
          </p:cNvSpPr>
          <p:nvPr>
            <p:ph sz="half" idx="1"/>
          </p:nvPr>
        </p:nvSpPr>
        <p:spPr/>
        <p:txBody>
          <a:bodyPr/>
          <a:lstStyle/>
          <a:p>
            <a:r>
              <a:rPr lang="en-US" dirty="0"/>
              <a:t>Explain how laws are made and changed in your country. Tell how people are chosen to lead the country. </a:t>
            </a:r>
          </a:p>
        </p:txBody>
      </p:sp>
      <p:sp>
        <p:nvSpPr>
          <p:cNvPr id="5" name="Content Placeholder 4"/>
          <p:cNvSpPr>
            <a:spLocks noGrp="1"/>
          </p:cNvSpPr>
          <p:nvPr>
            <p:ph sz="half" idx="2"/>
          </p:nvPr>
        </p:nvSpPr>
        <p:spPr/>
        <p:txBody>
          <a:bodyPr/>
          <a:lstStyle/>
          <a:p>
            <a:endParaRPr lang="en-US"/>
          </a:p>
        </p:txBody>
      </p:sp>
    </p:spTree>
    <p:extLst>
      <p:ext uri="{BB962C8B-B14F-4D97-AF65-F5344CB8AC3E}">
        <p14:creationId xmlns:p14="http://schemas.microsoft.com/office/powerpoint/2010/main" val="260042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Economy of (your country)</a:t>
            </a:r>
          </a:p>
        </p:txBody>
      </p:sp>
      <p:sp>
        <p:nvSpPr>
          <p:cNvPr id="3" name="Content Placeholder 2"/>
          <p:cNvSpPr>
            <a:spLocks noGrp="1"/>
          </p:cNvSpPr>
          <p:nvPr>
            <p:ph sz="half" idx="1"/>
          </p:nvPr>
        </p:nvSpPr>
        <p:spPr/>
        <p:txBody>
          <a:bodyPr/>
          <a:lstStyle/>
          <a:p>
            <a:r>
              <a:rPr lang="en-US" dirty="0"/>
              <a:t>Explain which goods and services are produced in your country. How do people typically provide for the needs of themselves and their families?</a:t>
            </a:r>
          </a:p>
        </p:txBody>
      </p:sp>
      <p:sp>
        <p:nvSpPr>
          <p:cNvPr id="8" name="Content Placeholder 7"/>
          <p:cNvSpPr>
            <a:spLocks noGrp="1"/>
          </p:cNvSpPr>
          <p:nvPr>
            <p:ph sz="half" idx="2"/>
          </p:nvPr>
        </p:nvSpPr>
        <p:spPr/>
        <p:txBody>
          <a:bodyPr/>
          <a:lstStyle/>
          <a:p>
            <a:endParaRPr lang="en-US"/>
          </a:p>
        </p:txBody>
      </p:sp>
    </p:spTree>
    <p:extLst>
      <p:ext uri="{BB962C8B-B14F-4D97-AF65-F5344CB8AC3E}">
        <p14:creationId xmlns:p14="http://schemas.microsoft.com/office/powerpoint/2010/main" val="3298995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Tourism in (your country)</a:t>
            </a:r>
          </a:p>
        </p:txBody>
      </p:sp>
      <p:sp>
        <p:nvSpPr>
          <p:cNvPr id="3" name="Content Placeholder 2"/>
          <p:cNvSpPr>
            <a:spLocks noGrp="1"/>
          </p:cNvSpPr>
          <p:nvPr>
            <p:ph sz="half" idx="1"/>
          </p:nvPr>
        </p:nvSpPr>
        <p:spPr/>
        <p:txBody>
          <a:bodyPr/>
          <a:lstStyle/>
          <a:p>
            <a:r>
              <a:rPr lang="en-US" dirty="0"/>
              <a:t>Tell about the points of interest in your country that people from other countries may be interested in visiting.</a:t>
            </a:r>
          </a:p>
        </p:txBody>
      </p:sp>
      <p:sp>
        <p:nvSpPr>
          <p:cNvPr id="5" name="Content Placeholder 4"/>
          <p:cNvSpPr>
            <a:spLocks noGrp="1"/>
          </p:cNvSpPr>
          <p:nvPr>
            <p:ph sz="half" idx="2"/>
          </p:nvPr>
        </p:nvSpPr>
        <p:spPr/>
        <p:txBody>
          <a:bodyPr/>
          <a:lstStyle/>
          <a:p>
            <a:endParaRPr lang="en-US"/>
          </a:p>
        </p:txBody>
      </p:sp>
    </p:spTree>
    <p:extLst>
      <p:ext uri="{BB962C8B-B14F-4D97-AF65-F5344CB8AC3E}">
        <p14:creationId xmlns:p14="http://schemas.microsoft.com/office/powerpoint/2010/main" val="37323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173</TotalTime>
  <Words>1735</Words>
  <Application>Microsoft Office PowerPoint</Application>
  <PresentationFormat>Custom</PresentationFormat>
  <Paragraphs>160</Paragraphs>
  <Slides>22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Century Gothic</vt:lpstr>
      <vt:lpstr>Century Schoolbook</vt:lpstr>
      <vt:lpstr>Times New Roman</vt:lpstr>
      <vt:lpstr>World country report presentation</vt:lpstr>
      <vt:lpstr>Chapter 5 </vt:lpstr>
      <vt:lpstr>Application</vt:lpstr>
      <vt:lpstr>ApplicATION</vt:lpstr>
      <vt:lpstr>Example</vt:lpstr>
      <vt:lpstr>Example</vt:lpstr>
      <vt:lpstr>Example</vt:lpstr>
      <vt:lpstr>example</vt:lpstr>
      <vt:lpstr>Agent</vt:lpstr>
      <vt:lpstr>Agent</vt:lpstr>
      <vt:lpstr>Agent</vt:lpstr>
      <vt:lpstr>Sources of information</vt:lpstr>
      <vt:lpstr>FCRA</vt:lpstr>
      <vt:lpstr>Delivery</vt:lpstr>
      <vt:lpstr>Example</vt:lpstr>
      <vt:lpstr>Geographic Features of (your country)</vt:lpstr>
      <vt:lpstr>Climate of (your country)</vt:lpstr>
      <vt:lpstr>Environment of (your country)</vt:lpstr>
      <vt:lpstr>History of (your country)</vt:lpstr>
      <vt:lpstr>Customs and Traditions</vt:lpstr>
      <vt:lpstr>Government of (your country)</vt:lpstr>
      <vt:lpstr>Economy of (your country)</vt:lpstr>
      <vt:lpstr>Tourism in (your country)</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dc:title>
  <dc:creator>Raheel Khan</dc:creator>
  <cp:lastModifiedBy>Raheel Khan</cp:lastModifiedBy>
  <cp:revision>26</cp:revision>
  <dcterms:created xsi:type="dcterms:W3CDTF">2022-05-11T16:10:02Z</dcterms:created>
  <dcterms:modified xsi:type="dcterms:W3CDTF">2022-05-11T19:03:32Z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