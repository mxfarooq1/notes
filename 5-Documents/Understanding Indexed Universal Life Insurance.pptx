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48" r:id="rId4"/>
  </p:sldMasterIdLst>
  <p:notesMasterIdLst>
    <p:notesMasterId r:id="rId16"/>
  </p:notesMasterIdLst>
  <p:handoutMasterIdLst>
    <p:handoutMasterId r:id="rId17"/>
  </p:handoutMasterIdLst>
  <p:sldIdLst>
    <p:sldId id="289" r:id="rId5"/>
    <p:sldId id="286" r:id="rId6"/>
    <p:sldId id="298" r:id="rId7"/>
    <p:sldId id="296" r:id="rId8"/>
    <p:sldId id="297" r:id="rId9"/>
    <p:sldId id="299" r:id="rId10"/>
    <p:sldId id="300" r:id="rId11"/>
    <p:sldId id="301" r:id="rId12"/>
    <p:sldId id="302" r:id="rId13"/>
    <p:sldId id="303" r:id="rId14"/>
    <p:sldId id="30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13"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0A2"/>
    <a:srgbClr val="404040"/>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8" autoAdjust="0"/>
    <p:restoredTop sz="94670"/>
  </p:normalViewPr>
  <p:slideViewPr>
    <p:cSldViewPr snapToGrid="0">
      <p:cViewPr varScale="1">
        <p:scale>
          <a:sx n="73" d="100"/>
          <a:sy n="73" d="100"/>
        </p:scale>
        <p:origin x="618" y="138"/>
      </p:cViewPr>
      <p:guideLst>
        <p:guide pos="3840"/>
        <p:guide orient="horz" pos="2160"/>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3D6640C-F6A0-4351-856B-14836F234E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FC280B7B-2795-4857-B84E-9C600536AE0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120AE1-5DBC-4417-A73B-5F29B67C532C}" type="datetimeFigureOut">
              <a:rPr lang="en-US" smtClean="0"/>
              <a:t>3/25/2026</a:t>
            </a:fld>
            <a:endParaRPr lang="en-US" dirty="0"/>
          </a:p>
        </p:txBody>
      </p:sp>
      <p:sp>
        <p:nvSpPr>
          <p:cNvPr id="4" name="Footer Placeholder 3">
            <a:extLst>
              <a:ext uri="{FF2B5EF4-FFF2-40B4-BE49-F238E27FC236}">
                <a16:creationId xmlns:a16="http://schemas.microsoft.com/office/drawing/2014/main" xmlns="" id="{96C3ACD6-6E00-4BE1-A684-34A6BD202E3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A7F20A5-CEF2-4B11-A0A4-0F4BC0BD647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822411-A9A9-4A09-A341-69C657AB42A1}" type="slidenum">
              <a:rPr lang="en-US" smtClean="0"/>
              <a:t>‹#›</a:t>
            </a:fld>
            <a:endParaRPr lang="en-US" dirty="0"/>
          </a:p>
        </p:txBody>
      </p:sp>
    </p:spTree>
    <p:extLst>
      <p:ext uri="{BB962C8B-B14F-4D97-AF65-F5344CB8AC3E}">
        <p14:creationId xmlns:p14="http://schemas.microsoft.com/office/powerpoint/2010/main" val="6558888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16A9CD-5E57-4C86-B862-09CA519924BA}" type="datetimeFigureOut">
              <a:rPr lang="en-US" smtClean="0"/>
              <a:t>3/25/2026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A004F4-F240-48F9-8AE1-486585C7F00D}" type="slidenum">
              <a:rPr lang="en-US" smtClean="0"/>
              <a:t>‹#›</a:t>
            </a:fld>
            <a:endParaRPr lang="en-US" dirty="0"/>
          </a:p>
        </p:txBody>
      </p:sp>
    </p:spTree>
    <p:extLst>
      <p:ext uri="{BB962C8B-B14F-4D97-AF65-F5344CB8AC3E}">
        <p14:creationId xmlns:p14="http://schemas.microsoft.com/office/powerpoint/2010/main" val="2154881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a:t>
            </a:fld>
            <a:endParaRPr lang="en-US" dirty="0"/>
          </a:p>
        </p:txBody>
      </p:sp>
    </p:spTree>
    <p:extLst>
      <p:ext uri="{BB962C8B-B14F-4D97-AF65-F5344CB8AC3E}">
        <p14:creationId xmlns:p14="http://schemas.microsoft.com/office/powerpoint/2010/main" val="3140170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2</a:t>
            </a:fld>
            <a:endParaRPr lang="en-US" dirty="0"/>
          </a:p>
        </p:txBody>
      </p:sp>
    </p:spTree>
    <p:extLst>
      <p:ext uri="{BB962C8B-B14F-4D97-AF65-F5344CB8AC3E}">
        <p14:creationId xmlns:p14="http://schemas.microsoft.com/office/powerpoint/2010/main" val="5284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3</a:t>
            </a:fld>
            <a:endParaRPr lang="en-US" dirty="0"/>
          </a:p>
        </p:txBody>
      </p:sp>
    </p:spTree>
    <p:extLst>
      <p:ext uri="{BB962C8B-B14F-4D97-AF65-F5344CB8AC3E}">
        <p14:creationId xmlns:p14="http://schemas.microsoft.com/office/powerpoint/2010/main" val="690521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97D165-49B0-44FF-A267-367F5A6EE306}"/>
              </a:ext>
            </a:extLst>
          </p:cNvPr>
          <p:cNvSpPr>
            <a:spLocks noGrp="1"/>
          </p:cNvSpPr>
          <p:nvPr>
            <p:ph type="ctrTitle"/>
          </p:nvPr>
        </p:nvSpPr>
        <p:spPr>
          <a:xfrm>
            <a:off x="1524000" y="2039514"/>
            <a:ext cx="9144000" cy="2128049"/>
          </a:xfrm>
        </p:spPr>
        <p:txBody>
          <a:bodyPr anchor="b"/>
          <a:lstStyle>
            <a:lvl1pPr algn="ctr">
              <a:lnSpc>
                <a:spcPct val="125000"/>
              </a:lnSpc>
              <a:defRPr sz="6000">
                <a:solidFill>
                  <a:schemeClr val="bg1"/>
                </a:solidFill>
              </a:defRPr>
            </a:lvl1pPr>
          </a:lstStyle>
          <a:p>
            <a:r>
              <a:rPr lang="en-US" noProof="0" smtClean="0"/>
              <a:t>Click to edit Master title style</a:t>
            </a:r>
            <a:endParaRPr lang="en-US" noProof="0"/>
          </a:p>
        </p:txBody>
      </p:sp>
      <p:sp>
        <p:nvSpPr>
          <p:cNvPr id="3" name="Subtitle 2">
            <a:extLst>
              <a:ext uri="{FF2B5EF4-FFF2-40B4-BE49-F238E27FC236}">
                <a16:creationId xmlns:a16="http://schemas.microsoft.com/office/drawing/2014/main" xmlns="" id="{56B52800-74D6-4A78-AC9B-8E737A1A3B0D}"/>
              </a:ext>
            </a:extLst>
          </p:cNvPr>
          <p:cNvSpPr>
            <a:spLocks noGrp="1"/>
          </p:cNvSpPr>
          <p:nvPr>
            <p:ph type="subTitle" idx="1"/>
          </p:nvPr>
        </p:nvSpPr>
        <p:spPr>
          <a:xfrm>
            <a:off x="1524000" y="4221162"/>
            <a:ext cx="9144000" cy="882001"/>
          </a:xfrm>
          <a:solidFill>
            <a:schemeClr val="accent2">
              <a:alpha val="90000"/>
            </a:schemeClr>
          </a:solidFill>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500" b="1" i="1" kern="1200" spc="65" dirty="0">
                <a:solidFill>
                  <a:schemeClr val="accent1"/>
                </a:solidFill>
                <a:latin typeface="Arial"/>
                <a:ea typeface="+mn-ea"/>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a:extLst>
              <a:ext uri="{FF2B5EF4-FFF2-40B4-BE49-F238E27FC236}">
                <a16:creationId xmlns:a16="http://schemas.microsoft.com/office/drawing/2014/main" xmlns="" id="{88B91F7B-C4AF-4FC6-A6BE-657DEF6D5358}"/>
              </a:ext>
            </a:extLst>
          </p:cNvPr>
          <p:cNvSpPr>
            <a:spLocks noGrp="1"/>
          </p:cNvSpPr>
          <p:nvPr>
            <p:ph type="dt" sz="half" idx="10"/>
          </p:nvPr>
        </p:nvSpPr>
        <p:spPr/>
        <p:txBody>
          <a:bodyPr/>
          <a:lstStyle/>
          <a:p>
            <a:fld id="{8DA08ED5-AEFE-4443-9040-726EF6690995}" type="datetime1">
              <a:rPr lang="en-US" smtClean="0"/>
              <a:t>3/25/2026</a:t>
            </a:fld>
            <a:endParaRPr lang="en-US" dirty="0"/>
          </a:p>
        </p:txBody>
      </p:sp>
      <p:sp>
        <p:nvSpPr>
          <p:cNvPr id="5" name="Footer Placeholder 4">
            <a:extLst>
              <a:ext uri="{FF2B5EF4-FFF2-40B4-BE49-F238E27FC236}">
                <a16:creationId xmlns:a16="http://schemas.microsoft.com/office/drawing/2014/main" xmlns="" id="{5BED32F8-B0C7-4332-B0A5-BC19DD8C4C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B0030946-D0C7-4F78-94B0-427DAA6D5CB0}"/>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189509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211141-A77D-4E0E-8CAF-4CD3B279937B}"/>
              </a:ext>
            </a:extLst>
          </p:cNvPr>
          <p:cNvSpPr>
            <a:spLocks noGrp="1"/>
          </p:cNvSpPr>
          <p:nvPr>
            <p:ph type="title"/>
          </p:nvPr>
        </p:nvSpPr>
        <p:spPr/>
        <p:txBody>
          <a:bodyPr/>
          <a:lstStyle/>
          <a:p>
            <a:r>
              <a:rPr lang="en-US" noProof="0" smtClean="0"/>
              <a:t>Click to edit Master title style</a:t>
            </a:r>
            <a:endParaRPr lang="en-US" noProof="0"/>
          </a:p>
        </p:txBody>
      </p:sp>
      <p:sp>
        <p:nvSpPr>
          <p:cNvPr id="3" name="Content Placeholder 2">
            <a:extLst>
              <a:ext uri="{FF2B5EF4-FFF2-40B4-BE49-F238E27FC236}">
                <a16:creationId xmlns:a16="http://schemas.microsoft.com/office/drawing/2014/main" xmlns="" id="{017EFDE0-5A54-402A-B0C3-6BC0BB739C25}"/>
              </a:ext>
            </a:extLst>
          </p:cNvPr>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xmlns="" id="{8A2825AD-4585-4E37-A076-3D0070C9300C}"/>
              </a:ext>
            </a:extLst>
          </p:cNvPr>
          <p:cNvSpPr>
            <a:spLocks noGrp="1"/>
          </p:cNvSpPr>
          <p:nvPr>
            <p:ph type="dt" sz="half" idx="10"/>
          </p:nvPr>
        </p:nvSpPr>
        <p:spPr/>
        <p:txBody>
          <a:bodyPr/>
          <a:lstStyle/>
          <a:p>
            <a:fld id="{0312561F-7E45-400C-8758-912CDFE9410A}" type="datetime1">
              <a:rPr lang="en-US" smtClean="0"/>
              <a:t>3/25/2026</a:t>
            </a:fld>
            <a:endParaRPr lang="en-US" dirty="0"/>
          </a:p>
        </p:txBody>
      </p:sp>
      <p:sp>
        <p:nvSpPr>
          <p:cNvPr id="5" name="Footer Placeholder 4">
            <a:extLst>
              <a:ext uri="{FF2B5EF4-FFF2-40B4-BE49-F238E27FC236}">
                <a16:creationId xmlns:a16="http://schemas.microsoft.com/office/drawing/2014/main" xmlns="" id="{512064AD-EDC3-4B13-8CD6-49EB60099ED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7890FD1E-16F6-49B1-A938-8CE601ED7AFC}"/>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3325465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9FA988-92AD-48D7-890A-AA0540961DE2}"/>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xmlns="" id="{EAA999FA-A189-41DB-9CFC-D1356C5343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a:extLst>
              <a:ext uri="{FF2B5EF4-FFF2-40B4-BE49-F238E27FC236}">
                <a16:creationId xmlns:a16="http://schemas.microsoft.com/office/drawing/2014/main" xmlns="" id="{B24D83DC-20E7-4B71-9794-36FC33B1BA03}"/>
              </a:ext>
            </a:extLst>
          </p:cNvPr>
          <p:cNvSpPr>
            <a:spLocks noGrp="1"/>
          </p:cNvSpPr>
          <p:nvPr>
            <p:ph type="dt" sz="half" idx="10"/>
          </p:nvPr>
        </p:nvSpPr>
        <p:spPr/>
        <p:txBody>
          <a:bodyPr/>
          <a:lstStyle/>
          <a:p>
            <a:fld id="{85E24BC7-4CDB-41D7-81AF-9CE8473FF4B8}" type="datetime1">
              <a:rPr lang="en-US" smtClean="0"/>
              <a:t>3/25/2026</a:t>
            </a:fld>
            <a:endParaRPr lang="en-US" dirty="0"/>
          </a:p>
        </p:txBody>
      </p:sp>
      <p:sp>
        <p:nvSpPr>
          <p:cNvPr id="5" name="Footer Placeholder 4">
            <a:extLst>
              <a:ext uri="{FF2B5EF4-FFF2-40B4-BE49-F238E27FC236}">
                <a16:creationId xmlns:a16="http://schemas.microsoft.com/office/drawing/2014/main" xmlns="" id="{44E7D103-1290-4592-B37C-19C9C9DBEA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15955B1B-4A5C-42C7-99A5-B8217736F178}"/>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193320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xmlns="" id="{4E60EB58-EF7E-435A-8B07-B5BCF3AF119F}"/>
              </a:ext>
            </a:extLst>
          </p:cNvPr>
          <p:cNvSpPr>
            <a:spLocks noGrp="1"/>
          </p:cNvSpPr>
          <p:nvPr>
            <p:ph type="sldNum" sz="quarter" idx="12"/>
          </p:nvPr>
        </p:nvSpPr>
        <p:spPr/>
        <p:txBody>
          <a:bodyPr/>
          <a:lstStyle/>
          <a:p>
            <a:fld id="{82EE24B5-652C-4DB5-B7C3-B5BBEC1280B1}" type="slidenum">
              <a:rPr lang="en-US" smtClean="0"/>
              <a:t>‹#›</a:t>
            </a:fld>
            <a:endParaRPr lang="en-US" dirty="0"/>
          </a:p>
        </p:txBody>
      </p:sp>
      <p:sp>
        <p:nvSpPr>
          <p:cNvPr id="2" name="Title 1">
            <a:extLst>
              <a:ext uri="{FF2B5EF4-FFF2-40B4-BE49-F238E27FC236}">
                <a16:creationId xmlns:a16="http://schemas.microsoft.com/office/drawing/2014/main" xmlns="" id="{E7F76098-6FA1-470A-BEF4-E4B0AC75E8FE}"/>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xmlns="" id="{4B647ABC-6745-43B6-8A64-6E191BD65CA2}"/>
              </a:ext>
            </a:extLst>
          </p:cNvPr>
          <p:cNvSpPr>
            <a:spLocks noGrp="1"/>
          </p:cNvSpPr>
          <p:nvPr>
            <p:ph sz="half" idx="1"/>
          </p:nvPr>
        </p:nvSpPr>
        <p:spPr>
          <a:xfrm>
            <a:off x="838200" y="1825625"/>
            <a:ext cx="5181600" cy="4351338"/>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a:extLst>
              <a:ext uri="{FF2B5EF4-FFF2-40B4-BE49-F238E27FC236}">
                <a16:creationId xmlns:a16="http://schemas.microsoft.com/office/drawing/2014/main" xmlns="" id="{E4387105-2538-4216-9A7E-445FA092F960}"/>
              </a:ext>
            </a:extLst>
          </p:cNvPr>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a:extLst>
              <a:ext uri="{FF2B5EF4-FFF2-40B4-BE49-F238E27FC236}">
                <a16:creationId xmlns:a16="http://schemas.microsoft.com/office/drawing/2014/main" xmlns="" id="{47F57DE0-C032-4FCC-9006-09C2C328A665}"/>
              </a:ext>
            </a:extLst>
          </p:cNvPr>
          <p:cNvSpPr>
            <a:spLocks noGrp="1"/>
          </p:cNvSpPr>
          <p:nvPr>
            <p:ph type="dt" sz="half" idx="10"/>
          </p:nvPr>
        </p:nvSpPr>
        <p:spPr/>
        <p:txBody>
          <a:bodyPr/>
          <a:lstStyle/>
          <a:p>
            <a:fld id="{397CD216-73DE-4B96-8E1B-BB64D86142BB}" type="datetime1">
              <a:rPr lang="en-US" smtClean="0"/>
              <a:t>3/25/2026</a:t>
            </a:fld>
            <a:endParaRPr lang="en-US" dirty="0"/>
          </a:p>
        </p:txBody>
      </p:sp>
      <p:sp>
        <p:nvSpPr>
          <p:cNvPr id="6" name="Footer Placeholder 5">
            <a:extLst>
              <a:ext uri="{FF2B5EF4-FFF2-40B4-BE49-F238E27FC236}">
                <a16:creationId xmlns:a16="http://schemas.microsoft.com/office/drawing/2014/main" xmlns="" id="{90C776CB-2819-4488-9012-A6EA22079A47}"/>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325036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F43C73-1D0F-45F9-A7E4-E9D24EAFDE3D}"/>
              </a:ext>
            </a:extLst>
          </p:cNvPr>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xmlns="" id="{D3B88E76-F6AB-4621-A9A6-20A81C5A3F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a:extLst>
              <a:ext uri="{FF2B5EF4-FFF2-40B4-BE49-F238E27FC236}">
                <a16:creationId xmlns:a16="http://schemas.microsoft.com/office/drawing/2014/main" xmlns="" id="{6A313FB9-6D6C-4F61-9E7A-76E686D06C25}"/>
              </a:ext>
            </a:extLst>
          </p:cNvPr>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a:extLst>
              <a:ext uri="{FF2B5EF4-FFF2-40B4-BE49-F238E27FC236}">
                <a16:creationId xmlns:a16="http://schemas.microsoft.com/office/drawing/2014/main" xmlns="" id="{2A93A737-E48B-4909-BE04-F55B581032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a:extLst>
              <a:ext uri="{FF2B5EF4-FFF2-40B4-BE49-F238E27FC236}">
                <a16:creationId xmlns:a16="http://schemas.microsoft.com/office/drawing/2014/main" xmlns="" id="{D8F9958C-DB5F-444E-ACE8-73F5E0CA67F1}"/>
              </a:ext>
            </a:extLst>
          </p:cNvPr>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a:extLst>
              <a:ext uri="{FF2B5EF4-FFF2-40B4-BE49-F238E27FC236}">
                <a16:creationId xmlns:a16="http://schemas.microsoft.com/office/drawing/2014/main" xmlns="" id="{11D097D1-3052-4C1F-B573-CA25FFF6CCB5}"/>
              </a:ext>
            </a:extLst>
          </p:cNvPr>
          <p:cNvSpPr>
            <a:spLocks noGrp="1"/>
          </p:cNvSpPr>
          <p:nvPr>
            <p:ph type="dt" sz="half" idx="10"/>
          </p:nvPr>
        </p:nvSpPr>
        <p:spPr/>
        <p:txBody>
          <a:bodyPr/>
          <a:lstStyle/>
          <a:p>
            <a:fld id="{C6A5CD8C-7FEF-4E71-8EB9-D3BA6E2E3E9E}" type="datetime1">
              <a:rPr lang="en-US" smtClean="0"/>
              <a:t>3/25/2026</a:t>
            </a:fld>
            <a:endParaRPr lang="en-US" dirty="0"/>
          </a:p>
        </p:txBody>
      </p:sp>
      <p:sp>
        <p:nvSpPr>
          <p:cNvPr id="8" name="Footer Placeholder 7">
            <a:extLst>
              <a:ext uri="{FF2B5EF4-FFF2-40B4-BE49-F238E27FC236}">
                <a16:creationId xmlns:a16="http://schemas.microsoft.com/office/drawing/2014/main" xmlns="" id="{F2607AC3-2220-4DDA-A22A-C404538FE48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xmlns="" id="{6FD8DEB3-F122-4B42-9E12-F61189B878B2}"/>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4032769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789EF5-3FD9-4423-A9E8-B67B4E902E9B}"/>
              </a:ext>
            </a:extLst>
          </p:cNvPr>
          <p:cNvSpPr>
            <a:spLocks noGrp="1"/>
          </p:cNvSpPr>
          <p:nvPr>
            <p:ph type="title"/>
          </p:nvPr>
        </p:nvSpPr>
        <p:spPr/>
        <p:txBody>
          <a:bodyPr/>
          <a:lstStyle/>
          <a:p>
            <a:r>
              <a:rPr lang="en-US" smtClean="0"/>
              <a:t>Click to edit Master title style</a:t>
            </a:r>
            <a:endParaRPr lang="en-US"/>
          </a:p>
        </p:txBody>
      </p:sp>
      <p:sp>
        <p:nvSpPr>
          <p:cNvPr id="3" name="Date Placeholder 2">
            <a:extLst>
              <a:ext uri="{FF2B5EF4-FFF2-40B4-BE49-F238E27FC236}">
                <a16:creationId xmlns:a16="http://schemas.microsoft.com/office/drawing/2014/main" xmlns="" id="{030D7191-31B4-440E-A4E9-F412FA55824C}"/>
              </a:ext>
            </a:extLst>
          </p:cNvPr>
          <p:cNvSpPr>
            <a:spLocks noGrp="1"/>
          </p:cNvSpPr>
          <p:nvPr>
            <p:ph type="dt" sz="half" idx="10"/>
          </p:nvPr>
        </p:nvSpPr>
        <p:spPr/>
        <p:txBody>
          <a:bodyPr/>
          <a:lstStyle/>
          <a:p>
            <a:fld id="{4BE4379E-9B58-41EA-B928-5B1C8436A60E}" type="datetime1">
              <a:rPr lang="en-US" smtClean="0"/>
              <a:t>3/25/2026</a:t>
            </a:fld>
            <a:endParaRPr lang="en-US" dirty="0"/>
          </a:p>
        </p:txBody>
      </p:sp>
      <p:sp>
        <p:nvSpPr>
          <p:cNvPr id="4" name="Footer Placeholder 3">
            <a:extLst>
              <a:ext uri="{FF2B5EF4-FFF2-40B4-BE49-F238E27FC236}">
                <a16:creationId xmlns:a16="http://schemas.microsoft.com/office/drawing/2014/main" xmlns="" id="{8EC85CB6-0880-4BF0-8E98-291E70C7137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BE4A5E74-F26F-4C7A-BED1-6EE66C0B3A54}"/>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3691903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F655C546-684A-45B9-8890-66DC55DF7D06}"/>
              </a:ext>
            </a:extLst>
          </p:cNvPr>
          <p:cNvSpPr>
            <a:spLocks noGrp="1"/>
          </p:cNvSpPr>
          <p:nvPr>
            <p:ph type="dt" sz="half" idx="10"/>
          </p:nvPr>
        </p:nvSpPr>
        <p:spPr/>
        <p:txBody>
          <a:bodyPr/>
          <a:lstStyle/>
          <a:p>
            <a:fld id="{40B0A371-51FE-4D99-BD87-6A650FCE519D}" type="datetime1">
              <a:rPr lang="en-US" smtClean="0"/>
              <a:t>3/25/2026</a:t>
            </a:fld>
            <a:endParaRPr lang="en-US" dirty="0"/>
          </a:p>
        </p:txBody>
      </p:sp>
      <p:sp>
        <p:nvSpPr>
          <p:cNvPr id="3" name="Footer Placeholder 2">
            <a:extLst>
              <a:ext uri="{FF2B5EF4-FFF2-40B4-BE49-F238E27FC236}">
                <a16:creationId xmlns:a16="http://schemas.microsoft.com/office/drawing/2014/main" xmlns="" id="{4543EBDF-D696-42F7-B962-56F5FEE120C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xmlns="" id="{6789D77E-1675-4F9D-9113-B274CB0E87FA}"/>
              </a:ext>
            </a:extLst>
          </p:cNvPr>
          <p:cNvSpPr>
            <a:spLocks noGrp="1"/>
          </p:cNvSpPr>
          <p:nvPr>
            <p:ph type="sldNum" sz="quarter" idx="12"/>
          </p:nvPr>
        </p:nvSpPr>
        <p:spPr/>
        <p:txBody>
          <a:bodyPr/>
          <a:lstStyle/>
          <a:p>
            <a:fld id="{82EE24B5-652C-4DB5-B7C3-B5BBEC1280B1}" type="slidenum">
              <a:rPr lang="en-US" noProof="0" smtClean="0"/>
              <a:t>‹#›</a:t>
            </a:fld>
            <a:endParaRPr lang="en-US" noProof="0"/>
          </a:p>
        </p:txBody>
      </p:sp>
    </p:spTree>
    <p:extLst>
      <p:ext uri="{BB962C8B-B14F-4D97-AF65-F5344CB8AC3E}">
        <p14:creationId xmlns:p14="http://schemas.microsoft.com/office/powerpoint/2010/main" val="274602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8E9C90-06AB-49B5-9970-F5791DE93A41}"/>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xmlns="" id="{EFFB0071-932D-4CA0-92FB-A6E75AC855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a16="http://schemas.microsoft.com/office/drawing/2014/main" xmlns="" id="{71C8D9F5-8B70-4BDD-9CB5-BBF87CF553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a:extLst>
              <a:ext uri="{FF2B5EF4-FFF2-40B4-BE49-F238E27FC236}">
                <a16:creationId xmlns:a16="http://schemas.microsoft.com/office/drawing/2014/main" xmlns="" id="{7989DE91-7A80-4682-9D32-2CD41DEFB7B2}"/>
              </a:ext>
            </a:extLst>
          </p:cNvPr>
          <p:cNvSpPr>
            <a:spLocks noGrp="1"/>
          </p:cNvSpPr>
          <p:nvPr>
            <p:ph type="dt" sz="half" idx="10"/>
          </p:nvPr>
        </p:nvSpPr>
        <p:spPr/>
        <p:txBody>
          <a:bodyPr/>
          <a:lstStyle/>
          <a:p>
            <a:fld id="{5FCF8CFF-A1C0-4B6C-AA8D-BE72CB14468D}" type="datetime1">
              <a:rPr lang="en-US" smtClean="0"/>
              <a:t>3/25/2026</a:t>
            </a:fld>
            <a:endParaRPr lang="en-US" dirty="0"/>
          </a:p>
        </p:txBody>
      </p:sp>
      <p:sp>
        <p:nvSpPr>
          <p:cNvPr id="6" name="Footer Placeholder 5">
            <a:extLst>
              <a:ext uri="{FF2B5EF4-FFF2-40B4-BE49-F238E27FC236}">
                <a16:creationId xmlns:a16="http://schemas.microsoft.com/office/drawing/2014/main" xmlns="" id="{7B9E2482-2E7D-4868-95A7-4A55B40FEC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1F4E84CF-C3E5-4475-84C7-21CBAC064B74}"/>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962625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90E0AA-5363-4861-AB6B-0E4D34D74B92}"/>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a:extLst>
              <a:ext uri="{FF2B5EF4-FFF2-40B4-BE49-F238E27FC236}">
                <a16:creationId xmlns:a16="http://schemas.microsoft.com/office/drawing/2014/main" xmlns="" id="{8D44B7CE-2038-4CCA-AA8A-D03DE5FD95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a:extLst>
              <a:ext uri="{FF2B5EF4-FFF2-40B4-BE49-F238E27FC236}">
                <a16:creationId xmlns:a16="http://schemas.microsoft.com/office/drawing/2014/main" xmlns="" id="{EA79774D-36EB-4201-B1AC-922DD2E066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a:extLst>
              <a:ext uri="{FF2B5EF4-FFF2-40B4-BE49-F238E27FC236}">
                <a16:creationId xmlns:a16="http://schemas.microsoft.com/office/drawing/2014/main" xmlns="" id="{CAD1E234-1CB2-41A0-B40D-7E7F160CBA11}"/>
              </a:ext>
            </a:extLst>
          </p:cNvPr>
          <p:cNvSpPr>
            <a:spLocks noGrp="1"/>
          </p:cNvSpPr>
          <p:nvPr>
            <p:ph type="dt" sz="half" idx="10"/>
          </p:nvPr>
        </p:nvSpPr>
        <p:spPr/>
        <p:txBody>
          <a:bodyPr/>
          <a:lstStyle/>
          <a:p>
            <a:fld id="{8C6D634D-0427-413D-A0D0-098959D06FEF}" type="datetime1">
              <a:rPr lang="en-US" smtClean="0"/>
              <a:t>3/25/2026</a:t>
            </a:fld>
            <a:endParaRPr lang="en-US" dirty="0"/>
          </a:p>
        </p:txBody>
      </p:sp>
      <p:sp>
        <p:nvSpPr>
          <p:cNvPr id="6" name="Footer Placeholder 5">
            <a:extLst>
              <a:ext uri="{FF2B5EF4-FFF2-40B4-BE49-F238E27FC236}">
                <a16:creationId xmlns:a16="http://schemas.microsoft.com/office/drawing/2014/main" xmlns="" id="{99FD472E-6334-4051-B4D9-6361A819F7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192384B9-6290-4070-B7D1-A105B27F0CB0}"/>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367443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9CEC732-0DE2-456B-92A1-84321C9BDC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a:extLst>
              <a:ext uri="{FF2B5EF4-FFF2-40B4-BE49-F238E27FC236}">
                <a16:creationId xmlns:a16="http://schemas.microsoft.com/office/drawing/2014/main" xmlns="" id="{DA816A5B-B156-4DC3-B18E-14F3E59A64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a:extLst>
              <a:ext uri="{FF2B5EF4-FFF2-40B4-BE49-F238E27FC236}">
                <a16:creationId xmlns:a16="http://schemas.microsoft.com/office/drawing/2014/main" xmlns="" id="{FDB0252E-67CD-4B33-849F-7B1449CF27D0}"/>
              </a:ext>
            </a:extLst>
          </p:cNvPr>
          <p:cNvSpPr>
            <a:spLocks noGrp="1"/>
          </p:cNvSpPr>
          <p:nvPr>
            <p:ph type="dt" sz="half" idx="2"/>
          </p:nvPr>
        </p:nvSpPr>
        <p:spPr>
          <a:xfrm>
            <a:off x="838200" y="617490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2591E0-5367-4F2F-9C30-2087D79A846D}" type="datetime1">
              <a:rPr lang="en-US" noProof="0" smtClean="0"/>
              <a:t>3/25/2026</a:t>
            </a:fld>
            <a:endParaRPr lang="en-US" noProof="0" dirty="0"/>
          </a:p>
        </p:txBody>
      </p:sp>
      <p:sp>
        <p:nvSpPr>
          <p:cNvPr id="5" name="Footer Placeholder 4">
            <a:extLst>
              <a:ext uri="{FF2B5EF4-FFF2-40B4-BE49-F238E27FC236}">
                <a16:creationId xmlns:a16="http://schemas.microsoft.com/office/drawing/2014/main" xmlns="" id="{DC620AD2-E3F8-48CB-8B72-B0945DF5348A}"/>
              </a:ext>
            </a:extLst>
          </p:cNvPr>
          <p:cNvSpPr>
            <a:spLocks noGrp="1"/>
          </p:cNvSpPr>
          <p:nvPr>
            <p:ph type="ftr" sz="quarter" idx="3"/>
          </p:nvPr>
        </p:nvSpPr>
        <p:spPr>
          <a:xfrm>
            <a:off x="4038600" y="617490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10" name="Oval 9">
            <a:extLst>
              <a:ext uri="{FF2B5EF4-FFF2-40B4-BE49-F238E27FC236}">
                <a16:creationId xmlns:a16="http://schemas.microsoft.com/office/drawing/2014/main" xmlns="" id="{5A5F3BCF-F6FD-4DFF-B0B4-9892C9389344}"/>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a16="http://schemas.microsoft.com/office/drawing/2014/main" xmlns="" id="{D15DEFFD-817B-43EC-86F0-34DEA2BA5EEB}"/>
              </a:ext>
            </a:extLst>
          </p:cNvPr>
          <p:cNvSpPr>
            <a:spLocks noGrp="1"/>
          </p:cNvSpPr>
          <p:nvPr>
            <p:ph type="sldNum" sz="quarter" idx="4"/>
          </p:nvPr>
        </p:nvSpPr>
        <p:spPr>
          <a:xfrm>
            <a:off x="11468844" y="6174902"/>
            <a:ext cx="357116" cy="365125"/>
          </a:xfrm>
          <a:prstGeom prst="rect">
            <a:avLst/>
          </a:prstGeom>
        </p:spPr>
        <p:txBody>
          <a:bodyPr vert="horz" lIns="91440" tIns="45720" rIns="91440" bIns="45720" rtlCol="0" anchor="ctr"/>
          <a:lstStyle>
            <a:lvl1pPr algn="r">
              <a:defRPr sz="1000" i="1">
                <a:solidFill>
                  <a:schemeClr val="tx2">
                    <a:alpha val="70000"/>
                  </a:schemeClr>
                </a:solidFill>
              </a:defRPr>
            </a:lvl1pPr>
          </a:lstStyle>
          <a:p>
            <a:fld id="{82EE24B5-652C-4DB5-B7C3-B5BBEC1280B1}" type="slidenum">
              <a:rPr lang="en-US" noProof="0" smtClean="0"/>
              <a:pPr/>
              <a:t>‹#›</a:t>
            </a:fld>
            <a:endParaRPr lang="en-US" noProof="0" dirty="0"/>
          </a:p>
        </p:txBody>
      </p:sp>
    </p:spTree>
    <p:extLst>
      <p:ext uri="{BB962C8B-B14F-4D97-AF65-F5344CB8AC3E}">
        <p14:creationId xmlns:p14="http://schemas.microsoft.com/office/powerpoint/2010/main" val="3664101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3200" b="1"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descr="Blue rectangle">
            <a:extLst>
              <a:ext uri="{FF2B5EF4-FFF2-40B4-BE49-F238E27FC236}">
                <a16:creationId xmlns:a16="http://schemas.microsoft.com/office/drawing/2014/main" xmlns="" id="{482BBC39-5D4C-4E24-ADB1-5FFFBA7198DC}"/>
              </a:ext>
            </a:extLst>
          </p:cNvPr>
          <p:cNvSpPr/>
          <p:nvPr/>
        </p:nvSpPr>
        <p:spPr>
          <a:xfrm>
            <a:off x="0" y="0"/>
            <a:ext cx="12188952" cy="6858000"/>
          </a:xfrm>
          <a:prstGeom prst="rect">
            <a:avLst/>
          </a:prstGeom>
          <a:blipFill>
            <a:blip r:embed="rId3"/>
            <a:srcRect/>
            <a:stretch>
              <a:fillRect l="-12" r="-12"/>
            </a:stretch>
          </a:blipFill>
        </p:spPr>
        <p:txBody>
          <a:bodyPr wrap="square" lIns="0" tIns="0" rIns="0" bIns="0" rtlCol="0"/>
          <a:lstStyle/>
          <a:p>
            <a:endParaRPr lang="en-US" dirty="0"/>
          </a:p>
        </p:txBody>
      </p:sp>
      <p:sp>
        <p:nvSpPr>
          <p:cNvPr id="4" name="object 3" descr="People with documents">
            <a:extLst>
              <a:ext uri="{FF2B5EF4-FFF2-40B4-BE49-F238E27FC236}">
                <a16:creationId xmlns:a16="http://schemas.microsoft.com/office/drawing/2014/main" xmlns="" id="{0CA2E80D-F3EC-4A5F-8E65-56FEA206EE0F}"/>
              </a:ext>
            </a:extLst>
          </p:cNvPr>
          <p:cNvSpPr/>
          <p:nvPr/>
        </p:nvSpPr>
        <p:spPr>
          <a:xfrm>
            <a:off x="184150" y="0"/>
            <a:ext cx="1218946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2" name="Title 1">
            <a:extLst>
              <a:ext uri="{FF2B5EF4-FFF2-40B4-BE49-F238E27FC236}">
                <a16:creationId xmlns:a16="http://schemas.microsoft.com/office/drawing/2014/main" xmlns="" id="{AFB6C91D-4B22-49F1-9A0B-ABEB9E1F5A26}"/>
              </a:ext>
            </a:extLst>
          </p:cNvPr>
          <p:cNvSpPr>
            <a:spLocks noGrp="1"/>
          </p:cNvSpPr>
          <p:nvPr>
            <p:ph type="ctrTitle"/>
          </p:nvPr>
        </p:nvSpPr>
        <p:spPr>
          <a:xfrm>
            <a:off x="1524000" y="2008518"/>
            <a:ext cx="9144000" cy="2128049"/>
          </a:xfrm>
        </p:spPr>
        <p:txBody>
          <a:bodyPr>
            <a:normAutofit fontScale="90000"/>
          </a:bodyPr>
          <a:lstStyle/>
          <a:p>
            <a:r>
              <a:rPr lang="en-US" sz="5400" dirty="0"/>
              <a:t>Understanding Indexed Universal Life Insurance</a:t>
            </a:r>
          </a:p>
        </p:txBody>
      </p:sp>
      <p:sp>
        <p:nvSpPr>
          <p:cNvPr id="3" name="Subtitle 2">
            <a:extLst>
              <a:ext uri="{FF2B5EF4-FFF2-40B4-BE49-F238E27FC236}">
                <a16:creationId xmlns:a16="http://schemas.microsoft.com/office/drawing/2014/main" xmlns="" id="{2F8CF06A-B594-4BA2-8B1E-D649096D742F}"/>
              </a:ext>
            </a:extLst>
          </p:cNvPr>
          <p:cNvSpPr>
            <a:spLocks noGrp="1"/>
          </p:cNvSpPr>
          <p:nvPr>
            <p:ph type="subTitle" idx="1"/>
          </p:nvPr>
        </p:nvSpPr>
        <p:spPr>
          <a:xfrm>
            <a:off x="4152000" y="4221162"/>
            <a:ext cx="3888000" cy="882001"/>
          </a:xfrm>
          <a:solidFill>
            <a:schemeClr val="accent2">
              <a:alpha val="90000"/>
            </a:schemeClr>
          </a:solidFill>
        </p:spPr>
        <p:txBody>
          <a:bodyPr anchor="ctr" anchorCtr="0">
            <a:normAutofit/>
          </a:bodyPr>
          <a:lstStyle/>
          <a:p>
            <a:r>
              <a:rPr lang="en-US" sz="2500" b="1" i="1" spc="65" dirty="0">
                <a:solidFill>
                  <a:schemeClr val="accent1"/>
                </a:solidFill>
                <a:latin typeface="Arial"/>
                <a:cs typeface="Arial"/>
              </a:rPr>
              <a:t>Investor Opportunity</a:t>
            </a:r>
          </a:p>
        </p:txBody>
      </p:sp>
      <p:sp>
        <p:nvSpPr>
          <p:cNvPr id="6" name="object 7" descr="Beige rectangle">
            <a:extLst>
              <a:ext uri="{FF2B5EF4-FFF2-40B4-BE49-F238E27FC236}">
                <a16:creationId xmlns:a16="http://schemas.microsoft.com/office/drawing/2014/main" xmlns="" id="{B36975AA-C62E-46BE-9382-E2CF56FDF817}"/>
              </a:ext>
            </a:extLst>
          </p:cNvPr>
          <p:cNvSpPr/>
          <p:nvPr/>
        </p:nvSpPr>
        <p:spPr>
          <a:xfrm>
            <a:off x="3108000" y="3229869"/>
            <a:ext cx="5976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Tree>
    <p:extLst>
      <p:ext uri="{BB962C8B-B14F-4D97-AF65-F5344CB8AC3E}">
        <p14:creationId xmlns:p14="http://schemas.microsoft.com/office/powerpoint/2010/main" val="10935560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descr="Man talks by phone">
            <a:extLst>
              <a:ext uri="{FF2B5EF4-FFF2-40B4-BE49-F238E27FC236}">
                <a16:creationId xmlns:a16="http://schemas.microsoft.com/office/drawing/2014/main" xmlns="" id="{2894B736-0F24-454E-8A9D-717EB78697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2" y="4665"/>
            <a:ext cx="6991350" cy="6848669"/>
          </a:xfrm>
          <a:prstGeom prst="rect">
            <a:avLst/>
          </a:prstGeom>
        </p:spPr>
      </p:pic>
      <p:sp>
        <p:nvSpPr>
          <p:cNvPr id="5" name="object 3" descr="Beige rectangle">
            <a:extLst>
              <a:ext uri="{FF2B5EF4-FFF2-40B4-BE49-F238E27FC236}">
                <a16:creationId xmlns:a16="http://schemas.microsoft.com/office/drawing/2014/main" xmlns="" id="{DCF29767-6635-4A46-AB77-672CC90C6FBE}"/>
              </a:ext>
            </a:extLst>
          </p:cNvPr>
          <p:cNvSpPr/>
          <p:nvPr/>
        </p:nvSpPr>
        <p:spPr>
          <a:xfrm>
            <a:off x="8181340" y="1359001"/>
            <a:ext cx="4010660" cy="4194074"/>
          </a:xfrm>
          <a:custGeom>
            <a:avLst/>
            <a:gdLst/>
            <a:ahLst/>
            <a:cxnLst/>
            <a:rect l="l" t="t" r="r" b="b"/>
            <a:pathLst>
              <a:path w="4010659" h="333375">
                <a:moveTo>
                  <a:pt x="0" y="333006"/>
                </a:moveTo>
                <a:lnTo>
                  <a:pt x="4010367" y="333006"/>
                </a:lnTo>
                <a:lnTo>
                  <a:pt x="4010367" y="0"/>
                </a:lnTo>
                <a:lnTo>
                  <a:pt x="0" y="0"/>
                </a:lnTo>
                <a:lnTo>
                  <a:pt x="0" y="333006"/>
                </a:lnTo>
                <a:close/>
              </a:path>
            </a:pathLst>
          </a:custGeom>
          <a:solidFill>
            <a:schemeClr val="accent1"/>
          </a:solidFill>
        </p:spPr>
        <p:txBody>
          <a:bodyPr wrap="square" lIns="0" tIns="0" rIns="0" bIns="0" rtlCol="0"/>
          <a:lstStyle/>
          <a:p>
            <a:endParaRPr lang="en-US" dirty="0"/>
          </a:p>
        </p:txBody>
      </p:sp>
      <p:sp>
        <p:nvSpPr>
          <p:cNvPr id="6" name="object 6" descr="Blue rectangle">
            <a:extLst>
              <a:ext uri="{FF2B5EF4-FFF2-40B4-BE49-F238E27FC236}">
                <a16:creationId xmlns:a16="http://schemas.microsoft.com/office/drawing/2014/main" xmlns="" id="{9FABC344-E043-45BE-8588-06C658DBCE70}"/>
              </a:ext>
            </a:extLst>
          </p:cNvPr>
          <p:cNvSpPr/>
          <p:nvPr/>
        </p:nvSpPr>
        <p:spPr>
          <a:xfrm>
            <a:off x="5502275" y="1692008"/>
            <a:ext cx="6689725" cy="3528060"/>
          </a:xfrm>
          <a:custGeom>
            <a:avLst/>
            <a:gdLst/>
            <a:ahLst/>
            <a:cxnLst/>
            <a:rect l="l" t="t" r="r" b="b"/>
            <a:pathLst>
              <a:path w="6689725" h="3528060">
                <a:moveTo>
                  <a:pt x="0" y="3527996"/>
                </a:moveTo>
                <a:lnTo>
                  <a:pt x="6689648" y="3527996"/>
                </a:lnTo>
                <a:lnTo>
                  <a:pt x="6689648" y="0"/>
                </a:lnTo>
                <a:lnTo>
                  <a:pt x="0" y="0"/>
                </a:lnTo>
                <a:lnTo>
                  <a:pt x="0" y="3527996"/>
                </a:lnTo>
                <a:close/>
              </a:path>
            </a:pathLst>
          </a:custGeom>
          <a:solidFill>
            <a:schemeClr val="accent2"/>
          </a:solidFill>
        </p:spPr>
        <p:txBody>
          <a:bodyPr wrap="square" lIns="0" tIns="0" rIns="0" bIns="0" rtlCol="0"/>
          <a:lstStyle/>
          <a:p>
            <a:endParaRPr lang="en-US" dirty="0"/>
          </a:p>
        </p:txBody>
      </p:sp>
      <p:sp>
        <p:nvSpPr>
          <p:cNvPr id="3" name="Slide Number Placeholder 2">
            <a:extLst>
              <a:ext uri="{FF2B5EF4-FFF2-40B4-BE49-F238E27FC236}">
                <a16:creationId xmlns:a16="http://schemas.microsoft.com/office/drawing/2014/main" xmlns="" id="{24D506CC-0185-443E-82C7-1600C21D6E91}"/>
              </a:ext>
            </a:extLst>
          </p:cNvPr>
          <p:cNvSpPr>
            <a:spLocks noGrp="1"/>
          </p:cNvSpPr>
          <p:nvPr>
            <p:ph type="sldNum" sz="quarter" idx="12"/>
          </p:nvPr>
        </p:nvSpPr>
        <p:spPr/>
        <p:txBody>
          <a:bodyPr/>
          <a:lstStyle/>
          <a:p>
            <a:fld id="{82EE24B5-652C-4DB5-B7C3-B5BBEC1280B1}" type="slidenum">
              <a:rPr lang="en-US" smtClean="0"/>
              <a:t>2</a:t>
            </a:fld>
            <a:endParaRPr lang="en-US" dirty="0"/>
          </a:p>
        </p:txBody>
      </p:sp>
      <p:sp>
        <p:nvSpPr>
          <p:cNvPr id="7" name="object 9" descr="Beige rectangle">
            <a:extLst>
              <a:ext uri="{FF2B5EF4-FFF2-40B4-BE49-F238E27FC236}">
                <a16:creationId xmlns:a16="http://schemas.microsoft.com/office/drawing/2014/main" xmlns="" id="{02C6628C-972C-4717-AAF3-D882B30F6658}"/>
              </a:ext>
            </a:extLst>
          </p:cNvPr>
          <p:cNvSpPr/>
          <p:nvPr/>
        </p:nvSpPr>
        <p:spPr>
          <a:xfrm>
            <a:off x="6295644" y="2230882"/>
            <a:ext cx="2988000" cy="0"/>
          </a:xfrm>
          <a:custGeom>
            <a:avLst/>
            <a:gdLst/>
            <a:ahLst/>
            <a:cxnLst/>
            <a:rect l="l" t="t" r="r" b="b"/>
            <a:pathLst>
              <a:path w="2642870">
                <a:moveTo>
                  <a:pt x="0" y="0"/>
                </a:moveTo>
                <a:lnTo>
                  <a:pt x="2642616" y="0"/>
                </a:lnTo>
              </a:path>
            </a:pathLst>
          </a:custGeom>
          <a:ln w="54863">
            <a:solidFill>
              <a:schemeClr val="accent1"/>
            </a:solidFill>
          </a:ln>
        </p:spPr>
        <p:txBody>
          <a:bodyPr wrap="square" lIns="0" tIns="0" rIns="0" bIns="0" rtlCol="0"/>
          <a:lstStyle/>
          <a:p>
            <a:endParaRPr lang="en-US" dirty="0"/>
          </a:p>
        </p:txBody>
      </p:sp>
      <p:sp>
        <p:nvSpPr>
          <p:cNvPr id="9" name="Content Placeholder 3">
            <a:extLst>
              <a:ext uri="{FF2B5EF4-FFF2-40B4-BE49-F238E27FC236}">
                <a16:creationId xmlns:a16="http://schemas.microsoft.com/office/drawing/2014/main" xmlns="" id="{E7A818AB-B120-41D5-88A6-933AB9CAAE68}"/>
              </a:ext>
            </a:extLst>
          </p:cNvPr>
          <p:cNvSpPr txBox="1">
            <a:spLocks/>
          </p:cNvSpPr>
          <p:nvPr/>
        </p:nvSpPr>
        <p:spPr>
          <a:xfrm>
            <a:off x="6096802" y="2486111"/>
            <a:ext cx="5181600" cy="160337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800" i="1" spc="-25" dirty="0">
                <a:solidFill>
                  <a:schemeClr val="bg2">
                    <a:lumMod val="20000"/>
                    <a:lumOff val="80000"/>
                  </a:schemeClr>
                </a:solidFill>
                <a:latin typeface="Arial"/>
                <a:cs typeface="Arial"/>
              </a:rPr>
              <a:t>IUL insurance is often pitched as a cash value insurance policy that benefits from the market’s gains tax-free—without the risk of loss during a market downturn</a:t>
            </a:r>
          </a:p>
        </p:txBody>
      </p:sp>
      <p:sp>
        <p:nvSpPr>
          <p:cNvPr id="8" name="Title 7"/>
          <p:cNvSpPr>
            <a:spLocks noGrp="1"/>
          </p:cNvSpPr>
          <p:nvPr>
            <p:ph type="title"/>
          </p:nvPr>
        </p:nvSpPr>
        <p:spPr>
          <a:xfrm>
            <a:off x="1770888" y="0"/>
            <a:ext cx="6897624" cy="1325563"/>
          </a:xfrm>
        </p:spPr>
        <p:txBody>
          <a:bodyPr/>
          <a:lstStyle/>
          <a:p>
            <a:r>
              <a:rPr lang="en-US" dirty="0" smtClean="0"/>
              <a:t>IUL</a:t>
            </a:r>
            <a:endParaRPr lang="en-US" dirty="0"/>
          </a:p>
        </p:txBody>
      </p:sp>
    </p:spTree>
    <p:extLst>
      <p:ext uri="{BB962C8B-B14F-4D97-AF65-F5344CB8AC3E}">
        <p14:creationId xmlns:p14="http://schemas.microsoft.com/office/powerpoint/2010/main" val="17939497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descr="Man talks by phone">
            <a:extLst>
              <a:ext uri="{FF2B5EF4-FFF2-40B4-BE49-F238E27FC236}">
                <a16:creationId xmlns:a16="http://schemas.microsoft.com/office/drawing/2014/main" xmlns="" id="{2894B736-0F24-454E-8A9D-717EB78697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2" y="4665"/>
            <a:ext cx="6991350" cy="6848669"/>
          </a:xfrm>
          <a:prstGeom prst="rect">
            <a:avLst/>
          </a:prstGeom>
        </p:spPr>
      </p:pic>
      <p:sp>
        <p:nvSpPr>
          <p:cNvPr id="5" name="object 3" descr="Beige rectangle">
            <a:extLst>
              <a:ext uri="{FF2B5EF4-FFF2-40B4-BE49-F238E27FC236}">
                <a16:creationId xmlns:a16="http://schemas.microsoft.com/office/drawing/2014/main" xmlns="" id="{DCF29767-6635-4A46-AB77-672CC90C6FBE}"/>
              </a:ext>
            </a:extLst>
          </p:cNvPr>
          <p:cNvSpPr/>
          <p:nvPr/>
        </p:nvSpPr>
        <p:spPr>
          <a:xfrm>
            <a:off x="8181340" y="1359001"/>
            <a:ext cx="4010660" cy="4194074"/>
          </a:xfrm>
          <a:custGeom>
            <a:avLst/>
            <a:gdLst/>
            <a:ahLst/>
            <a:cxnLst/>
            <a:rect l="l" t="t" r="r" b="b"/>
            <a:pathLst>
              <a:path w="4010659" h="333375">
                <a:moveTo>
                  <a:pt x="0" y="333006"/>
                </a:moveTo>
                <a:lnTo>
                  <a:pt x="4010367" y="333006"/>
                </a:lnTo>
                <a:lnTo>
                  <a:pt x="4010367" y="0"/>
                </a:lnTo>
                <a:lnTo>
                  <a:pt x="0" y="0"/>
                </a:lnTo>
                <a:lnTo>
                  <a:pt x="0" y="333006"/>
                </a:lnTo>
                <a:close/>
              </a:path>
            </a:pathLst>
          </a:custGeom>
          <a:solidFill>
            <a:schemeClr val="accent1"/>
          </a:solidFill>
        </p:spPr>
        <p:txBody>
          <a:bodyPr wrap="square" lIns="0" tIns="0" rIns="0" bIns="0" rtlCol="0"/>
          <a:lstStyle/>
          <a:p>
            <a:endParaRPr lang="en-US" dirty="0"/>
          </a:p>
        </p:txBody>
      </p:sp>
      <p:sp>
        <p:nvSpPr>
          <p:cNvPr id="6" name="object 6" descr="Blue rectangle">
            <a:extLst>
              <a:ext uri="{FF2B5EF4-FFF2-40B4-BE49-F238E27FC236}">
                <a16:creationId xmlns:a16="http://schemas.microsoft.com/office/drawing/2014/main" xmlns="" id="{9FABC344-E043-45BE-8588-06C658DBCE70}"/>
              </a:ext>
            </a:extLst>
          </p:cNvPr>
          <p:cNvSpPr/>
          <p:nvPr/>
        </p:nvSpPr>
        <p:spPr>
          <a:xfrm>
            <a:off x="5502275" y="385763"/>
            <a:ext cx="6689725" cy="5915025"/>
          </a:xfrm>
          <a:custGeom>
            <a:avLst/>
            <a:gdLst/>
            <a:ahLst/>
            <a:cxnLst/>
            <a:rect l="l" t="t" r="r" b="b"/>
            <a:pathLst>
              <a:path w="6689725" h="3528060">
                <a:moveTo>
                  <a:pt x="0" y="3527996"/>
                </a:moveTo>
                <a:lnTo>
                  <a:pt x="6689648" y="3527996"/>
                </a:lnTo>
                <a:lnTo>
                  <a:pt x="6689648" y="0"/>
                </a:lnTo>
                <a:lnTo>
                  <a:pt x="0" y="0"/>
                </a:lnTo>
                <a:lnTo>
                  <a:pt x="0" y="3527996"/>
                </a:lnTo>
                <a:close/>
              </a:path>
            </a:pathLst>
          </a:custGeom>
          <a:solidFill>
            <a:schemeClr val="accent2"/>
          </a:solidFill>
        </p:spPr>
        <p:txBody>
          <a:bodyPr wrap="square" lIns="0" tIns="0" rIns="0" bIns="0" rtlCol="0"/>
          <a:lstStyle/>
          <a:p>
            <a:endParaRPr lang="en-US" dirty="0"/>
          </a:p>
        </p:txBody>
      </p:sp>
      <p:sp>
        <p:nvSpPr>
          <p:cNvPr id="3" name="Slide Number Placeholder 2">
            <a:extLst>
              <a:ext uri="{FF2B5EF4-FFF2-40B4-BE49-F238E27FC236}">
                <a16:creationId xmlns:a16="http://schemas.microsoft.com/office/drawing/2014/main" xmlns="" id="{24D506CC-0185-443E-82C7-1600C21D6E91}"/>
              </a:ext>
            </a:extLst>
          </p:cNvPr>
          <p:cNvSpPr>
            <a:spLocks noGrp="1"/>
          </p:cNvSpPr>
          <p:nvPr>
            <p:ph type="sldNum" sz="quarter" idx="12"/>
          </p:nvPr>
        </p:nvSpPr>
        <p:spPr/>
        <p:txBody>
          <a:bodyPr/>
          <a:lstStyle/>
          <a:p>
            <a:fld id="{82EE24B5-652C-4DB5-B7C3-B5BBEC1280B1}" type="slidenum">
              <a:rPr lang="en-US" smtClean="0"/>
              <a:t>3</a:t>
            </a:fld>
            <a:endParaRPr lang="en-US" dirty="0"/>
          </a:p>
        </p:txBody>
      </p:sp>
      <p:sp>
        <p:nvSpPr>
          <p:cNvPr id="7" name="object 9" descr="Beige rectangle">
            <a:extLst>
              <a:ext uri="{FF2B5EF4-FFF2-40B4-BE49-F238E27FC236}">
                <a16:creationId xmlns:a16="http://schemas.microsoft.com/office/drawing/2014/main" xmlns="" id="{02C6628C-972C-4717-AAF3-D882B30F6658}"/>
              </a:ext>
            </a:extLst>
          </p:cNvPr>
          <p:cNvSpPr/>
          <p:nvPr/>
        </p:nvSpPr>
        <p:spPr>
          <a:xfrm>
            <a:off x="6038469" y="716407"/>
            <a:ext cx="2988000" cy="0"/>
          </a:xfrm>
          <a:custGeom>
            <a:avLst/>
            <a:gdLst/>
            <a:ahLst/>
            <a:cxnLst/>
            <a:rect l="l" t="t" r="r" b="b"/>
            <a:pathLst>
              <a:path w="2642870">
                <a:moveTo>
                  <a:pt x="0" y="0"/>
                </a:moveTo>
                <a:lnTo>
                  <a:pt x="2642616" y="0"/>
                </a:lnTo>
              </a:path>
            </a:pathLst>
          </a:custGeom>
          <a:ln w="54863">
            <a:solidFill>
              <a:schemeClr val="accent1"/>
            </a:solidFill>
          </a:ln>
        </p:spPr>
        <p:txBody>
          <a:bodyPr wrap="square" lIns="0" tIns="0" rIns="0" bIns="0" rtlCol="0"/>
          <a:lstStyle/>
          <a:p>
            <a:endParaRPr lang="en-US" dirty="0"/>
          </a:p>
        </p:txBody>
      </p:sp>
      <p:sp>
        <p:nvSpPr>
          <p:cNvPr id="9" name="Content Placeholder 3">
            <a:extLst>
              <a:ext uri="{FF2B5EF4-FFF2-40B4-BE49-F238E27FC236}">
                <a16:creationId xmlns:a16="http://schemas.microsoft.com/office/drawing/2014/main" xmlns="" id="{E7A818AB-B120-41D5-88A6-933AB9CAAE68}"/>
              </a:ext>
            </a:extLst>
          </p:cNvPr>
          <p:cNvSpPr txBox="1">
            <a:spLocks/>
          </p:cNvSpPr>
          <p:nvPr/>
        </p:nvSpPr>
        <p:spPr>
          <a:xfrm>
            <a:off x="5853914" y="843049"/>
            <a:ext cx="6033285" cy="160337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None/>
            </a:pPr>
            <a:r>
              <a:rPr lang="en-US" sz="2800" dirty="0">
                <a:solidFill>
                  <a:schemeClr val="bg1"/>
                </a:solidFill>
              </a:rPr>
              <a:t>you’re getting permanent coverage as long as premiums are paid. </a:t>
            </a:r>
            <a:endParaRPr lang="en-US" sz="2800" dirty="0" smtClean="0">
              <a:solidFill>
                <a:schemeClr val="bg1"/>
              </a:solidFill>
            </a:endParaRPr>
          </a:p>
          <a:p>
            <a:pPr marL="0" indent="0" fontAlgn="base">
              <a:buNone/>
            </a:pPr>
            <a:endParaRPr lang="en-US" sz="2800" dirty="0">
              <a:solidFill>
                <a:schemeClr val="bg1"/>
              </a:solidFill>
            </a:endParaRPr>
          </a:p>
          <a:p>
            <a:pPr marL="0" indent="0" fontAlgn="base">
              <a:buNone/>
            </a:pPr>
            <a:r>
              <a:rPr lang="en-US" sz="2800" dirty="0" smtClean="0">
                <a:solidFill>
                  <a:schemeClr val="bg1"/>
                </a:solidFill>
              </a:rPr>
              <a:t>Your </a:t>
            </a:r>
            <a:r>
              <a:rPr lang="en-US" sz="2800" dirty="0">
                <a:solidFill>
                  <a:schemeClr val="bg1"/>
                </a:solidFill>
              </a:rPr>
              <a:t>policy includes a death benefit, which is paid out to your named beneficiary or beneficiaries when you pass away. </a:t>
            </a:r>
            <a:endParaRPr lang="en-US" sz="2800" dirty="0" smtClean="0">
              <a:solidFill>
                <a:schemeClr val="bg1"/>
              </a:solidFill>
            </a:endParaRPr>
          </a:p>
          <a:p>
            <a:pPr marL="0" indent="0" fontAlgn="base">
              <a:buNone/>
            </a:pPr>
            <a:endParaRPr lang="en-US" sz="2800" dirty="0">
              <a:solidFill>
                <a:schemeClr val="bg1"/>
              </a:solidFill>
            </a:endParaRPr>
          </a:p>
          <a:p>
            <a:pPr marL="0" indent="0" fontAlgn="base">
              <a:buNone/>
            </a:pPr>
            <a:r>
              <a:rPr lang="en-US" sz="2800" dirty="0" smtClean="0">
                <a:solidFill>
                  <a:schemeClr val="bg1"/>
                </a:solidFill>
              </a:rPr>
              <a:t>But </a:t>
            </a:r>
            <a:r>
              <a:rPr lang="en-US" sz="2800" dirty="0">
                <a:solidFill>
                  <a:schemeClr val="bg1"/>
                </a:solidFill>
              </a:rPr>
              <a:t>the policy can also increase in value during your lifetime through a cash </a:t>
            </a:r>
            <a:r>
              <a:rPr lang="en-US" sz="2800" dirty="0" smtClean="0">
                <a:solidFill>
                  <a:schemeClr val="bg1"/>
                </a:solidFill>
              </a:rPr>
              <a:t>value</a:t>
            </a:r>
            <a:endParaRPr lang="en-US" sz="2800" dirty="0">
              <a:solidFill>
                <a:schemeClr val="bg1"/>
              </a:solidFill>
            </a:endParaRPr>
          </a:p>
        </p:txBody>
      </p:sp>
      <p:sp>
        <p:nvSpPr>
          <p:cNvPr id="8" name="Title 7"/>
          <p:cNvSpPr>
            <a:spLocks noGrp="1"/>
          </p:cNvSpPr>
          <p:nvPr>
            <p:ph type="title"/>
          </p:nvPr>
        </p:nvSpPr>
        <p:spPr>
          <a:xfrm>
            <a:off x="1770888" y="0"/>
            <a:ext cx="6897624" cy="1325563"/>
          </a:xfrm>
        </p:spPr>
        <p:txBody>
          <a:bodyPr/>
          <a:lstStyle/>
          <a:p>
            <a:r>
              <a:rPr lang="en-US" dirty="0" smtClean="0"/>
              <a:t>IUL</a:t>
            </a:r>
            <a:endParaRPr lang="en-US" dirty="0"/>
          </a:p>
        </p:txBody>
      </p:sp>
    </p:spTree>
    <p:extLst>
      <p:ext uri="{BB962C8B-B14F-4D97-AF65-F5344CB8AC3E}">
        <p14:creationId xmlns:p14="http://schemas.microsoft.com/office/powerpoint/2010/main" val="9274997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IUL </a:t>
            </a:r>
            <a:endParaRPr lang="en-US" dirty="0"/>
          </a:p>
        </p:txBody>
      </p:sp>
      <p:sp>
        <p:nvSpPr>
          <p:cNvPr id="3" name="Slide Number Placeholder 2"/>
          <p:cNvSpPr>
            <a:spLocks noGrp="1"/>
          </p:cNvSpPr>
          <p:nvPr>
            <p:ph type="sldNum" sz="quarter" idx="12"/>
          </p:nvPr>
        </p:nvSpPr>
        <p:spPr/>
        <p:txBody>
          <a:bodyPr/>
          <a:lstStyle/>
          <a:p>
            <a:fld id="{82EE24B5-652C-4DB5-B7C3-B5BBEC1280B1}" type="slidenum">
              <a:rPr lang="en-US" smtClean="0"/>
              <a:t>4</a:t>
            </a:fld>
            <a:endParaRPr lang="en-US" dirty="0"/>
          </a:p>
        </p:txBody>
      </p:sp>
      <p:sp>
        <p:nvSpPr>
          <p:cNvPr id="4" name="Rectangle 3"/>
          <p:cNvSpPr/>
          <p:nvPr/>
        </p:nvSpPr>
        <p:spPr>
          <a:xfrm>
            <a:off x="688847" y="2219742"/>
            <a:ext cx="10555415" cy="5262979"/>
          </a:xfrm>
          <a:prstGeom prst="rect">
            <a:avLst/>
          </a:prstGeom>
        </p:spPr>
        <p:txBody>
          <a:bodyPr wrap="square">
            <a:spAutoFit/>
          </a:bodyPr>
          <a:lstStyle/>
          <a:p>
            <a:r>
              <a:rPr lang="en-US" sz="2400" b="1" dirty="0"/>
              <a:t>Reason 1:</a:t>
            </a:r>
            <a:r>
              <a:rPr lang="en-US" sz="2400" dirty="0"/>
              <a:t> Most financial advisors don’t know that an account like this exists. Nor, do they know how to set it up to be legally tax-free for the account holder.</a:t>
            </a:r>
          </a:p>
          <a:p>
            <a:r>
              <a:rPr lang="en-US" sz="2400" dirty="0"/>
              <a:t/>
            </a:r>
            <a:br>
              <a:rPr lang="en-US" sz="2400" dirty="0"/>
            </a:br>
            <a:endParaRPr lang="en-US" sz="2400" dirty="0"/>
          </a:p>
          <a:p>
            <a:r>
              <a:rPr lang="en-US" sz="2400" b="1" dirty="0"/>
              <a:t>Reason 2:</a:t>
            </a:r>
            <a:r>
              <a:rPr lang="en-US" sz="2400" dirty="0"/>
              <a:t> Most financial advisors recommend financial vehicles that the company they've contracted with… tells them to recommend.  </a:t>
            </a:r>
          </a:p>
          <a:p>
            <a:r>
              <a:rPr lang="en-US" sz="2400" dirty="0"/>
              <a:t/>
            </a:r>
            <a:br>
              <a:rPr lang="en-US" sz="2400" dirty="0"/>
            </a:br>
            <a:endParaRPr lang="en-US" sz="2400" dirty="0"/>
          </a:p>
          <a:p>
            <a:r>
              <a:rPr lang="en-US" sz="2400" b="1" dirty="0"/>
              <a:t>Reason 3:</a:t>
            </a:r>
            <a:r>
              <a:rPr lang="en-US" sz="2400" dirty="0"/>
              <a:t> They don’t want to take a pay cut! In IRAs and 401Ks, advisors charge fees and commissions on the deferred tax liability, which drives up your investing cost.</a:t>
            </a:r>
          </a:p>
          <a:p>
            <a:r>
              <a:rPr lang="en-US" sz="2400" dirty="0"/>
              <a:t/>
            </a:r>
            <a:br>
              <a:rPr lang="en-US" sz="2400" dirty="0"/>
            </a:br>
            <a:endParaRPr lang="en-US" sz="2400" dirty="0"/>
          </a:p>
        </p:txBody>
      </p:sp>
    </p:spTree>
    <p:extLst>
      <p:ext uri="{BB962C8B-B14F-4D97-AF65-F5344CB8AC3E}">
        <p14:creationId xmlns:p14="http://schemas.microsoft.com/office/powerpoint/2010/main" val="14953423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2EE24B5-652C-4DB5-B7C3-B5BBEC1280B1}" type="slidenum">
              <a:rPr lang="en-US" smtClean="0"/>
              <a:t>5</a:t>
            </a:fld>
            <a:endParaRPr lang="en-US" dirty="0"/>
          </a:p>
        </p:txBody>
      </p:sp>
      <p:sp>
        <p:nvSpPr>
          <p:cNvPr id="4" name="Rectangle 3"/>
          <p:cNvSpPr/>
          <p:nvPr/>
        </p:nvSpPr>
        <p:spPr>
          <a:xfrm>
            <a:off x="276224" y="186542"/>
            <a:ext cx="10768013" cy="6001643"/>
          </a:xfrm>
          <a:prstGeom prst="rect">
            <a:avLst/>
          </a:prstGeom>
        </p:spPr>
        <p:txBody>
          <a:bodyPr wrap="square">
            <a:spAutoFit/>
          </a:bodyPr>
          <a:lstStyle/>
          <a:p>
            <a:pPr>
              <a:buFont typeface="Arial" panose="020B0604020202020204" pitchFamily="34" charset="0"/>
              <a:buChar char="•"/>
            </a:pPr>
            <a:r>
              <a:rPr lang="en-US" sz="2400" b="1" dirty="0">
                <a:solidFill>
                  <a:srgbClr val="000000"/>
                </a:solidFill>
                <a:latin typeface="Open Sans"/>
              </a:rPr>
              <a:t>You don’t pay taxes on growth or principal. Ever.</a:t>
            </a:r>
            <a:r>
              <a:rPr lang="en-US" sz="2400" dirty="0">
                <a:solidFill>
                  <a:srgbClr val="000000"/>
                </a:solidFill>
                <a:latin typeface="Open Sans"/>
              </a:rPr>
              <a:t> ( This is 100% legal if your account is set up correctly, and structured according to current IRS tax-code</a:t>
            </a:r>
            <a:r>
              <a:rPr lang="en-US" sz="2400" dirty="0" smtClean="0">
                <a:solidFill>
                  <a:srgbClr val="000000"/>
                </a:solidFill>
                <a:latin typeface="Open Sans"/>
              </a:rPr>
              <a:t>.)</a:t>
            </a:r>
          </a:p>
          <a:p>
            <a:pPr>
              <a:buFont typeface="Arial" panose="020B0604020202020204" pitchFamily="34" charset="0"/>
              <a:buChar char="•"/>
            </a:pPr>
            <a:endParaRPr lang="en-US" sz="2400" dirty="0">
              <a:solidFill>
                <a:srgbClr val="000000"/>
              </a:solidFill>
              <a:latin typeface="Open Sans"/>
            </a:endParaRPr>
          </a:p>
          <a:p>
            <a:pPr>
              <a:buFont typeface="Arial" panose="020B0604020202020204" pitchFamily="34" charset="0"/>
              <a:buChar char="•"/>
            </a:pPr>
            <a:r>
              <a:rPr lang="en-US" sz="2400" b="1" dirty="0">
                <a:solidFill>
                  <a:srgbClr val="000000"/>
                </a:solidFill>
                <a:latin typeface="Open Sans"/>
              </a:rPr>
              <a:t>​Average historical returns of 5-7% annually</a:t>
            </a:r>
            <a:r>
              <a:rPr lang="en-US" sz="2400" dirty="0">
                <a:solidFill>
                  <a:srgbClr val="000000"/>
                </a:solidFill>
                <a:latin typeface="Open Sans"/>
              </a:rPr>
              <a:t>. (Tax-free, and net of fees and costs</a:t>
            </a:r>
            <a:r>
              <a:rPr lang="en-US" sz="2400" dirty="0" smtClean="0">
                <a:solidFill>
                  <a:srgbClr val="000000"/>
                </a:solidFill>
                <a:latin typeface="Open Sans"/>
              </a:rPr>
              <a:t>)</a:t>
            </a:r>
          </a:p>
          <a:p>
            <a:pPr>
              <a:buFont typeface="Arial" panose="020B0604020202020204" pitchFamily="34" charset="0"/>
              <a:buChar char="•"/>
            </a:pPr>
            <a:endParaRPr lang="en-US" sz="2400" dirty="0">
              <a:solidFill>
                <a:srgbClr val="000000"/>
              </a:solidFill>
              <a:latin typeface="Open Sans"/>
            </a:endParaRPr>
          </a:p>
          <a:p>
            <a:pPr>
              <a:buFont typeface="Arial" panose="020B0604020202020204" pitchFamily="34" charset="0"/>
              <a:buChar char="•"/>
            </a:pPr>
            <a:r>
              <a:rPr lang="en-US" sz="2400" b="1" dirty="0">
                <a:solidFill>
                  <a:srgbClr val="000000"/>
                </a:solidFill>
                <a:latin typeface="Open Sans"/>
              </a:rPr>
              <a:t>Your Account is GUARANTEED not to go backwards.</a:t>
            </a:r>
            <a:r>
              <a:rPr lang="en-US" sz="2400" dirty="0">
                <a:solidFill>
                  <a:srgbClr val="000000"/>
                </a:solidFill>
                <a:latin typeface="Open Sans"/>
              </a:rPr>
              <a:t> (Lock in gains when the market is up, but suffer NO loss when the market is down</a:t>
            </a:r>
            <a:r>
              <a:rPr lang="en-US" sz="2400" dirty="0" smtClean="0">
                <a:solidFill>
                  <a:srgbClr val="000000"/>
                </a:solidFill>
                <a:latin typeface="Open Sans"/>
              </a:rPr>
              <a:t>)</a:t>
            </a:r>
          </a:p>
          <a:p>
            <a:pPr>
              <a:buFont typeface="Arial" panose="020B0604020202020204" pitchFamily="34" charset="0"/>
              <a:buChar char="•"/>
            </a:pPr>
            <a:endParaRPr lang="en-US" sz="2400" dirty="0">
              <a:solidFill>
                <a:srgbClr val="000000"/>
              </a:solidFill>
              <a:latin typeface="Open Sans"/>
            </a:endParaRPr>
          </a:p>
          <a:p>
            <a:pPr>
              <a:buFont typeface="Arial" panose="020B0604020202020204" pitchFamily="34" charset="0"/>
              <a:buChar char="•"/>
            </a:pPr>
            <a:r>
              <a:rPr lang="en-US" sz="2400" b="1" dirty="0">
                <a:solidFill>
                  <a:srgbClr val="000000"/>
                </a:solidFill>
                <a:latin typeface="Open Sans"/>
              </a:rPr>
              <a:t>Your money is Liquid.</a:t>
            </a:r>
            <a:r>
              <a:rPr lang="en-US" sz="2400" dirty="0">
                <a:solidFill>
                  <a:srgbClr val="000000"/>
                </a:solidFill>
                <a:latin typeface="Open Sans"/>
              </a:rPr>
              <a:t> (Take money out any time you want – for any reason – without penalty – WHILE 100% of your money continues to </a:t>
            </a:r>
            <a:r>
              <a:rPr lang="en-US" sz="2400" dirty="0" smtClean="0">
                <a:solidFill>
                  <a:srgbClr val="000000"/>
                </a:solidFill>
                <a:latin typeface="Open Sans"/>
              </a:rPr>
              <a:t>grow.)</a:t>
            </a:r>
          </a:p>
          <a:p>
            <a:pPr>
              <a:buFont typeface="Arial" panose="020B0604020202020204" pitchFamily="34" charset="0"/>
              <a:buChar char="•"/>
            </a:pPr>
            <a:endParaRPr lang="en-US" sz="2400" dirty="0">
              <a:solidFill>
                <a:srgbClr val="000000"/>
              </a:solidFill>
              <a:latin typeface="Open Sans"/>
            </a:endParaRPr>
          </a:p>
          <a:p>
            <a:pPr>
              <a:buFont typeface="Arial" panose="020B0604020202020204" pitchFamily="34" charset="0"/>
              <a:buChar char="•"/>
            </a:pPr>
            <a:r>
              <a:rPr lang="en-US" sz="2400" b="1" dirty="0">
                <a:solidFill>
                  <a:srgbClr val="000000"/>
                </a:solidFill>
                <a:latin typeface="Open Sans"/>
              </a:rPr>
              <a:t>​You are not required to report money you take out to the IRS.</a:t>
            </a:r>
            <a:r>
              <a:rPr lang="en-US" sz="2400" dirty="0">
                <a:solidFill>
                  <a:srgbClr val="000000"/>
                </a:solidFill>
                <a:latin typeface="Open Sans"/>
              </a:rPr>
              <a:t> (The IRS doesn’t consider money taken out as ‘income’ – so there’s no tax. It's none of their business!)</a:t>
            </a:r>
            <a:endParaRPr lang="en-US" sz="2400" b="0" i="0" dirty="0">
              <a:solidFill>
                <a:srgbClr val="000000"/>
              </a:solidFill>
              <a:effectLst/>
              <a:latin typeface="Open Sans"/>
            </a:endParaRPr>
          </a:p>
        </p:txBody>
      </p:sp>
    </p:spTree>
    <p:extLst>
      <p:ext uri="{BB962C8B-B14F-4D97-AF65-F5344CB8AC3E}">
        <p14:creationId xmlns:p14="http://schemas.microsoft.com/office/powerpoint/2010/main" val="21714054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2EE24B5-652C-4DB5-B7C3-B5BBEC1280B1}" type="slidenum">
              <a:rPr lang="en-US" smtClean="0"/>
              <a:t>6</a:t>
            </a:fld>
            <a:endParaRPr lang="en-US" dirty="0"/>
          </a:p>
        </p:txBody>
      </p:sp>
      <p:sp>
        <p:nvSpPr>
          <p:cNvPr id="4" name="Rectangle 3"/>
          <p:cNvSpPr/>
          <p:nvPr/>
        </p:nvSpPr>
        <p:spPr>
          <a:xfrm>
            <a:off x="809767" y="2054452"/>
            <a:ext cx="9166746" cy="2308324"/>
          </a:xfrm>
          <a:prstGeom prst="rect">
            <a:avLst/>
          </a:prstGeom>
        </p:spPr>
        <p:txBody>
          <a:bodyPr wrap="square">
            <a:spAutoFit/>
          </a:bodyPr>
          <a:lstStyle/>
          <a:p>
            <a:r>
              <a:rPr lang="en-US" b="1" dirty="0">
                <a:solidFill>
                  <a:srgbClr val="000000"/>
                </a:solidFill>
                <a:latin typeface="Gotham"/>
              </a:rPr>
              <a:t>Control.</a:t>
            </a:r>
            <a:r>
              <a:rPr lang="en-US" dirty="0">
                <a:solidFill>
                  <a:srgbClr val="000000"/>
                </a:solidFill>
                <a:latin typeface="Gotham"/>
              </a:rPr>
              <a:t> You can increase or decrease your premium payments, depending on your need for coverage, the growth of your cash account and your financial situation. You can also increase or decrease your coverage amount. However, you may need to complete a medical exam to boost the death benefit</a:t>
            </a:r>
            <a:r>
              <a:rPr lang="en-US" dirty="0" smtClean="0">
                <a:solidFill>
                  <a:srgbClr val="000000"/>
                </a:solidFill>
                <a:latin typeface="Gotham"/>
              </a:rPr>
              <a:t>.</a:t>
            </a:r>
          </a:p>
          <a:p>
            <a:endParaRPr lang="en-US" dirty="0">
              <a:solidFill>
                <a:srgbClr val="000000"/>
              </a:solidFill>
              <a:latin typeface="Gotham"/>
            </a:endParaRPr>
          </a:p>
          <a:p>
            <a:endParaRPr lang="en-US" dirty="0">
              <a:solidFill>
                <a:srgbClr val="000000"/>
              </a:solidFill>
              <a:latin typeface="Gotham"/>
            </a:endParaRPr>
          </a:p>
          <a:p>
            <a:r>
              <a:rPr lang="en-US" b="1" dirty="0">
                <a:solidFill>
                  <a:srgbClr val="000000"/>
                </a:solidFill>
                <a:latin typeface="Gotham"/>
              </a:rPr>
              <a:t>Stock market-driven returns</a:t>
            </a:r>
            <a:r>
              <a:rPr lang="en-US" dirty="0">
                <a:solidFill>
                  <a:srgbClr val="000000"/>
                </a:solidFill>
                <a:latin typeface="Gotham"/>
              </a:rPr>
              <a:t>. With indexed accounts, the cash value grows when the market grows, and that growth is often accumulated tax-deferred. </a:t>
            </a:r>
            <a:endParaRPr lang="en-US" b="0" i="0" dirty="0">
              <a:solidFill>
                <a:srgbClr val="000000"/>
              </a:solidFill>
              <a:effectLst/>
              <a:latin typeface="Gotham"/>
            </a:endParaRPr>
          </a:p>
        </p:txBody>
      </p:sp>
    </p:spTree>
    <p:extLst>
      <p:ext uri="{BB962C8B-B14F-4D97-AF65-F5344CB8AC3E}">
        <p14:creationId xmlns:p14="http://schemas.microsoft.com/office/powerpoint/2010/main" val="36797051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2EE24B5-652C-4DB5-B7C3-B5BBEC1280B1}" type="slidenum">
              <a:rPr lang="en-US" smtClean="0"/>
              <a:t>7</a:t>
            </a:fld>
            <a:endParaRPr lang="en-US" dirty="0"/>
          </a:p>
        </p:txBody>
      </p:sp>
      <p:sp>
        <p:nvSpPr>
          <p:cNvPr id="4" name="Rectangle 3"/>
          <p:cNvSpPr/>
          <p:nvPr/>
        </p:nvSpPr>
        <p:spPr>
          <a:xfrm>
            <a:off x="1036319" y="2133824"/>
            <a:ext cx="9701349" cy="2585323"/>
          </a:xfrm>
          <a:prstGeom prst="rect">
            <a:avLst/>
          </a:prstGeom>
        </p:spPr>
        <p:txBody>
          <a:bodyPr wrap="square">
            <a:spAutoFit/>
          </a:bodyPr>
          <a:lstStyle/>
          <a:p>
            <a:r>
              <a:rPr lang="en-US" b="1" dirty="0"/>
              <a:t>What is IUL (Indexed Universal Life</a:t>
            </a:r>
            <a:r>
              <a:rPr lang="en-US" b="1" dirty="0" smtClean="0"/>
              <a:t>)?</a:t>
            </a:r>
          </a:p>
          <a:p>
            <a:endParaRPr lang="en-US" b="1" dirty="0"/>
          </a:p>
          <a:p>
            <a:pPr>
              <a:buFont typeface="Arial" panose="020B0604020202020204" pitchFamily="34" charset="0"/>
              <a:buChar char="•"/>
            </a:pPr>
            <a:r>
              <a:rPr lang="en-US" dirty="0"/>
              <a:t>Permanent life insurance (lifetime coverage) </a:t>
            </a:r>
            <a:endParaRPr lang="en-US" dirty="0" smtClean="0"/>
          </a:p>
          <a:p>
            <a:pPr>
              <a:buFont typeface="Arial" panose="020B0604020202020204" pitchFamily="34" charset="0"/>
              <a:buChar char="•"/>
            </a:pPr>
            <a:endParaRPr lang="en-US" dirty="0"/>
          </a:p>
          <a:p>
            <a:pPr>
              <a:buFont typeface="Arial" panose="020B0604020202020204" pitchFamily="34" charset="0"/>
              <a:buChar char="•"/>
            </a:pPr>
            <a:r>
              <a:rPr lang="en-US" dirty="0"/>
              <a:t>Cash value tied to a stock index (like S&amp;P 500) </a:t>
            </a:r>
            <a:endParaRPr lang="en-US" dirty="0" smtClean="0"/>
          </a:p>
          <a:p>
            <a:pPr>
              <a:buFont typeface="Arial" panose="020B0604020202020204" pitchFamily="34" charset="0"/>
              <a:buChar char="•"/>
            </a:pPr>
            <a:endParaRPr lang="en-US" dirty="0"/>
          </a:p>
          <a:p>
            <a:pPr>
              <a:buFont typeface="Arial" panose="020B0604020202020204" pitchFamily="34" charset="0"/>
              <a:buChar char="•"/>
            </a:pPr>
            <a:r>
              <a:rPr lang="en-US" dirty="0"/>
              <a:t>Flexible premiums and death benefit </a:t>
            </a:r>
            <a:endParaRPr lang="en-US" dirty="0" smtClean="0"/>
          </a:p>
          <a:p>
            <a:pPr>
              <a:buFont typeface="Arial" panose="020B0604020202020204" pitchFamily="34" charset="0"/>
              <a:buChar char="•"/>
            </a:pPr>
            <a:endParaRPr lang="en-US" dirty="0"/>
          </a:p>
          <a:p>
            <a:pPr>
              <a:buFont typeface="Arial" panose="020B0604020202020204" pitchFamily="34" charset="0"/>
              <a:buChar char="•"/>
            </a:pPr>
            <a:r>
              <a:rPr lang="en-US" dirty="0"/>
              <a:t>Has </a:t>
            </a:r>
            <a:r>
              <a:rPr lang="en-US" b="1" dirty="0"/>
              <a:t>growth potential + downside protection (usually 0% floor)</a:t>
            </a:r>
            <a:r>
              <a:rPr lang="en-US" dirty="0"/>
              <a:t> </a:t>
            </a:r>
          </a:p>
        </p:txBody>
      </p:sp>
    </p:spTree>
    <p:extLst>
      <p:ext uri="{BB962C8B-B14F-4D97-AF65-F5344CB8AC3E}">
        <p14:creationId xmlns:p14="http://schemas.microsoft.com/office/powerpoint/2010/main" val="41845252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2EE24B5-652C-4DB5-B7C3-B5BBEC1280B1}" type="slidenum">
              <a:rPr lang="en-US" smtClean="0"/>
              <a:t>8</a:t>
            </a:fld>
            <a:endParaRPr lang="en-US" dirty="0"/>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212333964"/>
              </p:ext>
            </p:extLst>
          </p:nvPr>
        </p:nvGraphicFramePr>
        <p:xfrm>
          <a:off x="130630" y="718458"/>
          <a:ext cx="11913325" cy="5617026"/>
        </p:xfrm>
        <a:graphic>
          <a:graphicData uri="http://schemas.openxmlformats.org/drawingml/2006/table">
            <a:tbl>
              <a:tblPr/>
              <a:tblGrid>
                <a:gridCol w="2382665"/>
                <a:gridCol w="2382665"/>
                <a:gridCol w="2382665"/>
                <a:gridCol w="2382665"/>
                <a:gridCol w="2382665"/>
              </a:tblGrid>
              <a:tr h="590927">
                <a:tc>
                  <a:txBody>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Feature</a:t>
                      </a:r>
                    </a:p>
                  </a:txBody>
                  <a:tcPr marL="45057" marR="45057" marT="22529" marB="22529" anchor="ctr">
                    <a:lnL>
                      <a:noFill/>
                    </a:lnL>
                    <a:lnR>
                      <a:noFill/>
                    </a:lnR>
                    <a:lnT>
                      <a:noFill/>
                    </a:lnT>
                    <a:lnB>
                      <a:noFill/>
                    </a:lnB>
                  </a:tcPr>
                </a:tc>
                <a:tc>
                  <a:txBody>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IUL</a:t>
                      </a:r>
                    </a:p>
                  </a:txBody>
                  <a:tcPr marL="45057" marR="45057" marT="22529" marB="22529" anchor="ctr">
                    <a:lnL>
                      <a:noFill/>
                    </a:lnL>
                    <a:lnR>
                      <a:noFill/>
                    </a:lnR>
                    <a:lnT>
                      <a:noFill/>
                    </a:lnT>
                    <a:lnB>
                      <a:noFill/>
                    </a:lnB>
                  </a:tcPr>
                </a:tc>
                <a:tc>
                  <a:txBody>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Whole Life</a:t>
                      </a:r>
                    </a:p>
                  </a:txBody>
                  <a:tcPr marL="45057" marR="45057" marT="22529" marB="22529" anchor="ctr">
                    <a:lnL>
                      <a:noFill/>
                    </a:lnL>
                    <a:lnR>
                      <a:noFill/>
                    </a:lnR>
                    <a:lnT>
                      <a:noFill/>
                    </a:lnT>
                    <a:lnB>
                      <a:noFill/>
                    </a:lnB>
                  </a:tcPr>
                </a:tc>
                <a:tc>
                  <a:txBody>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Term Life</a:t>
                      </a:r>
                    </a:p>
                  </a:txBody>
                  <a:tcPr marL="45057" marR="45057" marT="22529" marB="22529" anchor="ctr">
                    <a:lnL>
                      <a:noFill/>
                    </a:lnL>
                    <a:lnR>
                      <a:noFill/>
                    </a:lnR>
                    <a:lnT>
                      <a:noFill/>
                    </a:lnT>
                    <a:lnB>
                      <a:noFill/>
                    </a:lnB>
                  </a:tcPr>
                </a:tc>
                <a:tc>
                  <a:txBody>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Universal Life (UL)</a:t>
                      </a:r>
                    </a:p>
                  </a:txBody>
                  <a:tcPr marL="45057" marR="45057" marT="22529" marB="22529" anchor="ctr">
                    <a:lnL>
                      <a:noFill/>
                    </a:lnL>
                    <a:lnR>
                      <a:noFill/>
                    </a:lnR>
                    <a:lnT>
                      <a:noFill/>
                    </a:lnT>
                    <a:lnB>
                      <a:noFill/>
                    </a:lnB>
                  </a:tcPr>
                </a:tc>
              </a:tr>
              <a:tr h="1035732">
                <a:tc>
                  <a:txBody>
                    <a:bodyPr/>
                    <a:lstStyle/>
                    <a:p>
                      <a:r>
                        <a:rPr lang="en-US" sz="1400" dirty="0">
                          <a:latin typeface="Cascadia Mono" panose="020B0609020000020004" pitchFamily="49" charset="0"/>
                          <a:ea typeface="Cascadia Mono" panose="020B0609020000020004" pitchFamily="49" charset="0"/>
                          <a:cs typeface="Cascadia Mono" panose="020B0609020000020004" pitchFamily="49" charset="0"/>
                        </a:rPr>
                        <a:t>Coverage</a:t>
                      </a:r>
                    </a:p>
                  </a:txBody>
                  <a:tcPr marL="45057" marR="45057" marT="22529" marB="22529" anchor="ctr">
                    <a:lnL>
                      <a:noFill/>
                    </a:lnL>
                    <a:lnR>
                      <a:noFill/>
                    </a:lnR>
                    <a:lnT>
                      <a:noFill/>
                    </a:lnT>
                    <a:lnB>
                      <a:noFill/>
                    </a:lnB>
                  </a:tcPr>
                </a:tc>
                <a:tc>
                  <a:txBody>
                    <a:bodyPr/>
                    <a:lstStyle/>
                    <a:p>
                      <a:r>
                        <a:rPr lang="en-US" sz="1400" dirty="0">
                          <a:latin typeface="Cascadia Mono" panose="020B0609020000020004" pitchFamily="49" charset="0"/>
                          <a:ea typeface="Cascadia Mono" panose="020B0609020000020004" pitchFamily="49" charset="0"/>
                          <a:cs typeface="Cascadia Mono" panose="020B0609020000020004" pitchFamily="49" charset="0"/>
                        </a:rPr>
                        <a:t>Lifetime</a:t>
                      </a:r>
                    </a:p>
                  </a:txBody>
                  <a:tcPr marL="45057" marR="45057" marT="22529" marB="22529" anchor="ctr">
                    <a:lnL>
                      <a:noFill/>
                    </a:lnL>
                    <a:lnR>
                      <a:noFill/>
                    </a:lnR>
                    <a:lnT>
                      <a:noFill/>
                    </a:lnT>
                    <a:lnB>
                      <a:noFill/>
                    </a:lnB>
                  </a:tcPr>
                </a:tc>
                <a:tc>
                  <a:txBody>
                    <a:bodyPr/>
                    <a:lstStyle/>
                    <a:p>
                      <a:r>
                        <a:rPr lang="en-US" sz="1400" dirty="0">
                          <a:latin typeface="Cascadia Mono" panose="020B0609020000020004" pitchFamily="49" charset="0"/>
                          <a:ea typeface="Cascadia Mono" panose="020B0609020000020004" pitchFamily="49" charset="0"/>
                          <a:cs typeface="Cascadia Mono" panose="020B0609020000020004" pitchFamily="49" charset="0"/>
                        </a:rPr>
                        <a:t>Lifetime</a:t>
                      </a:r>
                    </a:p>
                  </a:txBody>
                  <a:tcPr marL="45057" marR="45057" marT="22529" marB="22529" anchor="ctr">
                    <a:lnL>
                      <a:noFill/>
                    </a:lnL>
                    <a:lnR>
                      <a:noFill/>
                    </a:lnR>
                    <a:lnT>
                      <a:noFill/>
                    </a:lnT>
                    <a:lnB>
                      <a:noFill/>
                    </a:lnB>
                  </a:tcPr>
                </a:tc>
                <a:tc>
                  <a:txBody>
                    <a:bodyPr/>
                    <a:lstStyle/>
                    <a:p>
                      <a:r>
                        <a:rPr lang="en-US" sz="1400" dirty="0">
                          <a:latin typeface="Cascadia Mono" panose="020B0609020000020004" pitchFamily="49" charset="0"/>
                          <a:ea typeface="Cascadia Mono" panose="020B0609020000020004" pitchFamily="49" charset="0"/>
                          <a:cs typeface="Cascadia Mono" panose="020B0609020000020004" pitchFamily="49" charset="0"/>
                        </a:rPr>
                        <a:t>Temporary (10–30 </a:t>
                      </a:r>
                      <a:r>
                        <a:rPr lang="en-US" sz="1400" dirty="0" err="1">
                          <a:latin typeface="Cascadia Mono" panose="020B0609020000020004" pitchFamily="49" charset="0"/>
                          <a:ea typeface="Cascadia Mono" panose="020B0609020000020004" pitchFamily="49" charset="0"/>
                          <a:cs typeface="Cascadia Mono" panose="020B0609020000020004" pitchFamily="49" charset="0"/>
                        </a:rPr>
                        <a:t>yrs</a:t>
                      </a:r>
                      <a:r>
                        <a:rPr lang="en-US" sz="1400" dirty="0">
                          <a:latin typeface="Cascadia Mono" panose="020B0609020000020004" pitchFamily="49" charset="0"/>
                          <a:ea typeface="Cascadia Mono" panose="020B0609020000020004" pitchFamily="49" charset="0"/>
                          <a:cs typeface="Cascadia Mono" panose="020B0609020000020004" pitchFamily="49" charset="0"/>
                        </a:rPr>
                        <a:t>)</a:t>
                      </a:r>
                    </a:p>
                  </a:txBody>
                  <a:tcPr marL="45057" marR="45057" marT="22529" marB="22529" anchor="ctr">
                    <a:lnL>
                      <a:noFill/>
                    </a:lnL>
                    <a:lnR>
                      <a:noFill/>
                    </a:lnR>
                    <a:lnT>
                      <a:noFill/>
                    </a:lnT>
                    <a:lnB>
                      <a:noFill/>
                    </a:lnB>
                  </a:tcPr>
                </a:tc>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Lifetime</a:t>
                      </a:r>
                    </a:p>
                  </a:txBody>
                  <a:tcPr marL="45057" marR="45057" marT="22529" marB="22529" anchor="ctr">
                    <a:lnL>
                      <a:noFill/>
                    </a:lnL>
                    <a:lnR>
                      <a:noFill/>
                    </a:lnR>
                    <a:lnT>
                      <a:noFill/>
                    </a:lnT>
                    <a:lnB>
                      <a:noFill/>
                    </a:lnB>
                  </a:tcPr>
                </a:tc>
              </a:tr>
              <a:tr h="1035732">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Cash Value</a:t>
                      </a:r>
                    </a:p>
                  </a:txBody>
                  <a:tcPr marL="45057" marR="45057" marT="22529" marB="22529" anchor="ctr">
                    <a:lnL>
                      <a:noFill/>
                    </a:lnL>
                    <a:lnR>
                      <a:noFill/>
                    </a:lnR>
                    <a:lnT>
                      <a:noFill/>
                    </a:lnT>
                    <a:lnB>
                      <a:noFill/>
                    </a:lnB>
                  </a:tcPr>
                </a:tc>
                <a:tc>
                  <a:txBody>
                    <a:bodyPr/>
                    <a:lstStyle/>
                    <a:p>
                      <a:r>
                        <a:rPr lang="en-US" sz="1400" dirty="0">
                          <a:latin typeface="Cascadia Mono" panose="020B0609020000020004" pitchFamily="49" charset="0"/>
                          <a:ea typeface="Cascadia Mono" panose="020B0609020000020004" pitchFamily="49" charset="0"/>
                          <a:cs typeface="Cascadia Mono" panose="020B0609020000020004" pitchFamily="49" charset="0"/>
                        </a:rPr>
                        <a:t>Market-linked</a:t>
                      </a:r>
                    </a:p>
                  </a:txBody>
                  <a:tcPr marL="45057" marR="45057" marT="22529" marB="22529" anchor="ctr">
                    <a:lnL>
                      <a:noFill/>
                    </a:lnL>
                    <a:lnR>
                      <a:noFill/>
                    </a:lnR>
                    <a:lnT>
                      <a:noFill/>
                    </a:lnT>
                    <a:lnB>
                      <a:noFill/>
                    </a:lnB>
                  </a:tcPr>
                </a:tc>
                <a:tc>
                  <a:txBody>
                    <a:bodyPr/>
                    <a:lstStyle/>
                    <a:p>
                      <a:r>
                        <a:rPr lang="en-US" sz="1400" dirty="0">
                          <a:latin typeface="Cascadia Mono" panose="020B0609020000020004" pitchFamily="49" charset="0"/>
                          <a:ea typeface="Cascadia Mono" panose="020B0609020000020004" pitchFamily="49" charset="0"/>
                          <a:cs typeface="Cascadia Mono" panose="020B0609020000020004" pitchFamily="49" charset="0"/>
                        </a:rPr>
                        <a:t>Guaranteed</a:t>
                      </a:r>
                    </a:p>
                  </a:txBody>
                  <a:tcPr marL="45057" marR="45057" marT="22529" marB="22529" anchor="ctr">
                    <a:lnL>
                      <a:noFill/>
                    </a:lnL>
                    <a:lnR>
                      <a:noFill/>
                    </a:lnR>
                    <a:lnT>
                      <a:noFill/>
                    </a:lnT>
                    <a:lnB>
                      <a:noFill/>
                    </a:lnB>
                  </a:tcPr>
                </a:tc>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 None</a:t>
                      </a:r>
                    </a:p>
                  </a:txBody>
                  <a:tcPr marL="45057" marR="45057" marT="22529" marB="22529" anchor="ctr">
                    <a:lnL>
                      <a:noFill/>
                    </a:lnL>
                    <a:lnR>
                      <a:noFill/>
                    </a:lnR>
                    <a:lnT>
                      <a:noFill/>
                    </a:lnT>
                    <a:lnB>
                      <a:noFill/>
                    </a:lnB>
                  </a:tcPr>
                </a:tc>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Fixed/interest-based</a:t>
                      </a:r>
                    </a:p>
                  </a:txBody>
                  <a:tcPr marL="45057" marR="45057" marT="22529" marB="22529" anchor="ctr">
                    <a:lnL>
                      <a:noFill/>
                    </a:lnL>
                    <a:lnR>
                      <a:noFill/>
                    </a:lnR>
                    <a:lnT>
                      <a:noFill/>
                    </a:lnT>
                    <a:lnB>
                      <a:noFill/>
                    </a:lnB>
                  </a:tcPr>
                </a:tc>
              </a:tr>
              <a:tr h="590927">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Risk Level</a:t>
                      </a:r>
                    </a:p>
                  </a:txBody>
                  <a:tcPr marL="45057" marR="45057" marT="22529" marB="22529" anchor="ctr">
                    <a:lnL>
                      <a:noFill/>
                    </a:lnL>
                    <a:lnR>
                      <a:noFill/>
                    </a:lnR>
                    <a:lnT>
                      <a:noFill/>
                    </a:lnT>
                    <a:lnB>
                      <a:noFill/>
                    </a:lnB>
                  </a:tcPr>
                </a:tc>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Medium</a:t>
                      </a:r>
                    </a:p>
                  </a:txBody>
                  <a:tcPr marL="45057" marR="45057" marT="22529" marB="22529" anchor="ctr">
                    <a:lnL>
                      <a:noFill/>
                    </a:lnL>
                    <a:lnR>
                      <a:noFill/>
                    </a:lnR>
                    <a:lnT>
                      <a:noFill/>
                    </a:lnT>
                    <a:lnB>
                      <a:noFill/>
                    </a:lnB>
                  </a:tcPr>
                </a:tc>
                <a:tc>
                  <a:txBody>
                    <a:bodyPr/>
                    <a:lstStyle/>
                    <a:p>
                      <a:r>
                        <a:rPr lang="en-US" sz="1400" dirty="0">
                          <a:latin typeface="Cascadia Mono" panose="020B0609020000020004" pitchFamily="49" charset="0"/>
                          <a:ea typeface="Cascadia Mono" panose="020B0609020000020004" pitchFamily="49" charset="0"/>
                          <a:cs typeface="Cascadia Mono" panose="020B0609020000020004" pitchFamily="49" charset="0"/>
                        </a:rPr>
                        <a:t>Low</a:t>
                      </a:r>
                    </a:p>
                  </a:txBody>
                  <a:tcPr marL="45057" marR="45057" marT="22529" marB="22529" anchor="ctr">
                    <a:lnL>
                      <a:noFill/>
                    </a:lnL>
                    <a:lnR>
                      <a:noFill/>
                    </a:lnR>
                    <a:lnT>
                      <a:noFill/>
                    </a:lnT>
                    <a:lnB>
                      <a:noFill/>
                    </a:lnB>
                  </a:tcPr>
                </a:tc>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None</a:t>
                      </a:r>
                    </a:p>
                  </a:txBody>
                  <a:tcPr marL="45057" marR="45057" marT="22529" marB="22529" anchor="ctr">
                    <a:lnL>
                      <a:noFill/>
                    </a:lnL>
                    <a:lnR>
                      <a:noFill/>
                    </a:lnR>
                    <a:lnT>
                      <a:noFill/>
                    </a:lnT>
                    <a:lnB>
                      <a:noFill/>
                    </a:lnB>
                  </a:tcPr>
                </a:tc>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Low–Medium</a:t>
                      </a:r>
                    </a:p>
                  </a:txBody>
                  <a:tcPr marL="45057" marR="45057" marT="22529" marB="22529" anchor="ctr">
                    <a:lnL>
                      <a:noFill/>
                    </a:lnL>
                    <a:lnR>
                      <a:noFill/>
                    </a:lnR>
                    <a:lnT>
                      <a:noFill/>
                    </a:lnT>
                    <a:lnB>
                      <a:noFill/>
                    </a:lnB>
                  </a:tcPr>
                </a:tc>
              </a:tr>
              <a:tr h="590927">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Premiums</a:t>
                      </a:r>
                    </a:p>
                  </a:txBody>
                  <a:tcPr marL="45057" marR="45057" marT="22529" marB="22529" anchor="ctr">
                    <a:lnL>
                      <a:noFill/>
                    </a:lnL>
                    <a:lnR>
                      <a:noFill/>
                    </a:lnR>
                    <a:lnT>
                      <a:noFill/>
                    </a:lnT>
                    <a:lnB>
                      <a:noFill/>
                    </a:lnB>
                  </a:tcPr>
                </a:tc>
                <a:tc>
                  <a:txBody>
                    <a:bodyPr/>
                    <a:lstStyle/>
                    <a:p>
                      <a:r>
                        <a:rPr lang="en-US" sz="1400" dirty="0">
                          <a:latin typeface="Cascadia Mono" panose="020B0609020000020004" pitchFamily="49" charset="0"/>
                          <a:ea typeface="Cascadia Mono" panose="020B0609020000020004" pitchFamily="49" charset="0"/>
                          <a:cs typeface="Cascadia Mono" panose="020B0609020000020004" pitchFamily="49" charset="0"/>
                        </a:rPr>
                        <a:t>Flexible</a:t>
                      </a:r>
                    </a:p>
                  </a:txBody>
                  <a:tcPr marL="45057" marR="45057" marT="22529" marB="22529" anchor="ctr">
                    <a:lnL>
                      <a:noFill/>
                    </a:lnL>
                    <a:lnR>
                      <a:noFill/>
                    </a:lnR>
                    <a:lnT>
                      <a:noFill/>
                    </a:lnT>
                    <a:lnB>
                      <a:noFill/>
                    </a:lnB>
                  </a:tcPr>
                </a:tc>
                <a:tc>
                  <a:txBody>
                    <a:bodyPr/>
                    <a:lstStyle/>
                    <a:p>
                      <a:r>
                        <a:rPr lang="en-US" sz="1400" dirty="0">
                          <a:latin typeface="Cascadia Mono" panose="020B0609020000020004" pitchFamily="49" charset="0"/>
                          <a:ea typeface="Cascadia Mono" panose="020B0609020000020004" pitchFamily="49" charset="0"/>
                          <a:cs typeface="Cascadia Mono" panose="020B0609020000020004" pitchFamily="49" charset="0"/>
                        </a:rPr>
                        <a:t>Fixed</a:t>
                      </a:r>
                    </a:p>
                  </a:txBody>
                  <a:tcPr marL="45057" marR="45057" marT="22529" marB="22529" anchor="ctr">
                    <a:lnL>
                      <a:noFill/>
                    </a:lnL>
                    <a:lnR>
                      <a:noFill/>
                    </a:lnR>
                    <a:lnT>
                      <a:noFill/>
                    </a:lnT>
                    <a:lnB>
                      <a:noFill/>
                    </a:lnB>
                  </a:tcPr>
                </a:tc>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Fixed (low)</a:t>
                      </a:r>
                    </a:p>
                  </a:txBody>
                  <a:tcPr marL="45057" marR="45057" marT="22529" marB="22529" anchor="ctr">
                    <a:lnL>
                      <a:noFill/>
                    </a:lnL>
                    <a:lnR>
                      <a:noFill/>
                    </a:lnR>
                    <a:lnT>
                      <a:noFill/>
                    </a:lnT>
                    <a:lnB>
                      <a:noFill/>
                    </a:lnB>
                  </a:tcPr>
                </a:tc>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Flexible</a:t>
                      </a:r>
                    </a:p>
                  </a:txBody>
                  <a:tcPr marL="45057" marR="45057" marT="22529" marB="22529" anchor="ctr">
                    <a:lnL>
                      <a:noFill/>
                    </a:lnL>
                    <a:lnR>
                      <a:noFill/>
                    </a:lnR>
                    <a:lnT>
                      <a:noFill/>
                    </a:lnT>
                    <a:lnB>
                      <a:noFill/>
                    </a:lnB>
                  </a:tcPr>
                </a:tc>
              </a:tr>
              <a:tr h="590927">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Cost</a:t>
                      </a:r>
                    </a:p>
                  </a:txBody>
                  <a:tcPr marL="45057" marR="45057" marT="22529" marB="22529" anchor="ctr">
                    <a:lnL>
                      <a:noFill/>
                    </a:lnL>
                    <a:lnR>
                      <a:noFill/>
                    </a:lnR>
                    <a:lnT>
                      <a:noFill/>
                    </a:lnT>
                    <a:lnB>
                      <a:noFill/>
                    </a:lnB>
                  </a:tcPr>
                </a:tc>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Medium–High</a:t>
                      </a:r>
                    </a:p>
                  </a:txBody>
                  <a:tcPr marL="45057" marR="45057" marT="22529" marB="22529" anchor="ctr">
                    <a:lnL>
                      <a:noFill/>
                    </a:lnL>
                    <a:lnR>
                      <a:noFill/>
                    </a:lnR>
                    <a:lnT>
                      <a:noFill/>
                    </a:lnT>
                    <a:lnB>
                      <a:noFill/>
                    </a:lnB>
                  </a:tcPr>
                </a:tc>
                <a:tc>
                  <a:txBody>
                    <a:bodyPr/>
                    <a:lstStyle/>
                    <a:p>
                      <a:r>
                        <a:rPr lang="en-US" sz="1400" dirty="0">
                          <a:latin typeface="Cascadia Mono" panose="020B0609020000020004" pitchFamily="49" charset="0"/>
                          <a:ea typeface="Cascadia Mono" panose="020B0609020000020004" pitchFamily="49" charset="0"/>
                          <a:cs typeface="Cascadia Mono" panose="020B0609020000020004" pitchFamily="49" charset="0"/>
                        </a:rPr>
                        <a:t>High</a:t>
                      </a:r>
                    </a:p>
                  </a:txBody>
                  <a:tcPr marL="45057" marR="45057" marT="22529" marB="22529" anchor="ctr">
                    <a:lnL>
                      <a:noFill/>
                    </a:lnL>
                    <a:lnR>
                      <a:noFill/>
                    </a:lnR>
                    <a:lnT>
                      <a:noFill/>
                    </a:lnT>
                    <a:lnB>
                      <a:noFill/>
                    </a:lnB>
                  </a:tcPr>
                </a:tc>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Low</a:t>
                      </a:r>
                    </a:p>
                  </a:txBody>
                  <a:tcPr marL="45057" marR="45057" marT="22529" marB="22529" anchor="ctr">
                    <a:lnL>
                      <a:noFill/>
                    </a:lnL>
                    <a:lnR>
                      <a:noFill/>
                    </a:lnR>
                    <a:lnT>
                      <a:noFill/>
                    </a:lnT>
                    <a:lnB>
                      <a:noFill/>
                    </a:lnB>
                  </a:tcPr>
                </a:tc>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Medium</a:t>
                      </a:r>
                    </a:p>
                  </a:txBody>
                  <a:tcPr marL="45057" marR="45057" marT="22529" marB="22529" anchor="ctr">
                    <a:lnL>
                      <a:noFill/>
                    </a:lnL>
                    <a:lnR>
                      <a:noFill/>
                    </a:lnR>
                    <a:lnT>
                      <a:noFill/>
                    </a:lnT>
                    <a:lnB>
                      <a:noFill/>
                    </a:lnB>
                  </a:tcPr>
                </a:tc>
              </a:tr>
              <a:tr h="590927">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Returns</a:t>
                      </a:r>
                    </a:p>
                  </a:txBody>
                  <a:tcPr marL="45057" marR="45057" marT="22529" marB="22529" anchor="ctr">
                    <a:lnL>
                      <a:noFill/>
                    </a:lnL>
                    <a:lnR>
                      <a:noFill/>
                    </a:lnR>
                    <a:lnT>
                      <a:noFill/>
                    </a:lnT>
                    <a:lnB>
                      <a:noFill/>
                    </a:lnB>
                  </a:tcPr>
                </a:tc>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Variable (capped)</a:t>
                      </a:r>
                    </a:p>
                  </a:txBody>
                  <a:tcPr marL="45057" marR="45057" marT="22529" marB="22529" anchor="ctr">
                    <a:lnL>
                      <a:noFill/>
                    </a:lnL>
                    <a:lnR>
                      <a:noFill/>
                    </a:lnR>
                    <a:lnT>
                      <a:noFill/>
                    </a:lnT>
                    <a:lnB>
                      <a:noFill/>
                    </a:lnB>
                  </a:tcPr>
                </a:tc>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Stable (low)</a:t>
                      </a:r>
                    </a:p>
                  </a:txBody>
                  <a:tcPr marL="45057" marR="45057" marT="22529" marB="22529" anchor="ctr">
                    <a:lnL>
                      <a:noFill/>
                    </a:lnL>
                    <a:lnR>
                      <a:noFill/>
                    </a:lnR>
                    <a:lnT>
                      <a:noFill/>
                    </a:lnT>
                    <a:lnB>
                      <a:noFill/>
                    </a:lnB>
                  </a:tcPr>
                </a:tc>
                <a:tc>
                  <a:txBody>
                    <a:bodyPr/>
                    <a:lstStyle/>
                    <a:p>
                      <a:r>
                        <a:rPr lang="en-US" sz="1400" dirty="0">
                          <a:latin typeface="Cascadia Mono" panose="020B0609020000020004" pitchFamily="49" charset="0"/>
                          <a:ea typeface="Cascadia Mono" panose="020B0609020000020004" pitchFamily="49" charset="0"/>
                          <a:cs typeface="Cascadia Mono" panose="020B0609020000020004" pitchFamily="49" charset="0"/>
                        </a:rPr>
                        <a:t>None</a:t>
                      </a:r>
                    </a:p>
                  </a:txBody>
                  <a:tcPr marL="45057" marR="45057" marT="22529" marB="22529" anchor="ctr">
                    <a:lnL>
                      <a:noFill/>
                    </a:lnL>
                    <a:lnR>
                      <a:noFill/>
                    </a:lnR>
                    <a:lnT>
                      <a:noFill/>
                    </a:lnT>
                    <a:lnB>
                      <a:noFill/>
                    </a:lnB>
                  </a:tcPr>
                </a:tc>
                <a:tc>
                  <a:txBody>
                    <a:bodyPr/>
                    <a:lstStyle/>
                    <a:p>
                      <a:r>
                        <a:rPr lang="en-US" sz="1400" dirty="0">
                          <a:latin typeface="Cascadia Mono" panose="020B0609020000020004" pitchFamily="49" charset="0"/>
                          <a:ea typeface="Cascadia Mono" panose="020B0609020000020004" pitchFamily="49" charset="0"/>
                          <a:cs typeface="Cascadia Mono" panose="020B0609020000020004" pitchFamily="49" charset="0"/>
                        </a:rPr>
                        <a:t>Moderate</a:t>
                      </a:r>
                    </a:p>
                  </a:txBody>
                  <a:tcPr marL="45057" marR="45057" marT="22529" marB="22529" anchor="ctr">
                    <a:lnL>
                      <a:noFill/>
                    </a:lnL>
                    <a:lnR>
                      <a:noFill/>
                    </a:lnR>
                    <a:lnT>
                      <a:noFill/>
                    </a:lnT>
                    <a:lnB>
                      <a:noFill/>
                    </a:lnB>
                  </a:tcPr>
                </a:tc>
              </a:tr>
              <a:tr h="590927">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Complexity</a:t>
                      </a:r>
                    </a:p>
                  </a:txBody>
                  <a:tcPr marL="45057" marR="45057" marT="22529" marB="22529" anchor="ctr">
                    <a:lnL>
                      <a:noFill/>
                    </a:lnL>
                    <a:lnR>
                      <a:noFill/>
                    </a:lnR>
                    <a:lnT>
                      <a:noFill/>
                    </a:lnT>
                    <a:lnB>
                      <a:noFill/>
                    </a:lnB>
                  </a:tcPr>
                </a:tc>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High</a:t>
                      </a:r>
                    </a:p>
                  </a:txBody>
                  <a:tcPr marL="45057" marR="45057" marT="22529" marB="22529" anchor="ctr">
                    <a:lnL>
                      <a:noFill/>
                    </a:lnL>
                    <a:lnR>
                      <a:noFill/>
                    </a:lnR>
                    <a:lnT>
                      <a:noFill/>
                    </a:lnT>
                    <a:lnB>
                      <a:noFill/>
                    </a:lnB>
                  </a:tcPr>
                </a:tc>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Medium</a:t>
                      </a:r>
                    </a:p>
                  </a:txBody>
                  <a:tcPr marL="45057" marR="45057" marT="22529" marB="22529" anchor="ctr">
                    <a:lnL>
                      <a:noFill/>
                    </a:lnL>
                    <a:lnR>
                      <a:noFill/>
                    </a:lnR>
                    <a:lnT>
                      <a:noFill/>
                    </a:lnT>
                    <a:lnB>
                      <a:noFill/>
                    </a:lnB>
                  </a:tcPr>
                </a:tc>
                <a:tc>
                  <a:txBody>
                    <a:bodyPr/>
                    <a:lstStyle/>
                    <a:p>
                      <a:r>
                        <a:rPr lang="en-US" sz="1400">
                          <a:latin typeface="Cascadia Mono" panose="020B0609020000020004" pitchFamily="49" charset="0"/>
                          <a:ea typeface="Cascadia Mono" panose="020B0609020000020004" pitchFamily="49" charset="0"/>
                          <a:cs typeface="Cascadia Mono" panose="020B0609020000020004" pitchFamily="49" charset="0"/>
                        </a:rPr>
                        <a:t>Low</a:t>
                      </a:r>
                    </a:p>
                  </a:txBody>
                  <a:tcPr marL="45057" marR="45057" marT="22529" marB="22529" anchor="ctr">
                    <a:lnL>
                      <a:noFill/>
                    </a:lnL>
                    <a:lnR>
                      <a:noFill/>
                    </a:lnR>
                    <a:lnT>
                      <a:noFill/>
                    </a:lnT>
                    <a:lnB>
                      <a:noFill/>
                    </a:lnB>
                  </a:tcPr>
                </a:tc>
                <a:tc>
                  <a:txBody>
                    <a:bodyPr/>
                    <a:lstStyle/>
                    <a:p>
                      <a:r>
                        <a:rPr lang="en-US" sz="1400" dirty="0">
                          <a:latin typeface="Cascadia Mono" panose="020B0609020000020004" pitchFamily="49" charset="0"/>
                          <a:ea typeface="Cascadia Mono" panose="020B0609020000020004" pitchFamily="49" charset="0"/>
                          <a:cs typeface="Cascadia Mono" panose="020B0609020000020004" pitchFamily="49" charset="0"/>
                        </a:rPr>
                        <a:t>Medium</a:t>
                      </a:r>
                    </a:p>
                  </a:txBody>
                  <a:tcPr marL="45057" marR="45057" marT="22529" marB="22529" anchor="ctr">
                    <a:lnL>
                      <a:noFill/>
                    </a:lnL>
                    <a:lnR>
                      <a:noFill/>
                    </a:lnR>
                    <a:lnT>
                      <a:noFill/>
                    </a:lnT>
                    <a:lnB>
                      <a:noFill/>
                    </a:lnB>
                  </a:tcPr>
                </a:tc>
              </a:tr>
            </a:tbl>
          </a:graphicData>
        </a:graphic>
      </p:graphicFrame>
      <p:sp>
        <p:nvSpPr>
          <p:cNvPr id="7" name="Rectangle 1"/>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1" i="0" u="none" strike="noStrike" cap="none" normalizeH="0" baseline="0" smtClean="0">
                <a:ln>
                  <a:noFill/>
                </a:ln>
                <a:solidFill>
                  <a:schemeClr val="tx1"/>
                </a:solidFill>
                <a:effectLst/>
                <a:latin typeface="Arial" panose="020B0604020202020204" pitchFamily="34" charset="0"/>
              </a:rPr>
              <a:t>IUL vs Other Life Insurance (Simple Comparison)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48769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04949"/>
            <a:ext cx="10515600" cy="5772014"/>
          </a:xfrm>
        </p:spPr>
        <p:txBody>
          <a:bodyPr/>
          <a:lstStyle/>
          <a:p>
            <a:r>
              <a:rPr lang="en-US" b="1" dirty="0"/>
              <a:t>IUL </a:t>
            </a:r>
            <a:r>
              <a:rPr lang="en-US" b="1" dirty="0" err="1"/>
              <a:t>vs</a:t>
            </a:r>
            <a:r>
              <a:rPr lang="en-US" b="1" dirty="0"/>
              <a:t> Term Life </a:t>
            </a:r>
            <a:r>
              <a:rPr lang="en-US" b="1" dirty="0" smtClean="0"/>
              <a:t>Insurance</a:t>
            </a:r>
          </a:p>
          <a:p>
            <a:endParaRPr lang="en-US" b="1" dirty="0"/>
          </a:p>
          <a:p>
            <a:r>
              <a:rPr lang="en-US" b="1" dirty="0"/>
              <a:t>Term Life</a:t>
            </a:r>
            <a:endParaRPr lang="en-US" dirty="0"/>
          </a:p>
          <a:p>
            <a:r>
              <a:rPr lang="en-US" dirty="0"/>
              <a:t>Cheapest option </a:t>
            </a:r>
          </a:p>
          <a:p>
            <a:r>
              <a:rPr lang="en-US" dirty="0"/>
              <a:t>Pure protection (no savings) </a:t>
            </a:r>
          </a:p>
          <a:p>
            <a:r>
              <a:rPr lang="en-US" dirty="0"/>
              <a:t>Ends after a set period </a:t>
            </a:r>
            <a:endParaRPr lang="en-US" dirty="0" smtClean="0"/>
          </a:p>
          <a:p>
            <a:endParaRPr lang="en-US" dirty="0"/>
          </a:p>
          <a:p>
            <a:r>
              <a:rPr lang="en-US" b="1" dirty="0"/>
              <a:t>IUL</a:t>
            </a:r>
            <a:endParaRPr lang="en-US" dirty="0"/>
          </a:p>
          <a:p>
            <a:r>
              <a:rPr lang="en-US" dirty="0"/>
              <a:t>Lifetime coverage </a:t>
            </a:r>
          </a:p>
          <a:p>
            <a:r>
              <a:rPr lang="en-US" dirty="0"/>
              <a:t>Builds cash value </a:t>
            </a:r>
          </a:p>
          <a:p>
            <a:r>
              <a:rPr lang="en-US" dirty="0"/>
              <a:t>Much more expensive </a:t>
            </a:r>
            <a:endParaRPr lang="en-US" dirty="0" smtClean="0"/>
          </a:p>
          <a:p>
            <a:endParaRPr lang="en-US" dirty="0"/>
          </a:p>
          <a:p>
            <a:r>
              <a:rPr lang="en-US" dirty="0"/>
              <a:t>👉 </a:t>
            </a:r>
            <a:r>
              <a:rPr lang="en-US" b="1" dirty="0"/>
              <a:t>Best Use:</a:t>
            </a:r>
            <a:endParaRPr lang="en-US" dirty="0"/>
          </a:p>
          <a:p>
            <a:r>
              <a:rPr lang="en-US" dirty="0"/>
              <a:t>Term → income protection, mortgage, kids </a:t>
            </a:r>
          </a:p>
          <a:p>
            <a:r>
              <a:rPr lang="en-US" dirty="0"/>
              <a:t>IUL → long-term strategy + tax-advantaged growth </a:t>
            </a:r>
          </a:p>
          <a:p>
            <a:endParaRPr lang="en-US" dirty="0"/>
          </a:p>
        </p:txBody>
      </p:sp>
      <p:sp>
        <p:nvSpPr>
          <p:cNvPr id="4" name="Slide Number Placeholder 3"/>
          <p:cNvSpPr>
            <a:spLocks noGrp="1"/>
          </p:cNvSpPr>
          <p:nvPr>
            <p:ph type="sldNum" sz="quarter" idx="12"/>
          </p:nvPr>
        </p:nvSpPr>
        <p:spPr/>
        <p:txBody>
          <a:bodyPr/>
          <a:lstStyle/>
          <a:p>
            <a:fld id="{82EE24B5-652C-4DB5-B7C3-B5BBEC1280B1}" type="slidenum">
              <a:rPr lang="en-US" smtClean="0"/>
              <a:t>9</a:t>
            </a:fld>
            <a:endParaRPr lang="en-US" dirty="0"/>
          </a:p>
        </p:txBody>
      </p:sp>
    </p:spTree>
    <p:extLst>
      <p:ext uri="{BB962C8B-B14F-4D97-AF65-F5344CB8AC3E}">
        <p14:creationId xmlns:p14="http://schemas.microsoft.com/office/powerpoint/2010/main" val="26954196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8823"/>
            <a:ext cx="10515600" cy="5798140"/>
          </a:xfrm>
        </p:spPr>
        <p:txBody>
          <a:bodyPr>
            <a:normAutofit/>
          </a:bodyPr>
          <a:lstStyle/>
          <a:p>
            <a:r>
              <a:rPr lang="en-US" b="1" dirty="0"/>
              <a:t>IUL </a:t>
            </a:r>
            <a:r>
              <a:rPr lang="en-US" b="1" dirty="0" err="1"/>
              <a:t>vs</a:t>
            </a:r>
            <a:r>
              <a:rPr lang="en-US" b="1" dirty="0"/>
              <a:t> Whole Life </a:t>
            </a:r>
            <a:r>
              <a:rPr lang="en-US" b="1" dirty="0" smtClean="0"/>
              <a:t>Insurance</a:t>
            </a:r>
          </a:p>
          <a:p>
            <a:endParaRPr lang="en-US" b="1" dirty="0"/>
          </a:p>
          <a:p>
            <a:r>
              <a:rPr lang="en-US" b="1" dirty="0"/>
              <a:t>IUL</a:t>
            </a:r>
          </a:p>
          <a:p>
            <a:r>
              <a:rPr lang="en-US" dirty="0"/>
              <a:t>Higher growth potential (linked to market) </a:t>
            </a:r>
          </a:p>
          <a:p>
            <a:r>
              <a:rPr lang="en-US" dirty="0"/>
              <a:t>Flexible premiums </a:t>
            </a:r>
          </a:p>
          <a:p>
            <a:r>
              <a:rPr lang="en-US" dirty="0"/>
              <a:t>Less predictable returns </a:t>
            </a:r>
            <a:endParaRPr lang="en-US" dirty="0" smtClean="0"/>
          </a:p>
          <a:p>
            <a:endParaRPr lang="en-US" dirty="0"/>
          </a:p>
          <a:p>
            <a:r>
              <a:rPr lang="en-US" b="1" dirty="0"/>
              <a:t>Whole Life</a:t>
            </a:r>
          </a:p>
          <a:p>
            <a:r>
              <a:rPr lang="en-US" dirty="0"/>
              <a:t>Guaranteed growth + fixed premiums </a:t>
            </a:r>
          </a:p>
          <a:p>
            <a:r>
              <a:rPr lang="en-US" dirty="0"/>
              <a:t>Very stable and predictable </a:t>
            </a:r>
          </a:p>
          <a:p>
            <a:r>
              <a:rPr lang="en-US" dirty="0"/>
              <a:t>Lower returns but safer </a:t>
            </a:r>
            <a:endParaRPr lang="en-US" dirty="0" smtClean="0"/>
          </a:p>
          <a:p>
            <a:endParaRPr lang="en-US" dirty="0"/>
          </a:p>
          <a:p>
            <a:r>
              <a:rPr lang="en-US" dirty="0"/>
              <a:t>👉 </a:t>
            </a:r>
            <a:r>
              <a:rPr lang="en-US" b="1" dirty="0"/>
              <a:t>Simple analogy:</a:t>
            </a:r>
            <a:endParaRPr lang="en-US" dirty="0"/>
          </a:p>
          <a:p>
            <a:r>
              <a:rPr lang="en-US" dirty="0"/>
              <a:t>Whole Life = “fixed deposit / bond” </a:t>
            </a:r>
          </a:p>
          <a:p>
            <a:r>
              <a:rPr lang="en-US" dirty="0"/>
              <a:t>IUL = “market-linked savings with limits”</a:t>
            </a:r>
          </a:p>
          <a:p>
            <a:endParaRPr lang="en-US" dirty="0"/>
          </a:p>
        </p:txBody>
      </p:sp>
      <p:sp>
        <p:nvSpPr>
          <p:cNvPr id="4" name="Slide Number Placeholder 3"/>
          <p:cNvSpPr>
            <a:spLocks noGrp="1"/>
          </p:cNvSpPr>
          <p:nvPr>
            <p:ph type="sldNum" sz="quarter" idx="12"/>
          </p:nvPr>
        </p:nvSpPr>
        <p:spPr/>
        <p:txBody>
          <a:bodyPr/>
          <a:lstStyle/>
          <a:p>
            <a:fld id="{82EE24B5-652C-4DB5-B7C3-B5BBEC1280B1}" type="slidenum">
              <a:rPr lang="en-US" smtClean="0"/>
              <a:t>10</a:t>
            </a:fld>
            <a:endParaRPr lang="en-US" dirty="0"/>
          </a:p>
        </p:txBody>
      </p:sp>
    </p:spTree>
    <p:extLst>
      <p:ext uri="{BB962C8B-B14F-4D97-AF65-F5344CB8AC3E}">
        <p14:creationId xmlns:p14="http://schemas.microsoft.com/office/powerpoint/2010/main" val="2733803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IUL </a:t>
            </a:r>
            <a:r>
              <a:rPr lang="en-US" b="1" dirty="0" err="1"/>
              <a:t>vs</a:t>
            </a:r>
            <a:r>
              <a:rPr lang="en-US" b="1" dirty="0"/>
              <a:t> Universal Life (UL</a:t>
            </a:r>
            <a:r>
              <a:rPr lang="en-US" b="1" dirty="0" smtClean="0"/>
              <a:t>)</a:t>
            </a:r>
          </a:p>
          <a:p>
            <a:endParaRPr lang="en-US" b="1" dirty="0"/>
          </a:p>
          <a:p>
            <a:r>
              <a:rPr lang="en-US" b="1" dirty="0"/>
              <a:t>IUL</a:t>
            </a:r>
          </a:p>
          <a:p>
            <a:r>
              <a:rPr lang="en-US" dirty="0"/>
              <a:t>Returns tied to stock index (with caps like 8–12%) </a:t>
            </a:r>
          </a:p>
          <a:p>
            <a:r>
              <a:rPr lang="en-US" dirty="0"/>
              <a:t>Better upside potential </a:t>
            </a:r>
            <a:endParaRPr lang="en-US" dirty="0" smtClean="0"/>
          </a:p>
          <a:p>
            <a:endParaRPr lang="en-US" dirty="0"/>
          </a:p>
          <a:p>
            <a:r>
              <a:rPr lang="en-US" b="1" dirty="0"/>
              <a:t>UL</a:t>
            </a:r>
          </a:p>
          <a:p>
            <a:r>
              <a:rPr lang="en-US" dirty="0"/>
              <a:t>Fixed or interest-based returns </a:t>
            </a:r>
          </a:p>
          <a:p>
            <a:r>
              <a:rPr lang="en-US" dirty="0"/>
              <a:t>More predictable but lower growth</a:t>
            </a:r>
          </a:p>
          <a:p>
            <a:endParaRPr lang="en-US" dirty="0"/>
          </a:p>
        </p:txBody>
      </p:sp>
      <p:sp>
        <p:nvSpPr>
          <p:cNvPr id="4" name="Slide Number Placeholder 3"/>
          <p:cNvSpPr>
            <a:spLocks noGrp="1"/>
          </p:cNvSpPr>
          <p:nvPr>
            <p:ph type="sldNum" sz="quarter" idx="12"/>
          </p:nvPr>
        </p:nvSpPr>
        <p:spPr/>
        <p:txBody>
          <a:bodyPr/>
          <a:lstStyle/>
          <a:p>
            <a:fld id="{82EE24B5-652C-4DB5-B7C3-B5BBEC1280B1}" type="slidenum">
              <a:rPr lang="en-US" smtClean="0"/>
              <a:t>11</a:t>
            </a:fld>
            <a:endParaRPr lang="en-US" dirty="0"/>
          </a:p>
        </p:txBody>
      </p:sp>
    </p:spTree>
    <p:extLst>
      <p:ext uri="{BB962C8B-B14F-4D97-AF65-F5344CB8AC3E}">
        <p14:creationId xmlns:p14="http://schemas.microsoft.com/office/powerpoint/2010/main" val="3809530745"/>
      </p:ext>
    </p:extLst>
  </p:cSld>
  <p:clrMapOvr>
    <a:masterClrMapping/>
  </p:clrMapOvr>
</p:sld>
</file>

<file path=ppt/theme/theme1.xml><?xml version="1.0" encoding="utf-8"?>
<a:theme xmlns:a="http://schemas.openxmlformats.org/drawingml/2006/main" name="Office Theme">
  <a:themeElements>
    <a:clrScheme name="Custom 30">
      <a:dk1>
        <a:sysClr val="windowText" lastClr="000000"/>
      </a:dk1>
      <a:lt1>
        <a:sysClr val="window" lastClr="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Custom 24">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45022061_Professional services marketing plan_SL_V1" id="{B214D568-CC3C-4109-877A-D7A12976D35F}" vid="{D425069E-A49A-4A86-9A62-1864F0635A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426FE2C-7640-4BF0-9D68-FDFD4151FD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C118CE8-9293-4220-BA3B-5D353B13ABC9}">
  <ds:schemaRefs>
    <ds:schemaRef ds:uri="http://purl.org/dc/terms/"/>
    <ds:schemaRef ds:uri="16c05727-aa75-4e4a-9b5f-8a80a1165891"/>
    <ds:schemaRef ds:uri="http://schemas.microsoft.com/office/infopath/2007/PartnerControls"/>
    <ds:schemaRef ds:uri="http://purl.org/dc/elements/1.1/"/>
    <ds:schemaRef ds:uri="http://schemas.microsoft.com/office/2006/documentManagement/types"/>
    <ds:schemaRef ds:uri="http://purl.org/dc/dcmitype/"/>
    <ds:schemaRef ds:uri="71af3243-3dd4-4a8d-8c0d-dd76da1f02a5"/>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A2DDA16B-F3AC-4A5B-9F5F-6F5A8F47A9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Professional services marketing plan</Template>
  <TotalTime>0</TotalTime>
  <Words>441</Words>
  <Application>Microsoft Office PowerPoint</Application>
  <PresentationFormat>Widescreen</PresentationFormat>
  <Paragraphs>132</Paragraphs>
  <Slides>11</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Arial </vt:lpstr>
      <vt:lpstr>Calibri</vt:lpstr>
      <vt:lpstr>Cascadia Code</vt:lpstr>
      <vt:lpstr>Cascadia Mono</vt:lpstr>
      <vt:lpstr>Gill Sans MT</vt:lpstr>
      <vt:lpstr>Gotham</vt:lpstr>
      <vt:lpstr>Open Sans</vt:lpstr>
      <vt:lpstr>Office Theme</vt:lpstr>
      <vt:lpstr>Understanding Indexed Universal Life Insurance</vt:lpstr>
      <vt:lpstr>IUL</vt:lpstr>
      <vt:lpstr>IUL</vt:lpstr>
      <vt:lpstr>IUL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2024-02-22T15:14:39Z</dcterms:created>
  <dcterms:modified xsi:type="dcterms:W3CDTF">2026-03-26T01:20:19Z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