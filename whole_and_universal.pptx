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Vi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3780000"/>
            <a:ext cx="10078920" cy="188892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r="16200000" dist="252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endParaRPr lang="en-US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dt" idx="1"/>
          </p:nvPr>
        </p:nvSpPr>
        <p:spPr>
          <a:xfrm>
            <a:off x="504000" y="5130000"/>
            <a:ext cx="233892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ftr" idx="2"/>
          </p:nvPr>
        </p:nvSpPr>
        <p:spPr>
          <a:xfrm>
            <a:off x="3420000" y="5130000"/>
            <a:ext cx="323892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sldNum" idx="3"/>
          </p:nvPr>
        </p:nvSpPr>
        <p:spPr>
          <a:xfrm>
            <a:off x="7236000" y="5130000"/>
            <a:ext cx="233892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BB364E8-C191-4A33-993B-DB9EABE924F6}" type="slidenum">
              <a: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0920" cy="323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60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504000" y="3870000"/>
            <a:ext cx="9070920" cy="116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>
              <a:lnSpc>
                <a:spcPct val="100000"/>
              </a:lnSpc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Aft>
                <a:spcPts val="842"/>
              </a:spcAft>
              <a:buClr>
                <a:srgbClr val="F49100"/>
              </a:buClr>
              <a:buSzPct val="75000"/>
              <a:buFont typeface="Symbol" charset="2"/>
              <a:buChar char=""/>
              <a:defRPr lang="en-US" sz="165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Aft>
                <a:spcPts val="635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Aft>
                <a:spcPts val="422"/>
              </a:spcAft>
              <a:buClr>
                <a:srgbClr val="F491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lnSpc>
                <a:spcPct val="100000"/>
              </a:lnSpc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1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lang="en-US" sz="165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Second Outline Level</a:t>
            </a:r>
            <a:endParaRPr lang="en-US" sz="165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Aft>
                <a:spcPts val="635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Third Outline Level</a:t>
            </a:r>
            <a:endParaRPr lang="en-US" sz="18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Aft>
                <a:spcPts val="42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Fourth Outline Level</a:t>
            </a:r>
            <a:endParaRPr lang="en-US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Fifth Outline Level</a:t>
            </a:r>
            <a:endParaRPr lang="en-US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Sixth Outline Level</a:t>
            </a:r>
            <a:endParaRPr lang="en-US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Seventh Outline Level</a:t>
            </a:r>
            <a:endParaRPr lang="en-US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0" y="3780000"/>
            <a:ext cx="10078920" cy="188892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r="16200000" dist="252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endParaRPr lang="en-US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dt" idx="4"/>
          </p:nvPr>
        </p:nvSpPr>
        <p:spPr>
          <a:xfrm>
            <a:off x="504000" y="5130000"/>
            <a:ext cx="233892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ftr" idx="5"/>
          </p:nvPr>
        </p:nvSpPr>
        <p:spPr>
          <a:xfrm>
            <a:off x="3420000" y="5130000"/>
            <a:ext cx="323892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Num" idx="6"/>
          </p:nvPr>
        </p:nvSpPr>
        <p:spPr>
          <a:xfrm>
            <a:off x="7236000" y="5130000"/>
            <a:ext cx="233892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B611394-F2D3-4633-9C3C-9AD7E2315F8B}" type="slidenum">
              <a: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0920" cy="323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60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504000" y="3870000"/>
            <a:ext cx="9070920" cy="116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>
              <a:lnSpc>
                <a:spcPct val="100000"/>
              </a:lnSpc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Aft>
                <a:spcPts val="842"/>
              </a:spcAft>
              <a:buClr>
                <a:srgbClr val="F49100"/>
              </a:buClr>
              <a:buSzPct val="75000"/>
              <a:buFont typeface="Symbol" charset="2"/>
              <a:buChar char=""/>
              <a:defRPr lang="en-US" sz="165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Aft>
                <a:spcPts val="635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Aft>
                <a:spcPts val="422"/>
              </a:spcAft>
              <a:buClr>
                <a:srgbClr val="F491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lnSpc>
                <a:spcPct val="100000"/>
              </a:lnSpc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1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lang="en-US" sz="165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Second Outline Level</a:t>
            </a:r>
            <a:endParaRPr lang="en-US" sz="165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Aft>
                <a:spcPts val="635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Third Outline Level</a:t>
            </a:r>
            <a:endParaRPr lang="en-US" sz="18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Aft>
                <a:spcPts val="42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Fourth Outline Level</a:t>
            </a:r>
            <a:endParaRPr lang="en-US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Fifth Outline Level</a:t>
            </a:r>
            <a:endParaRPr lang="en-US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Sixth Outline Level</a:t>
            </a:r>
            <a:endParaRPr lang="en-US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Seventh Outline Level</a:t>
            </a:r>
            <a:endParaRPr lang="en-US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Vivi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 flipV="1">
            <a:off x="0" y="-1440"/>
            <a:ext cx="10078920" cy="107892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r="5400000" dist="252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endParaRPr lang="en-US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0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0920" cy="350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Second Outline Level</a:t>
            </a:r>
            <a:endParaRPr lang="en-US" sz="21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Third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Fourth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Fifth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Sixth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Seventh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504000" y="5130000"/>
            <a:ext cx="233892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3420000" y="5130000"/>
            <a:ext cx="323892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7236000" y="5130000"/>
            <a:ext cx="233892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0938D74-9BE9-47F5-9FDA-22E845D3ED8E}" type="slidenum"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 flipV="1">
            <a:off x="0" y="-1440"/>
            <a:ext cx="10078920" cy="107892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r="5400000" dist="252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endParaRPr lang="en-US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0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0920" cy="350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Second Outline Level</a:t>
            </a:r>
            <a:endParaRPr lang="en-US" sz="21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Third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Fourth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Fifth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Sixth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Seventh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0"/>
          </p:nvPr>
        </p:nvSpPr>
        <p:spPr>
          <a:xfrm>
            <a:off x="504000" y="5130000"/>
            <a:ext cx="233892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1"/>
          </p:nvPr>
        </p:nvSpPr>
        <p:spPr>
          <a:xfrm>
            <a:off x="3420000" y="5130000"/>
            <a:ext cx="323892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2"/>
          </p:nvPr>
        </p:nvSpPr>
        <p:spPr>
          <a:xfrm>
            <a:off x="7236000" y="5130000"/>
            <a:ext cx="233892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23FC447-9A4E-4725-910F-5774DAEFC237}" type="slidenum"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Vivid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 flipV="1">
            <a:off x="0" y="-1440"/>
            <a:ext cx="10078920" cy="17892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r="5400000" dist="252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endParaRPr lang="en-US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0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5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5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0920" cy="36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Aft>
                <a:spcPts val="1057"/>
              </a:spcAft>
              <a:buClr>
                <a:srgbClr val="04617B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Aft>
                <a:spcPts val="842"/>
              </a:spcAft>
              <a:buClr>
                <a:srgbClr val="04617B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Aft>
                <a:spcPts val="635"/>
              </a:spcAft>
              <a:buClr>
                <a:srgbClr val="04617B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Aft>
                <a:spcPts val="422"/>
              </a:spcAft>
              <a:buClr>
                <a:srgbClr val="04617B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2"/>
              </a:spcAft>
              <a:buClr>
                <a:srgbClr val="04617B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Second Outline Level</a:t>
            </a:r>
            <a:endParaRPr lang="en-US" sz="21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Aft>
                <a:spcPts val="635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Third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Aft>
                <a:spcPts val="422"/>
              </a:spcAft>
              <a:buClr>
                <a:srgbClr val="04617B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Fourth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Fifth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Sixth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Seventh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3"/>
          </p:nvPr>
        </p:nvSpPr>
        <p:spPr>
          <a:xfrm>
            <a:off x="504000" y="5130000"/>
            <a:ext cx="233892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4"/>
          </p:nvPr>
        </p:nvSpPr>
        <p:spPr>
          <a:xfrm>
            <a:off x="3420000" y="5130000"/>
            <a:ext cx="323892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5"/>
          </p:nvPr>
        </p:nvSpPr>
        <p:spPr>
          <a:xfrm>
            <a:off x="7236000" y="5130000"/>
            <a:ext cx="233892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A5CA98A-3509-4123-BB0E-B569534ED26E}" type="slidenum"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0" y="5580000"/>
            <a:ext cx="10078920" cy="8892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r="16200000" dist="252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endParaRPr lang="en-US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1_Vivi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/>
          <p:nvPr/>
        </p:nvSpPr>
        <p:spPr>
          <a:xfrm flipV="1">
            <a:off x="0" y="-1440"/>
            <a:ext cx="10078920" cy="107892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r="5400000" dist="252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endParaRPr lang="en-US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0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0920" cy="350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Second Outline Level</a:t>
            </a:r>
            <a:endParaRPr lang="en-US" sz="21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Third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Fourth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Fifth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Sixth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Seventh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6"/>
          </p:nvPr>
        </p:nvSpPr>
        <p:spPr>
          <a:xfrm>
            <a:off x="504000" y="5130000"/>
            <a:ext cx="233892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17"/>
          </p:nvPr>
        </p:nvSpPr>
        <p:spPr>
          <a:xfrm>
            <a:off x="3420000" y="5130000"/>
            <a:ext cx="323892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18"/>
          </p:nvPr>
        </p:nvSpPr>
        <p:spPr>
          <a:xfrm>
            <a:off x="7236000" y="5130000"/>
            <a:ext cx="233892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9DCB01D-9870-47A5-B420-2CB9CDA40B79}" type="slidenum"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 flipV="1">
            <a:off x="0" y="-1440"/>
            <a:ext cx="10078920" cy="107892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r="5400000" dist="252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endParaRPr lang="en-US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0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0920" cy="350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Second Outline Level</a:t>
            </a:r>
            <a:endParaRPr lang="en-US" sz="21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Third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Fourth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Fifth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Sixth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Seventh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19"/>
          </p:nvPr>
        </p:nvSpPr>
        <p:spPr>
          <a:xfrm>
            <a:off x="504000" y="5130000"/>
            <a:ext cx="233892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20"/>
          </p:nvPr>
        </p:nvSpPr>
        <p:spPr>
          <a:xfrm>
            <a:off x="3420000" y="5130000"/>
            <a:ext cx="323892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21"/>
          </p:nvPr>
        </p:nvSpPr>
        <p:spPr>
          <a:xfrm>
            <a:off x="7236000" y="5130000"/>
            <a:ext cx="233892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C9E2C6F-822F-4588-B470-0AE66955B71A}" type="slidenum"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subTitle"/>
          </p:nvPr>
        </p:nvSpPr>
        <p:spPr>
          <a:xfrm>
            <a:off x="504000" y="3870000"/>
            <a:ext cx="9070920" cy="117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l">
              <a:lnSpc>
                <a:spcPct val="100000"/>
              </a:lnSpc>
              <a:spcAft>
                <a:spcPts val="924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Whole life and Universal Life Insurance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0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 anchorCtr="1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WHOLE LIFE INSURANCE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0920" cy="350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marL="432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What is Whole Life Insurance?</a:t>
            </a:r>
            <a:endParaRPr lang="en-US" sz="4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9ED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A type of permanent life insurance that provides lifelong coverage 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9ED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Includes a guaranteed death benefit 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9ED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Builds cash value over time 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9ED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Premium payments remain fixed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0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 anchorCtr="1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WHOLE LIFE INSURANCE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0920" cy="350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Key Features</a:t>
            </a:r>
            <a:endParaRPr lang="en-US" sz="4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9ED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Lifetime protection 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9ED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Predictable premiums 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9ED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Guaranteed cash value growth 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9ED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May earn dividends (with some insurers)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0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 anchorCtr="1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WHOLE LIFE INSURANCE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0920" cy="350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Advantages </a:t>
            </a:r>
            <a:endParaRPr lang="en-US" sz="4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9ED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Stable and reliable 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9ED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Forced savings component 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9ED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Can borrow against cash value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0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 anchorCtr="1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WHOLE LIFE INSURANCE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0920" cy="350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Disadvantages </a:t>
            </a:r>
            <a:endParaRPr lang="en-US" sz="4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9ED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Higher premiums than term insurance 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9ED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Less flexibility in payments and investments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0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 anchorCtr="1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UNIVERSAL LIFE INSURANCE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0920" cy="350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What is Universal Life Insurance</a:t>
            </a:r>
            <a:endParaRPr lang="en-US" sz="4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9ED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A type of permanent life insurance with flexible features 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9ED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Combines life coverage with cash value savings 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9ED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Allows policyholders to adjust premiums and death benefits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0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 anchorCtr="1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UNIVERSAL LIFE INSURANCE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0920" cy="350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Key Features</a:t>
            </a:r>
            <a:endParaRPr lang="en-US" sz="4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9ED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Flexible premium payments 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9ED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Adjustable death benefit 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9ED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Cash value earns interest based on market or insurer rates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0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 anchorCtr="1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UNIVERSAL LIFE INSURANCE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0920" cy="350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Key Features</a:t>
            </a:r>
            <a:endParaRPr lang="en-US" sz="4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9ED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Flexible premium payments 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9ED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Adjustable death benefit 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9ED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Cash value earns interest based on market or insurer rates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0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 anchorCtr="1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UNIVERSAL LIFE INSURANCE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0920" cy="350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Advantages</a:t>
            </a:r>
            <a:endParaRPr lang="en-US" sz="4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9ED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Greater flexibility 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9ED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Potential for higher cash value growth 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9ED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Can adapt to changing financial needs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0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 anchorCtr="1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UNIVERSAL LIFE INSURANCE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0920" cy="350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Disadvantages</a:t>
            </a:r>
            <a:endParaRPr lang="en-US" sz="4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9ED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More complex than whole life 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9ED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Cash value growth is not guaranteed 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9EDA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Risk of policy lapsing if underfunded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0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 anchorCtr="1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WHOLE LIFE VS UNIVERSAL LIFE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pic>
        <p:nvPicPr>
          <p:cNvPr id="65" name=""/>
          <p:cNvPicPr/>
          <p:nvPr/>
        </p:nvPicPr>
        <p:blipFill>
          <a:blip r:embed="rId1"/>
          <a:stretch/>
        </p:blipFill>
        <p:spPr>
          <a:xfrm>
            <a:off x="1371600" y="1440000"/>
            <a:ext cx="7028640" cy="3408840"/>
          </a:xfrm>
          <a:prstGeom prst="rect">
            <a:avLst/>
          </a:prstGeom>
          <a:noFill/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0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 anchorCtr="1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QUESTIONS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0920" cy="350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anchorCtr="1">
            <a:norm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Mohammed Farooq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mxfarooq1@gmail.com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248-982-0293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Application>LibreOffice/26.2.0.3$Windows_X86_64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2026-05-10T17:14:09Z</dcterms:created>
  <dc:creator/>
  <dc:description>This work is licensed under a Creative Commons 0 License.
It makes use of the works of fsanchez.</dc:description>
  <dc:language>en-US</dc:language>
  <cp:lastModifiedBy/>
  <dcterms:modified xsi:type="dcterms:W3CDTF">2026-05-11T10:38:08Z</dcterms:modified>
  <cp:revision>8</cp:revision>
  <dc:subject/>
  <dc:title>Vivid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