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3"/>
  </p:notesMasterIdLst>
  <p:handoutMasterIdLst>
    <p:handoutMasterId r:id="rId24"/>
  </p:handoutMasterIdLst>
  <p:sldIdLst>
    <p:sldId id="257" r:id="rId2"/>
    <p:sldId id="258" r:id="rId3"/>
    <p:sldId id="259" r:id="rId4"/>
    <p:sldId id="260" r:id="rId5"/>
    <p:sldId id="261" r:id="rId6"/>
    <p:sldId id="276" r:id="rId7"/>
    <p:sldId id="262" r:id="rId8"/>
    <p:sldId id="277" r:id="rId9"/>
    <p:sldId id="285" r:id="rId10"/>
    <p:sldId id="286" r:id="rId11"/>
    <p:sldId id="287" r:id="rId12"/>
    <p:sldId id="263" r:id="rId13"/>
    <p:sldId id="278" r:id="rId14"/>
    <p:sldId id="279" r:id="rId15"/>
    <p:sldId id="280" r:id="rId16"/>
    <p:sldId id="281" r:id="rId17"/>
    <p:sldId id="284" r:id="rId18"/>
    <p:sldId id="288" r:id="rId19"/>
    <p:sldId id="289" r:id="rId20"/>
    <p:sldId id="290" r:id="rId21"/>
    <p:sldId id="282" r:id="rId2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7">
          <p15:clr>
            <a:srgbClr val="A4A3A4"/>
          </p15:clr>
        </p15:guide>
        <p15:guide id="10" pos="6911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heel Khan" initials="RK" lastIdx="1" clrIdx="0">
    <p:extLst>
      <p:ext uri="{19B8F6BF-5375-455C-9EA6-DF929625EA0E}">
        <p15:presenceInfo xmlns:p15="http://schemas.microsoft.com/office/powerpoint/2012/main" userId="Raheel K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354" autoAdjust="0"/>
  </p:normalViewPr>
  <p:slideViewPr>
    <p:cSldViewPr>
      <p:cViewPr varScale="1">
        <p:scale>
          <a:sx n="68" d="100"/>
          <a:sy n="68" d="100"/>
        </p:scale>
        <p:origin x="456" y="48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7"/>
        <p:guide pos="6911"/>
        <p:guide pos="5711"/>
        <p:guide pos="7247"/>
        <p:guide pos="3695"/>
        <p:guide pos="431"/>
        <p:guide pos="2879"/>
      </p:guideLst>
    </p:cSldViewPr>
  </p:slideViewPr>
  <p:outlineViewPr>
    <p:cViewPr>
      <p:scale>
        <a:sx n="33" d="100"/>
        <a:sy n="33" d="100"/>
      </p:scale>
      <p:origin x="0" y="-6043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70"/>
    </p:cViewPr>
  </p:sorterViewPr>
  <p:notesViewPr>
    <p:cSldViewPr>
      <p:cViewPr varScale="1">
        <p:scale>
          <a:sx n="55" d="100"/>
          <a:sy n="55" d="100"/>
        </p:scale>
        <p:origin x="2458" y="4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2-14T16:04:17.812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430627-7E77-43DD-8BA3-8BAAC047B044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4021AD-DC83-4D85-880F-495DC5804D10}" type="pres">
      <dgm:prSet presAssocID="{6C430627-7E77-43DD-8BA3-8BAAC047B044}" presName="Name0" presStyleCnt="0">
        <dgm:presLayoutVars>
          <dgm:dir/>
        </dgm:presLayoutVars>
      </dgm:prSet>
      <dgm:spPr/>
      <dgm:t>
        <a:bodyPr/>
        <a:lstStyle/>
        <a:p>
          <a:endParaRPr lang="en-US"/>
        </a:p>
      </dgm:t>
    </dgm:pt>
  </dgm:ptLst>
  <dgm:cxnLst>
    <dgm:cxn modelId="{E0D08FCF-F74E-412D-99BE-1F029DD2398C}" type="presOf" srcId="{6C430627-7E77-43DD-8BA3-8BAAC047B044}" destId="{D74021AD-DC83-4D85-880F-495DC5804D10}" srcOrd="0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2/24/2022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2/24/2022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8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70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03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46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63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48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42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31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9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46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map" descr="Map of North America"/>
          <p:cNvSpPr>
            <a:spLocks noEditPoints="1"/>
          </p:cNvSpPr>
          <p:nvPr/>
        </p:nvSpPr>
        <p:spPr bwMode="auto">
          <a:xfrm>
            <a:off x="4473575" y="3175"/>
            <a:ext cx="7715250" cy="6858000"/>
          </a:xfrm>
          <a:custGeom>
            <a:avLst/>
            <a:gdLst>
              <a:gd name="T0" fmla="*/ 1783 w 2440"/>
              <a:gd name="T1" fmla="*/ 1830 h 2169"/>
              <a:gd name="T2" fmla="*/ 1735 w 2440"/>
              <a:gd name="T3" fmla="*/ 1818 h 2169"/>
              <a:gd name="T4" fmla="*/ 1585 w 2440"/>
              <a:gd name="T5" fmla="*/ 1660 h 2169"/>
              <a:gd name="T6" fmla="*/ 1935 w 2440"/>
              <a:gd name="T7" fmla="*/ 1809 h 2169"/>
              <a:gd name="T8" fmla="*/ 2317 w 2440"/>
              <a:gd name="T9" fmla="*/ 1119 h 2169"/>
              <a:gd name="T10" fmla="*/ 2190 w 2440"/>
              <a:gd name="T11" fmla="*/ 2077 h 2169"/>
              <a:gd name="T12" fmla="*/ 1647 w 2440"/>
              <a:gd name="T13" fmla="*/ 1932 h 2169"/>
              <a:gd name="T14" fmla="*/ 1622 w 2440"/>
              <a:gd name="T15" fmla="*/ 1637 h 2169"/>
              <a:gd name="T16" fmla="*/ 1891 w 2440"/>
              <a:gd name="T17" fmla="*/ 1481 h 2169"/>
              <a:gd name="T18" fmla="*/ 2135 w 2440"/>
              <a:gd name="T19" fmla="*/ 1264 h 2169"/>
              <a:gd name="T20" fmla="*/ 2103 w 2440"/>
              <a:gd name="T21" fmla="*/ 1148 h 2169"/>
              <a:gd name="T22" fmla="*/ 2166 w 2440"/>
              <a:gd name="T23" fmla="*/ 926 h 2169"/>
              <a:gd name="T24" fmla="*/ 1907 w 2440"/>
              <a:gd name="T25" fmla="*/ 793 h 2169"/>
              <a:gd name="T26" fmla="*/ 1529 w 2440"/>
              <a:gd name="T27" fmla="*/ 903 h 2169"/>
              <a:gd name="T28" fmla="*/ 1721 w 2440"/>
              <a:gd name="T29" fmla="*/ 639 h 2169"/>
              <a:gd name="T30" fmla="*/ 1521 w 2440"/>
              <a:gd name="T31" fmla="*/ 462 h 2169"/>
              <a:gd name="T32" fmla="*/ 1474 w 2440"/>
              <a:gd name="T33" fmla="*/ 597 h 2169"/>
              <a:gd name="T34" fmla="*/ 928 w 2440"/>
              <a:gd name="T35" fmla="*/ 540 h 2169"/>
              <a:gd name="T36" fmla="*/ 608 w 2440"/>
              <a:gd name="T37" fmla="*/ 553 h 2169"/>
              <a:gd name="T38" fmla="*/ 20 w 2440"/>
              <a:gd name="T39" fmla="*/ 675 h 2169"/>
              <a:gd name="T40" fmla="*/ 168 w 2440"/>
              <a:gd name="T41" fmla="*/ 903 h 2169"/>
              <a:gd name="T42" fmla="*/ 325 w 2440"/>
              <a:gd name="T43" fmla="*/ 853 h 2169"/>
              <a:gd name="T44" fmla="*/ 664 w 2440"/>
              <a:gd name="T45" fmla="*/ 899 h 2169"/>
              <a:gd name="T46" fmla="*/ 810 w 2440"/>
              <a:gd name="T47" fmla="*/ 1049 h 2169"/>
              <a:gd name="T48" fmla="*/ 910 w 2440"/>
              <a:gd name="T49" fmla="*/ 1255 h 2169"/>
              <a:gd name="T50" fmla="*/ 1116 w 2440"/>
              <a:gd name="T51" fmla="*/ 1654 h 2169"/>
              <a:gd name="T52" fmla="*/ 1741 w 2440"/>
              <a:gd name="T53" fmla="*/ 2103 h 2169"/>
              <a:gd name="T54" fmla="*/ 1733 w 2440"/>
              <a:gd name="T55" fmla="*/ 1251 h 2169"/>
              <a:gd name="T56" fmla="*/ 1647 w 2440"/>
              <a:gd name="T57" fmla="*/ 1181 h 2169"/>
              <a:gd name="T58" fmla="*/ 892 w 2440"/>
              <a:gd name="T59" fmla="*/ 671 h 2169"/>
              <a:gd name="T60" fmla="*/ 1451 w 2440"/>
              <a:gd name="T61" fmla="*/ 1701 h 2169"/>
              <a:gd name="T62" fmla="*/ 1954 w 2440"/>
              <a:gd name="T63" fmla="*/ 1869 h 2169"/>
              <a:gd name="T64" fmla="*/ 2214 w 2440"/>
              <a:gd name="T65" fmla="*/ 1992 h 2169"/>
              <a:gd name="T66" fmla="*/ 2421 w 2440"/>
              <a:gd name="T67" fmla="*/ 0 h 2169"/>
              <a:gd name="T68" fmla="*/ 2040 w 2440"/>
              <a:gd name="T69" fmla="*/ 240 h 2169"/>
              <a:gd name="T70" fmla="*/ 2366 w 2440"/>
              <a:gd name="T71" fmla="*/ 466 h 2169"/>
              <a:gd name="T72" fmla="*/ 2368 w 2440"/>
              <a:gd name="T73" fmla="*/ 605 h 2169"/>
              <a:gd name="T74" fmla="*/ 2410 w 2440"/>
              <a:gd name="T75" fmla="*/ 678 h 2169"/>
              <a:gd name="T76" fmla="*/ 1318 w 2440"/>
              <a:gd name="T77" fmla="*/ 282 h 2169"/>
              <a:gd name="T78" fmla="*/ 1546 w 2440"/>
              <a:gd name="T79" fmla="*/ 58 h 2169"/>
              <a:gd name="T80" fmla="*/ 1075 w 2440"/>
              <a:gd name="T81" fmla="*/ 312 h 2169"/>
              <a:gd name="T82" fmla="*/ 1422 w 2440"/>
              <a:gd name="T83" fmla="*/ 270 h 2169"/>
              <a:gd name="T84" fmla="*/ 1400 w 2440"/>
              <a:gd name="T85" fmla="*/ 409 h 2169"/>
              <a:gd name="T86" fmla="*/ 1632 w 2440"/>
              <a:gd name="T87" fmla="*/ 311 h 2169"/>
              <a:gd name="T88" fmla="*/ 1393 w 2440"/>
              <a:gd name="T89" fmla="*/ 262 h 2169"/>
              <a:gd name="T90" fmla="*/ 1041 w 2440"/>
              <a:gd name="T91" fmla="*/ 422 h 2169"/>
              <a:gd name="T92" fmla="*/ 1314 w 2440"/>
              <a:gd name="T93" fmla="*/ 193 h 2169"/>
              <a:gd name="T94" fmla="*/ 204 w 2440"/>
              <a:gd name="T95" fmla="*/ 1835 h 2169"/>
              <a:gd name="T96" fmla="*/ 1015 w 2440"/>
              <a:gd name="T97" fmla="*/ 370 h 2169"/>
              <a:gd name="T98" fmla="*/ 1755 w 2440"/>
              <a:gd name="T99" fmla="*/ 732 h 2169"/>
              <a:gd name="T100" fmla="*/ 1645 w 2440"/>
              <a:gd name="T101" fmla="*/ 37 h 2169"/>
              <a:gd name="T102" fmla="*/ 1771 w 2440"/>
              <a:gd name="T103" fmla="*/ 164 h 2169"/>
              <a:gd name="T104" fmla="*/ 1798 w 2440"/>
              <a:gd name="T105" fmla="*/ 286 h 2169"/>
              <a:gd name="T106" fmla="*/ 2088 w 2440"/>
              <a:gd name="T107" fmla="*/ 64 h 2169"/>
              <a:gd name="T108" fmla="*/ 1844 w 2440"/>
              <a:gd name="T109" fmla="*/ 448 h 2169"/>
              <a:gd name="T110" fmla="*/ 1843 w 2440"/>
              <a:gd name="T111" fmla="*/ 521 h 2169"/>
              <a:gd name="T112" fmla="*/ 1896 w 2440"/>
              <a:gd name="T113" fmla="*/ 728 h 2169"/>
              <a:gd name="T114" fmla="*/ 2119 w 2440"/>
              <a:gd name="T115" fmla="*/ 723 h 2169"/>
              <a:gd name="T116" fmla="*/ 2173 w 2440"/>
              <a:gd name="T117" fmla="*/ 644 h 2169"/>
              <a:gd name="T118" fmla="*/ 2028 w 2440"/>
              <a:gd name="T119" fmla="*/ 497 h 2169"/>
              <a:gd name="T120" fmla="*/ 321 w 2440"/>
              <a:gd name="T121" fmla="*/ 931 h 2169"/>
              <a:gd name="T122" fmla="*/ 709 w 2440"/>
              <a:gd name="T123" fmla="*/ 983 h 2169"/>
              <a:gd name="T124" fmla="*/ 713 w 2440"/>
              <a:gd name="T125" fmla="*/ 95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0" h="2169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922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E6EE-E4C7-4C54-AA33-D24FC6441998}" type="datetime1">
              <a:rPr lang="en-US" smtClean="0"/>
              <a:t>2/24/2022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AF-672B-488A-881E-6E27F6156EAB}" type="datetime1">
              <a:rPr lang="en-US" smtClean="0"/>
              <a:t>2/24/2022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2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4940-7F04-44EE-9ED5-BEC598359599}" type="datetime1">
              <a:rPr lang="en-US" smtClean="0"/>
              <a:t>2/24/2022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4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4528F-0F96-4C65-B8AF-D2A1168FCCB5}" type="datetime1">
              <a:rPr lang="en-US" smtClean="0"/>
              <a:t>2/24/2022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5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8836" y="1828799"/>
            <a:ext cx="3108960" cy="8382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Picture Placeholder 14" descr="An empty placeholder to add an image. Click on the placeholder and select the image that you wish to add"/>
          <p:cNvSpPr>
            <a:spLocks noGrp="1"/>
          </p:cNvSpPr>
          <p:nvPr>
            <p:ph type="pic" sz="quarter" idx="19"/>
          </p:nvPr>
        </p:nvSpPr>
        <p:spPr>
          <a:xfrm>
            <a:off x="1208836" y="2750600"/>
            <a:ext cx="3108959" cy="3421599"/>
          </a:xfrm>
        </p:spPr>
        <p:txBody>
          <a:bodyPr/>
          <a:lstStyle>
            <a:lvl1pPr marL="4572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4539933" y="1828799"/>
            <a:ext cx="3108960" cy="8382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Picture Placeholder 14" descr="An empty placeholder to add an image. Click on the placeholder and select the image that you wish to add"/>
          <p:cNvSpPr>
            <a:spLocks noGrp="1"/>
          </p:cNvSpPr>
          <p:nvPr>
            <p:ph type="pic" sz="quarter" idx="17"/>
          </p:nvPr>
        </p:nvSpPr>
        <p:spPr>
          <a:xfrm>
            <a:off x="4539933" y="2750600"/>
            <a:ext cx="3108959" cy="3421599"/>
          </a:xfrm>
        </p:spPr>
        <p:txBody>
          <a:bodyPr/>
          <a:lstStyle>
            <a:lvl1pPr marL="4572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5"/>
          </p:nvPr>
        </p:nvSpPr>
        <p:spPr>
          <a:xfrm>
            <a:off x="7862253" y="1828799"/>
            <a:ext cx="3108960" cy="8382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Picture Placeholder 14" descr="An empty placeholder to add an image. Click on the placeholder and select the image that you wish to add"/>
          <p:cNvSpPr>
            <a:spLocks noGrp="1"/>
          </p:cNvSpPr>
          <p:nvPr>
            <p:ph type="pic" sz="quarter" idx="18"/>
          </p:nvPr>
        </p:nvSpPr>
        <p:spPr>
          <a:xfrm>
            <a:off x="7862253" y="2750600"/>
            <a:ext cx="3108959" cy="3421599"/>
          </a:xfrm>
        </p:spPr>
        <p:txBody>
          <a:bodyPr/>
          <a:lstStyle>
            <a:lvl1pPr marL="4572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8C9B-A0D4-429E-B220-795D09FEE865}" type="datetime1">
              <a:rPr lang="en-US" smtClean="0"/>
              <a:t>2/24/2022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2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pos="6911">
          <p15:clr>
            <a:srgbClr val="FBAE40"/>
          </p15:clr>
        </p15:guide>
        <p15:guide id="4" pos="76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FCA8-949B-4C4B-88E3-D1A67566DDFC}" type="datetime1">
              <a:rPr lang="en-US" smtClean="0"/>
              <a:t>2/24/2022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3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CA00-3225-4FE5-8887-17546E635ED0}" type="datetime1">
              <a:rPr lang="en-US" smtClean="0"/>
              <a:t>2/24/2022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8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038600"/>
            <a:ext cx="3886200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F72E-C84C-4385-A47E-E3DFFC7623FA}" type="datetime1">
              <a:rPr lang="en-US" smtClean="0"/>
              <a:t>2/24/2022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038601"/>
            <a:ext cx="3886200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3B2C8-FED9-4752-B8D0-935D959144BB}" type="datetime1">
              <a:rPr lang="en-US" smtClean="0"/>
              <a:t>2/24/2022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65A1-D08F-4163-A48F-574F5A8B08BB}" type="datetime1">
              <a:rPr lang="en-US" smtClean="0"/>
              <a:t>2/24/2022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5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6BD15-6169-4F5B-A109-A869ED88167E}" type="datetime1">
              <a:rPr lang="en-US" smtClean="0"/>
              <a:t>2/24/2022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8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0B4CC2D-5841-49B5-B101-95A01E3776A5}" type="datetime1">
              <a:rPr lang="en-US" smtClean="0"/>
              <a:t>2/24/2022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6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Texas Life and health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Insurance transaction and insurer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of insurer - An insurer or principal is the organization/company issues policy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Domestic Foreign alien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Require </a:t>
            </a:r>
            <a:r>
              <a:rPr lang="en-US" dirty="0" err="1" smtClean="0"/>
              <a:t>ceritificate</a:t>
            </a:r>
            <a:r>
              <a:rPr lang="en-US" dirty="0" smtClean="0"/>
              <a:t> of authority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 smtClean="0"/>
              <a:t>Unauthorized or non admitted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0412" y="2971800"/>
            <a:ext cx="10820400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* Domestic company is an insurance company incorporated in this state 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Company’s domicile, if company is chartered in Colorado is considered domestic company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Foreign company incorporated in another state, the district of Columbia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A company is chartered in New York is foreign for state of Texas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Alien company is incorporated outside of United states</a:t>
            </a:r>
          </a:p>
          <a:p>
            <a:pPr>
              <a:lnSpc>
                <a:spcPct val="90000"/>
              </a:lnSpc>
            </a:pPr>
            <a:endParaRPr lang="en-US" sz="2400" dirty="0" smtClean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699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Stock and Mutual </a:t>
            </a:r>
            <a:r>
              <a:rPr lang="en-US" dirty="0" err="1" smtClean="0"/>
              <a:t>compnanies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 smtClean="0"/>
              <a:t>Texas department of Insurance issues certificate of authority (meets capital and surplus) </a:t>
            </a:r>
          </a:p>
          <a:p>
            <a:pPr lvl="0"/>
            <a:endParaRPr lang="en-US" dirty="0"/>
          </a:p>
          <a:p>
            <a:pPr lvl="0"/>
            <a:r>
              <a:rPr lang="en-US" dirty="0" smtClean="0"/>
              <a:t>Certificate remain in effect until its canceled revoked or suspended </a:t>
            </a:r>
          </a:p>
          <a:p>
            <a:pPr lvl="0"/>
            <a:endParaRPr lang="en-US" dirty="0"/>
          </a:p>
          <a:p>
            <a:pPr lvl="0"/>
            <a:r>
              <a:rPr lang="en-US" dirty="0" smtClean="0"/>
              <a:t>Fails to file an annual statement – revoked or suspended by department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5408609" y="304801"/>
            <a:ext cx="6400801" cy="836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Stock Company: owned by stock holders 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Non participating polices are generally issued by stock companies in which </a:t>
            </a:r>
            <a:r>
              <a:rPr lang="en-US" sz="2400" dirty="0" err="1" smtClean="0"/>
              <a:t>policyowners</a:t>
            </a:r>
            <a:r>
              <a:rPr lang="en-US" sz="2400" dirty="0" smtClean="0"/>
              <a:t> do not share in loss/profit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 err="1" smtClean="0"/>
              <a:t>Policyowners</a:t>
            </a:r>
            <a:r>
              <a:rPr lang="en-US" sz="2400" dirty="0" smtClean="0"/>
              <a:t> of non participating policies do not receive dividends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 smtClean="0"/>
              <a:t>Mutual companies: owned by policy owners, issue policy entitled to dividends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 err="1" smtClean="0"/>
              <a:t>Fraternals</a:t>
            </a:r>
            <a:r>
              <a:rPr lang="en-US" sz="2400" dirty="0" smtClean="0"/>
              <a:t>: provide benefit to religious organization, charitable institution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 smtClean="0"/>
              <a:t>A </a:t>
            </a:r>
            <a:r>
              <a:rPr lang="en-US" sz="2400" dirty="0"/>
              <a:t>insurance company that is owned by the policy owners is called a mutual insurer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- </a:t>
            </a:r>
            <a:r>
              <a:rPr lang="en-US" sz="2400" dirty="0"/>
              <a:t>Mutual companies issue participating policies and are owned by the </a:t>
            </a:r>
            <a:r>
              <a:rPr lang="en-US" sz="2400" dirty="0" err="1"/>
              <a:t>policyowners</a:t>
            </a:r>
            <a:r>
              <a:rPr lang="en-US" sz="2400" dirty="0"/>
              <a:t> 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 </a:t>
            </a:r>
          </a:p>
          <a:p>
            <a:pPr>
              <a:lnSpc>
                <a:spcPct val="90000"/>
              </a:lnSpc>
            </a:pPr>
            <a:endParaRPr lang="en-US" sz="2400" dirty="0" smtClean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9806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Commissioner of Insurance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The CEO and administrator officer of the state </a:t>
            </a:r>
            <a:r>
              <a:rPr lang="en-US" dirty="0" err="1" smtClean="0"/>
              <a:t>Dept</a:t>
            </a:r>
            <a:r>
              <a:rPr lang="en-US" dirty="0" smtClean="0"/>
              <a:t> of insurance </a:t>
            </a:r>
          </a:p>
          <a:p>
            <a:pPr lvl="0"/>
            <a:r>
              <a:rPr lang="en-US" dirty="0" smtClean="0"/>
              <a:t>Citizen of State of Texas</a:t>
            </a:r>
          </a:p>
          <a:p>
            <a:pPr lvl="0"/>
            <a:r>
              <a:rPr lang="en-US" dirty="0" smtClean="0"/>
              <a:t>Knowledgeable and accomplished in the field of insurance</a:t>
            </a:r>
          </a:p>
          <a:p>
            <a:pPr lvl="0"/>
            <a:r>
              <a:rPr lang="en-US" dirty="0" smtClean="0"/>
              <a:t>Minimum of 5 years of experience in administration of government or business or a certified accountant or as public accountant or practicing attorney</a:t>
            </a:r>
          </a:p>
          <a:p>
            <a:pPr lvl="0"/>
            <a:r>
              <a:rPr lang="en-US" dirty="0" smtClean="0"/>
              <a:t>Appointed by the governor for 2 year term ending in </a:t>
            </a:r>
            <a:r>
              <a:rPr lang="en-US" dirty="0" err="1" smtClean="0"/>
              <a:t>febuary</a:t>
            </a:r>
            <a:r>
              <a:rPr lang="en-US" dirty="0" smtClean="0"/>
              <a:t> 1 of every odd numbered year</a:t>
            </a:r>
          </a:p>
          <a:p>
            <a:pPr lvl="0"/>
            <a:r>
              <a:rPr lang="en-US" dirty="0" smtClean="0"/>
              <a:t>Required to examine every authorized insurer </a:t>
            </a:r>
            <a:r>
              <a:rPr lang="en-US" dirty="0" err="1" smtClean="0"/>
              <a:t>atleast</a:t>
            </a:r>
            <a:r>
              <a:rPr lang="en-US" dirty="0" smtClean="0"/>
              <a:t> once in every 5 years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97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- 1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Which of the following terms is the closest to an authorized insurer ?</a:t>
            </a:r>
            <a:endParaRPr lang="en-US" dirty="0"/>
          </a:p>
          <a:p>
            <a:pPr lvl="0"/>
            <a:r>
              <a:rPr lang="en-US" dirty="0" smtClean="0"/>
              <a:t>1. Certified</a:t>
            </a:r>
          </a:p>
          <a:p>
            <a:pPr lvl="0"/>
            <a:r>
              <a:rPr lang="en-US" dirty="0" smtClean="0"/>
              <a:t>2. Licensed</a:t>
            </a:r>
          </a:p>
          <a:p>
            <a:pPr lvl="0"/>
            <a:r>
              <a:rPr lang="en-US" dirty="0" smtClean="0"/>
              <a:t>3 Legal</a:t>
            </a:r>
          </a:p>
          <a:p>
            <a:pPr lvl="0"/>
            <a:r>
              <a:rPr lang="en-US" dirty="0" smtClean="0"/>
              <a:t>4  Admitted.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54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>
              <a:spcBef>
                <a:spcPts val="1800"/>
              </a:spcBef>
            </a:pPr>
            <a:r>
              <a:rPr lang="en-US" dirty="0"/>
              <a:t>Insurers who meet the state’s financial </a:t>
            </a:r>
            <a:r>
              <a:rPr lang="en-US" dirty="0" smtClean="0"/>
              <a:t>requirements </a:t>
            </a:r>
            <a:r>
              <a:rPr lang="en-US" dirty="0"/>
              <a:t>and are approved to </a:t>
            </a:r>
            <a:r>
              <a:rPr lang="en-US" dirty="0" smtClean="0"/>
              <a:t>transact  </a:t>
            </a:r>
            <a:r>
              <a:rPr lang="en-US" dirty="0"/>
              <a:t>insurance business in the state are considered </a:t>
            </a:r>
            <a:r>
              <a:rPr lang="en-US" b="1" dirty="0"/>
              <a:t>Authorized or Admitted </a:t>
            </a:r>
            <a:r>
              <a:rPr lang="en-US" dirty="0"/>
              <a:t>into the state as a legal insurance provided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99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- 2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dirty="0" smtClean="0"/>
          </a:p>
          <a:p>
            <a:pPr lvl="1"/>
            <a:r>
              <a:rPr lang="en-US" dirty="0" smtClean="0"/>
              <a:t>The commissioner of insurance issues a Cease and desist order to a producer. If the producer wants to contest the charges in court how many days after the order was issued does the producer have to make the request.</a:t>
            </a:r>
            <a:endParaRPr lang="en-US" dirty="0"/>
          </a:p>
          <a:p>
            <a:pPr lvl="0"/>
            <a:r>
              <a:rPr lang="en-US" dirty="0" smtClean="0"/>
              <a:t>1. 10 days</a:t>
            </a:r>
          </a:p>
          <a:p>
            <a:pPr lvl="0"/>
            <a:r>
              <a:rPr lang="en-US" dirty="0" smtClean="0"/>
              <a:t>2. 30 days.</a:t>
            </a:r>
          </a:p>
          <a:p>
            <a:pPr lvl="0"/>
            <a:r>
              <a:rPr lang="en-US" dirty="0" smtClean="0"/>
              <a:t>3. 60 days</a:t>
            </a:r>
          </a:p>
          <a:p>
            <a:pPr lvl="0"/>
            <a:r>
              <a:rPr lang="en-US" dirty="0" smtClean="0"/>
              <a:t>4. 90 days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3615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838201"/>
          </a:xfrm>
        </p:spPr>
        <p:txBody>
          <a:bodyPr>
            <a:normAutofit/>
          </a:bodyPr>
          <a:lstStyle/>
          <a:p>
            <a:r>
              <a:rPr lang="en-US" dirty="0" smtClean="0"/>
              <a:t>Answer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2971800"/>
            <a:ext cx="7848600" cy="3200400"/>
          </a:xfrm>
        </p:spPr>
        <p:txBody>
          <a:bodyPr/>
          <a:lstStyle/>
          <a:p>
            <a:pPr marL="0" lvl="1" algn="l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If the recipient of a cease and desist order wants to review or contest the charges in court the request needs to made in 30 days of receipt of the order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9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Agent:   solicits on behalf of an insurance </a:t>
            </a:r>
            <a:r>
              <a:rPr lang="en-US" dirty="0" err="1"/>
              <a:t>carier</a:t>
            </a:r>
            <a:r>
              <a:rPr lang="en-US" dirty="0"/>
              <a:t> </a:t>
            </a:r>
          </a:p>
          <a:p>
            <a:r>
              <a:rPr lang="en-US" dirty="0"/>
              <a:t>18 years old</a:t>
            </a:r>
          </a:p>
          <a:p>
            <a:r>
              <a:rPr lang="en-US" dirty="0"/>
              <a:t>Passed required exam in the past 12 months</a:t>
            </a:r>
          </a:p>
          <a:p>
            <a:r>
              <a:rPr lang="en-US" dirty="0"/>
              <a:t>Submit application, fees, other required information</a:t>
            </a:r>
          </a:p>
          <a:p>
            <a:r>
              <a:rPr lang="en-US" dirty="0"/>
              <a:t>Not committed any acts which may cause license to be declined</a:t>
            </a:r>
          </a:p>
          <a:p>
            <a:r>
              <a:rPr lang="en-US" dirty="0" smtClean="0"/>
              <a:t>Temporary: DOI issues temporary license effective for 90days, 40 hour training course, not renewable cannot be issued more than once in 6 months, cannot sell insurance that replace annuity contract</a:t>
            </a:r>
            <a:endParaRPr lang="en-US" dirty="0"/>
          </a:p>
          <a:p>
            <a:r>
              <a:rPr lang="en-US" dirty="0"/>
              <a:t>Non resident: who is not domiciled in Texas or not living in </a:t>
            </a:r>
            <a:r>
              <a:rPr lang="en-US" dirty="0" err="1"/>
              <a:t>texas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1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Continuing 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 – Required to complete 24 hours of CE  each renewal period prior to the expiration date of license</a:t>
            </a:r>
          </a:p>
          <a:p>
            <a:r>
              <a:rPr lang="en-US" dirty="0" smtClean="0"/>
              <a:t>At least 2 hours of CE must cover ethics</a:t>
            </a:r>
          </a:p>
          <a:p>
            <a:r>
              <a:rPr lang="en-US" dirty="0" smtClean="0"/>
              <a:t>If hold more than one license then required to complete 24 CE for all the licenses </a:t>
            </a:r>
          </a:p>
          <a:p>
            <a:r>
              <a:rPr lang="en-US" dirty="0" smtClean="0"/>
              <a:t>90 days to complete deficient hours and pay a fine for per deficient hour, if conditions are not met in 90 days then license will become inactive.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0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Notify Texas department of insurance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Notify TDI on a monthly basis</a:t>
            </a:r>
          </a:p>
          <a:p>
            <a:r>
              <a:rPr lang="en-US" dirty="0" smtClean="0"/>
              <a:t>A change in their mailing address</a:t>
            </a:r>
          </a:p>
          <a:p>
            <a:r>
              <a:rPr lang="en-US" dirty="0" smtClean="0"/>
              <a:t>A felony </a:t>
            </a:r>
            <a:r>
              <a:rPr lang="en-US" dirty="0" err="1" smtClean="0"/>
              <a:t>convction</a:t>
            </a:r>
            <a:endParaRPr lang="en-US" dirty="0" smtClean="0"/>
          </a:p>
          <a:p>
            <a:r>
              <a:rPr lang="en-US" dirty="0" smtClean="0"/>
              <a:t>Administrative action taken against license agent by insurance or regulator</a:t>
            </a:r>
          </a:p>
          <a:p>
            <a:endParaRPr lang="en-US" dirty="0"/>
          </a:p>
          <a:p>
            <a:r>
              <a:rPr lang="en-US" dirty="0" smtClean="0"/>
              <a:t>A licensee cannot act an agent unless they are appointed by a designated insurance company</a:t>
            </a:r>
          </a:p>
          <a:p>
            <a:r>
              <a:rPr lang="en-US" dirty="0" smtClean="0"/>
              <a:t>If insurance company terminates an agent must immediately file with commissioner, a statement of fact related to the termination, date </a:t>
            </a:r>
            <a:r>
              <a:rPr lang="en-US" smtClean="0"/>
              <a:t>and cause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0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- 3</a:t>
            </a:r>
            <a:endParaRPr lang="en-US" dirty="0"/>
          </a:p>
        </p:txBody>
      </p:sp>
      <p:graphicFrame>
        <p:nvGraphicFramePr>
          <p:cNvPr id="5" name="Content Placeholder 4" descr="Vertical circle list showing two list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757827"/>
              </p:ext>
            </p:extLst>
          </p:nvPr>
        </p:nvGraphicFramePr>
        <p:xfrm>
          <a:off x="1217613" y="1828800"/>
          <a:ext cx="97536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46212" y="2209800"/>
            <a:ext cx="10363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A </a:t>
            </a:r>
            <a:r>
              <a:rPr lang="en-US" sz="2400" dirty="0" err="1" smtClean="0"/>
              <a:t>texas</a:t>
            </a:r>
            <a:r>
              <a:rPr lang="en-US" sz="2400" dirty="0" smtClean="0"/>
              <a:t> resident agent seeking to sell insurance to clients in another state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 smtClean="0"/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2400" dirty="0" smtClean="0"/>
              <a:t>A certificate of authority in that state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2400" dirty="0" smtClean="0"/>
              <a:t>  A non resident license in that state.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2400" dirty="0" smtClean="0"/>
              <a:t>A foreign agents license in that state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2400" dirty="0" smtClean="0"/>
              <a:t>A resident license in that state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endParaRPr lang="en-US" sz="2400" dirty="0"/>
          </a:p>
          <a:p>
            <a:pPr marL="457200" indent="-457200">
              <a:lnSpc>
                <a:spcPct val="90000"/>
              </a:lnSpc>
              <a:buAutoNum type="arabicPeriod"/>
            </a:pPr>
            <a:endParaRPr lang="en-US" sz="2400" dirty="0" smtClean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0930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insurance company provider who conducts insurance in Texas but whose articles of incorporation are registered in Canada  is considered what type of insurer?</a:t>
            </a:r>
          </a:p>
          <a:p>
            <a:endParaRPr lang="en-US" dirty="0" smtClean="0"/>
          </a:p>
          <a:p>
            <a:pPr marL="502920" indent="-457200">
              <a:buAutoNum type="arabicPeriod"/>
            </a:pPr>
            <a:r>
              <a:rPr lang="en-US" dirty="0" smtClean="0"/>
              <a:t>Foreign</a:t>
            </a:r>
          </a:p>
          <a:p>
            <a:pPr marL="502920" indent="-457200">
              <a:buAutoNum type="arabicPeriod"/>
            </a:pPr>
            <a:r>
              <a:rPr lang="en-US" dirty="0" smtClean="0"/>
              <a:t>  Alien.</a:t>
            </a:r>
          </a:p>
          <a:p>
            <a:pPr marL="502920" indent="-457200">
              <a:buAutoNum type="arabicPeriod"/>
            </a:pPr>
            <a:r>
              <a:rPr lang="en-US" dirty="0" smtClean="0"/>
              <a:t>Unauthorized</a:t>
            </a:r>
          </a:p>
          <a:p>
            <a:pPr marL="502920" indent="-457200">
              <a:buAutoNum type="arabicPeriod"/>
            </a:pPr>
            <a:r>
              <a:rPr lang="en-US" dirty="0" smtClean="0"/>
              <a:t>Surplus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75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Insurance providers cannot conduct insurance business in Texas with out a</a:t>
            </a:r>
          </a:p>
          <a:p>
            <a:endParaRPr lang="en-US" dirty="0"/>
          </a:p>
          <a:p>
            <a:r>
              <a:rPr lang="en-US" dirty="0" smtClean="0"/>
              <a:t>1. Certificate of insurance</a:t>
            </a:r>
          </a:p>
          <a:p>
            <a:r>
              <a:rPr lang="en-US" dirty="0" smtClean="0"/>
              <a:t>2. Letter of clearance</a:t>
            </a:r>
          </a:p>
          <a:p>
            <a:r>
              <a:rPr lang="en-US" dirty="0" smtClean="0"/>
              <a:t>3.   Certificate of authority.</a:t>
            </a:r>
          </a:p>
          <a:p>
            <a:r>
              <a:rPr lang="en-US" dirty="0" smtClean="0"/>
              <a:t>4. Broker’s license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70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insurance company is owned by the </a:t>
            </a:r>
            <a:r>
              <a:rPr lang="en-US" dirty="0" err="1" smtClean="0"/>
              <a:t>policyowner</a:t>
            </a:r>
            <a:r>
              <a:rPr lang="en-US" dirty="0" smtClean="0"/>
              <a:t> is called a 	</a:t>
            </a:r>
          </a:p>
          <a:p>
            <a:endParaRPr lang="en-US" dirty="0"/>
          </a:p>
          <a:p>
            <a:r>
              <a:rPr lang="en-US" dirty="0" smtClean="0"/>
              <a:t>1.   Mutual insurer.</a:t>
            </a:r>
          </a:p>
          <a:p>
            <a:r>
              <a:rPr lang="en-US" dirty="0" smtClean="0"/>
              <a:t>2. Fraternal insurer</a:t>
            </a:r>
          </a:p>
          <a:p>
            <a:r>
              <a:rPr lang="en-US" dirty="0" smtClean="0"/>
              <a:t>3. Stock insurer</a:t>
            </a:r>
          </a:p>
          <a:p>
            <a:r>
              <a:rPr lang="en-US" dirty="0" smtClean="0"/>
              <a:t>4 Reciprocal insurer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insurer that operates for one or more charitable religious educational social or benevolent purposes for the benefit of its member is known as a</a:t>
            </a:r>
          </a:p>
          <a:p>
            <a:endParaRPr lang="en-US" dirty="0"/>
          </a:p>
          <a:p>
            <a:r>
              <a:rPr lang="en-US" dirty="0" smtClean="0"/>
              <a:t>1. Fraternal insurer.</a:t>
            </a:r>
          </a:p>
          <a:p>
            <a:r>
              <a:rPr lang="en-US" dirty="0" smtClean="0"/>
              <a:t>2. Mutual Insurer</a:t>
            </a:r>
          </a:p>
          <a:p>
            <a:r>
              <a:rPr lang="en-US" dirty="0" smtClean="0"/>
              <a:t>3. Reciprocal insurer</a:t>
            </a:r>
          </a:p>
          <a:p>
            <a:r>
              <a:rPr lang="en-US" dirty="0" smtClean="0"/>
              <a:t>4. stock insurer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792162"/>
          </a:xfrm>
        </p:spPr>
        <p:txBody>
          <a:bodyPr/>
          <a:lstStyle/>
          <a:p>
            <a:r>
              <a:rPr lang="en-US" dirty="0" smtClean="0"/>
              <a:t>Question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200" dirty="0"/>
              <a:t>An agent completed a CE course in 2019. Until what year must the agent keep the records of completion?</a:t>
            </a:r>
          </a:p>
          <a:p>
            <a:endParaRPr lang="en-US" sz="4200" dirty="0"/>
          </a:p>
          <a:p>
            <a:r>
              <a:rPr lang="en-US" sz="4200" dirty="0"/>
              <a:t>2020</a:t>
            </a:r>
          </a:p>
          <a:p>
            <a:r>
              <a:rPr lang="en-US" sz="4200" dirty="0" smtClean="0"/>
              <a:t>2023.</a:t>
            </a:r>
            <a:endParaRPr lang="en-US" sz="4200" dirty="0"/>
          </a:p>
          <a:p>
            <a:r>
              <a:rPr lang="en-US" sz="4200" dirty="0" smtClean="0"/>
              <a:t>2024</a:t>
            </a:r>
            <a:endParaRPr lang="en-US" sz="4200" dirty="0"/>
          </a:p>
          <a:p>
            <a:r>
              <a:rPr lang="en-US" sz="4200" dirty="0" smtClean="0"/>
              <a:t>2029</a:t>
            </a:r>
            <a:endParaRPr lang="en-US" sz="4200" dirty="0"/>
          </a:p>
          <a:p>
            <a:endParaRPr lang="en-US" sz="4200" dirty="0"/>
          </a:p>
          <a:p>
            <a:r>
              <a:rPr lang="en-US" sz="4200" dirty="0"/>
              <a:t>Producers must maintain records of completion of continuing education courses for 4 years from the date of the course completion.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51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T</a:t>
            </a:r>
            <a:r>
              <a:rPr lang="en-US" dirty="0" smtClean="0"/>
              <a:t>exas how is the commissioner of insurance put into the office</a:t>
            </a:r>
          </a:p>
          <a:p>
            <a:endParaRPr lang="en-US" dirty="0"/>
          </a:p>
          <a:p>
            <a:r>
              <a:rPr lang="en-US" dirty="0" smtClean="0"/>
              <a:t>1. Appointed by the president for the period of two years</a:t>
            </a:r>
          </a:p>
          <a:p>
            <a:r>
              <a:rPr lang="en-US" dirty="0" smtClean="0"/>
              <a:t>2. Appointed the by the governor for the period of 4 year</a:t>
            </a:r>
          </a:p>
          <a:p>
            <a:r>
              <a:rPr lang="en-US" dirty="0" smtClean="0"/>
              <a:t>3. Appointed the senate the period of 2 year term</a:t>
            </a:r>
          </a:p>
          <a:p>
            <a:r>
              <a:rPr lang="en-US" dirty="0" smtClean="0"/>
              <a:t>4. Appointed the governor for the period of 2 year term.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73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10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insurer incorporated in which of the following locations would be considered a foreign insurer in Washington D.C.</a:t>
            </a:r>
          </a:p>
          <a:p>
            <a:endParaRPr lang="en-US" dirty="0"/>
          </a:p>
          <a:p>
            <a:r>
              <a:rPr lang="en-US" dirty="0" smtClean="0"/>
              <a:t>1. Mexico</a:t>
            </a:r>
          </a:p>
          <a:p>
            <a:r>
              <a:rPr lang="en-US" dirty="0" smtClean="0"/>
              <a:t>2. Canada</a:t>
            </a:r>
          </a:p>
          <a:p>
            <a:r>
              <a:rPr lang="en-US" dirty="0" smtClean="0"/>
              <a:t>3. Washington D.C</a:t>
            </a:r>
          </a:p>
          <a:p>
            <a:r>
              <a:rPr lang="en-US" dirty="0" smtClean="0"/>
              <a:t>4. Maryland</a:t>
            </a:r>
          </a:p>
        </p:txBody>
      </p:sp>
    </p:spTree>
    <p:extLst>
      <p:ext uri="{BB962C8B-B14F-4D97-AF65-F5344CB8AC3E}">
        <p14:creationId xmlns:p14="http://schemas.microsoft.com/office/powerpoint/2010/main" val="286307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11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state of </a:t>
            </a:r>
            <a:r>
              <a:rPr lang="en-US" dirty="0"/>
              <a:t>T</a:t>
            </a:r>
            <a:r>
              <a:rPr lang="en-US" dirty="0" smtClean="0"/>
              <a:t>exas the state ‘s continuing education requirement </a:t>
            </a:r>
          </a:p>
          <a:p>
            <a:endParaRPr lang="en-US" dirty="0"/>
          </a:p>
          <a:p>
            <a:r>
              <a:rPr lang="en-US" dirty="0" smtClean="0"/>
              <a:t>1. Consists of completing 24 hours of CE every 2 years.</a:t>
            </a:r>
          </a:p>
          <a:p>
            <a:r>
              <a:rPr lang="en-US" dirty="0" smtClean="0"/>
              <a:t>2. Must be completed by all licensed agents, resident and non resident</a:t>
            </a:r>
          </a:p>
          <a:p>
            <a:r>
              <a:rPr lang="en-US" dirty="0" smtClean="0"/>
              <a:t>3. Must not be extended or waived in any condition</a:t>
            </a:r>
          </a:p>
          <a:p>
            <a:r>
              <a:rPr lang="en-US" dirty="0" smtClean="0"/>
              <a:t>4. Applies to life, death, accident, health and annuity license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0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792162"/>
          </a:xfrm>
        </p:spPr>
        <p:txBody>
          <a:bodyPr/>
          <a:lstStyle/>
          <a:p>
            <a:r>
              <a:rPr lang="en-US" dirty="0" err="1" smtClean="0"/>
              <a:t>Inventigation</a:t>
            </a:r>
            <a:r>
              <a:rPr lang="en-US" dirty="0" smtClean="0"/>
              <a:t>, hearings and </a:t>
            </a:r>
            <a:r>
              <a:rPr lang="en-US" dirty="0" err="1" smtClean="0"/>
              <a:t>penalities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614" y="1066800"/>
            <a:ext cx="97536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Licensed agent involves in unfair trade practice – may server emergency cease  and desist order by registered mail </a:t>
            </a:r>
          </a:p>
          <a:p>
            <a:r>
              <a:rPr lang="en-US" dirty="0" smtClean="0"/>
              <a:t>- order must state charges </a:t>
            </a:r>
          </a:p>
          <a:p>
            <a:r>
              <a:rPr lang="en-US" dirty="0" smtClean="0"/>
              <a:t>- person must stop committing the acts, practices or method of violation</a:t>
            </a:r>
          </a:p>
          <a:p>
            <a:r>
              <a:rPr lang="en-US" dirty="0" smtClean="0"/>
              <a:t>- Penalty $1000 for each violation or $5000 for all violations</a:t>
            </a:r>
          </a:p>
          <a:p>
            <a:r>
              <a:rPr lang="en-US" dirty="0" smtClean="0"/>
              <a:t>In addition to revocation of license or suspension of license can levy any or all:</a:t>
            </a:r>
          </a:p>
          <a:p>
            <a:r>
              <a:rPr lang="en-US" dirty="0"/>
              <a:t> </a:t>
            </a:r>
            <a:r>
              <a:rPr lang="en-US" dirty="0" smtClean="0"/>
              <a:t>    order the payment of an administrative penalty and/or</a:t>
            </a:r>
          </a:p>
          <a:p>
            <a:r>
              <a:rPr lang="en-US" dirty="0"/>
              <a:t> </a:t>
            </a:r>
            <a:r>
              <a:rPr lang="en-US" dirty="0" smtClean="0"/>
              <a:t>     order the license to make complete restitution</a:t>
            </a:r>
          </a:p>
          <a:p>
            <a:r>
              <a:rPr lang="en-US" dirty="0" smtClean="0"/>
              <a:t>Violation cannot exceed $25000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7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te histo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e history report presentation.potx" id="{CE65B12B-E5CF-4B7F-891B-BF19DA46421A}" vid="{73D5F891-C0F2-461A-8D6B-932929F672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State history report presentation</Template>
  <TotalTime>3197</TotalTime>
  <Words>1157</Words>
  <Application>Microsoft Office PowerPoint</Application>
  <PresentationFormat>Custom</PresentationFormat>
  <Paragraphs>165</Paragraphs>
  <Slides>21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State history report presentation</vt:lpstr>
      <vt:lpstr>Texas Life and health</vt:lpstr>
      <vt:lpstr>Types of insurer - An insurer or principal is the organization/company issues policy</vt:lpstr>
      <vt:lpstr>Stock and Mutual compnanies</vt:lpstr>
      <vt:lpstr>Commissioner of Insurance</vt:lpstr>
      <vt:lpstr>Question - 1</vt:lpstr>
      <vt:lpstr>answer</vt:lpstr>
      <vt:lpstr>Question - 2</vt:lpstr>
      <vt:lpstr>Answer</vt:lpstr>
      <vt:lpstr>Types of license</vt:lpstr>
      <vt:lpstr>Continuing education</vt:lpstr>
      <vt:lpstr>Notify Texas department of insurance</vt:lpstr>
      <vt:lpstr>Question - 3</vt:lpstr>
      <vt:lpstr>Question 4</vt:lpstr>
      <vt:lpstr>Question 5</vt:lpstr>
      <vt:lpstr>Question 6</vt:lpstr>
      <vt:lpstr>Question 7</vt:lpstr>
      <vt:lpstr>Question 8</vt:lpstr>
      <vt:lpstr>Question 9</vt:lpstr>
      <vt:lpstr>Question 10 </vt:lpstr>
      <vt:lpstr>Question 11</vt:lpstr>
      <vt:lpstr>Inventigation, hearings and penalities</vt:lpstr>
    </vt:vector>
  </TitlesOfParts>
  <Company>CommVault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Life and health</dc:title>
  <dc:creator>Raheel Khan</dc:creator>
  <cp:lastModifiedBy>Raheel Khan</cp:lastModifiedBy>
  <cp:revision>55</cp:revision>
  <dcterms:created xsi:type="dcterms:W3CDTF">2022-02-14T20:57:39Z</dcterms:created>
  <dcterms:modified xsi:type="dcterms:W3CDTF">2022-02-24T22:11:58Z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