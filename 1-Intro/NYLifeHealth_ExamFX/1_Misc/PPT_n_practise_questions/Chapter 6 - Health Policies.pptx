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7"/>
  </p:notesMasterIdLst>
  <p:handoutMasterIdLst>
    <p:handoutMasterId r:id="rId48"/>
  </p:handoutMasterIdLst>
  <p:sldIdLst>
    <p:sldId id="269" r:id="rId2"/>
    <p:sldId id="270" r:id="rId3"/>
    <p:sldId id="278" r:id="rId4"/>
    <p:sldId id="279" r:id="rId5"/>
    <p:sldId id="280" r:id="rId6"/>
    <p:sldId id="284" r:id="rId7"/>
    <p:sldId id="286" r:id="rId8"/>
    <p:sldId id="281" r:id="rId9"/>
    <p:sldId id="282" r:id="rId10"/>
    <p:sldId id="283" r:id="rId11"/>
    <p:sldId id="285" r:id="rId12"/>
    <p:sldId id="287" r:id="rId13"/>
    <p:sldId id="288" r:id="rId14"/>
    <p:sldId id="300" r:id="rId15"/>
    <p:sldId id="301" r:id="rId16"/>
    <p:sldId id="303" r:id="rId17"/>
    <p:sldId id="302" r:id="rId18"/>
    <p:sldId id="304" r:id="rId19"/>
    <p:sldId id="306" r:id="rId20"/>
    <p:sldId id="307" r:id="rId21"/>
    <p:sldId id="308" r:id="rId22"/>
    <p:sldId id="309" r:id="rId23"/>
    <p:sldId id="310" r:id="rId24"/>
    <p:sldId id="311" r:id="rId25"/>
    <p:sldId id="312" r:id="rId26"/>
    <p:sldId id="313" r:id="rId27"/>
    <p:sldId id="314" r:id="rId28"/>
    <p:sldId id="315" r:id="rId29"/>
    <p:sldId id="316" r:id="rId30"/>
    <p:sldId id="317" r:id="rId31"/>
    <p:sldId id="305" r:id="rId32"/>
    <p:sldId id="290" r:id="rId33"/>
    <p:sldId id="291" r:id="rId34"/>
    <p:sldId id="292" r:id="rId35"/>
    <p:sldId id="289" r:id="rId36"/>
    <p:sldId id="299" r:id="rId37"/>
    <p:sldId id="293" r:id="rId38"/>
    <p:sldId id="294" r:id="rId39"/>
    <p:sldId id="295" r:id="rId40"/>
    <p:sldId id="296" r:id="rId41"/>
    <p:sldId id="297" r:id="rId42"/>
    <p:sldId id="298" r:id="rId43"/>
    <p:sldId id="318" r:id="rId44"/>
    <p:sldId id="319" r:id="rId45"/>
    <p:sldId id="320" r:id="rId4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p:cViewPr varScale="1">
        <p:scale>
          <a:sx n="72" d="100"/>
          <a:sy n="72" d="100"/>
        </p:scale>
        <p:origin x="331" y="67"/>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5/13/2022</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5/13/2022</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401524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smtClean="0"/>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5/13/2022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5/13/2022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smtClean="0"/>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5/13/2022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5/13/2022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5/13/2022</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5/13/2022</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5/13/2022</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5/13/2022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5/13/2022</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5/13/2022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5/13/2022</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5/13/2022</a:t>
            </a:fld>
            <a:endParaRPr lang="en-US" dirty="0"/>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Chapter 6</a:t>
            </a:r>
            <a:endParaRPr lang="en-US" dirty="0"/>
          </a:p>
        </p:txBody>
      </p:sp>
      <p:sp>
        <p:nvSpPr>
          <p:cNvPr id="5" name="Subtitle 4"/>
          <p:cNvSpPr>
            <a:spLocks noGrp="1"/>
          </p:cNvSpPr>
          <p:nvPr>
            <p:ph type="subTitle" idx="1"/>
          </p:nvPr>
        </p:nvSpPr>
        <p:spPr/>
        <p:txBody>
          <a:bodyPr/>
          <a:lstStyle/>
          <a:p>
            <a:r>
              <a:rPr lang="en-US" dirty="0" smtClean="0"/>
              <a:t>Health Policies |Medical </a:t>
            </a:r>
            <a:r>
              <a:rPr lang="en-US" dirty="0" err="1" smtClean="0"/>
              <a:t>Insurance|Disability</a:t>
            </a:r>
            <a:r>
              <a:rPr lang="en-US" dirty="0" smtClean="0"/>
              <a:t> Income</a:t>
            </a:r>
            <a:endParaRPr lang="en-US" dirty="0"/>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217614" y="274638"/>
            <a:ext cx="9753600" cy="792162"/>
          </a:xfrm>
        </p:spPr>
        <p:txBody>
          <a:bodyPr/>
          <a:lstStyle/>
          <a:p>
            <a:r>
              <a:rPr lang="en-US" dirty="0" smtClean="0"/>
              <a:t>Basic Policies </a:t>
            </a:r>
            <a:endParaRPr lang="en-US" dirty="0"/>
          </a:p>
        </p:txBody>
      </p:sp>
      <p:sp>
        <p:nvSpPr>
          <p:cNvPr id="2" name="Content Placeholder 1"/>
          <p:cNvSpPr>
            <a:spLocks noGrp="1"/>
          </p:cNvSpPr>
          <p:nvPr>
            <p:ph idx="1"/>
          </p:nvPr>
        </p:nvSpPr>
        <p:spPr>
          <a:xfrm>
            <a:off x="150812" y="1066800"/>
            <a:ext cx="11963400" cy="5638800"/>
          </a:xfrm>
        </p:spPr>
        <p:txBody>
          <a:bodyPr>
            <a:normAutofit fontScale="92500" lnSpcReduction="10000"/>
          </a:bodyPr>
          <a:lstStyle/>
          <a:p>
            <a:r>
              <a:rPr lang="en-US" dirty="0" smtClean="0"/>
              <a:t>Basic hospital, surgical and medical policies and major policies </a:t>
            </a:r>
          </a:p>
          <a:p>
            <a:r>
              <a:rPr lang="en-US" dirty="0" smtClean="0"/>
              <a:t>Hospital expense: hospital expense polices over hospital room and board charges and miscellaneous hospital expenses including expenses, lab and x-ray charges, use of operating room and supplies while insured is confined in the hospital.</a:t>
            </a:r>
          </a:p>
          <a:p>
            <a:r>
              <a:rPr lang="en-US" dirty="0" smtClean="0"/>
              <a:t>Limit: The limits on room and board are set at a specific dollar amount of hospital room and board costs incurred by insured</a:t>
            </a:r>
          </a:p>
          <a:p>
            <a:r>
              <a:rPr lang="en-US" dirty="0" smtClean="0"/>
              <a:t>For example if hospital expense benefit was $500 per day but hospital expense is $600 per day, so insured will pay $100.</a:t>
            </a:r>
          </a:p>
          <a:p>
            <a:r>
              <a:rPr lang="en-US" dirty="0" smtClean="0"/>
              <a:t>Basic medical expense coverage is also known as basic physicians nonsurgical expense coverage because it offers coverage fro nonsurgical services a physician provides.</a:t>
            </a:r>
          </a:p>
          <a:p>
            <a:r>
              <a:rPr lang="en-US" dirty="0" smtClean="0"/>
              <a:t>In addition non surgical physical expenses, basic medical coverage can be purchased to cover maternity benefits emergency accident benefits mental and nervous disorders home health care, hospice care, outpatient care, and nurses expenses. </a:t>
            </a:r>
            <a:endParaRPr lang="en-US" dirty="0"/>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Surgical Expense</a:t>
            </a:r>
            <a:endParaRPr lang="en-US" dirty="0"/>
          </a:p>
        </p:txBody>
      </p:sp>
      <p:sp>
        <p:nvSpPr>
          <p:cNvPr id="3" name="Content Placeholder 2"/>
          <p:cNvSpPr>
            <a:spLocks noGrp="1"/>
          </p:cNvSpPr>
          <p:nvPr>
            <p:ph idx="1"/>
          </p:nvPr>
        </p:nvSpPr>
        <p:spPr>
          <a:xfrm>
            <a:off x="303212" y="1143000"/>
            <a:ext cx="10668002" cy="5029200"/>
          </a:xfrm>
        </p:spPr>
        <p:txBody>
          <a:bodyPr>
            <a:normAutofit fontScale="92500"/>
          </a:bodyPr>
          <a:lstStyle/>
          <a:p>
            <a:r>
              <a:rPr lang="en-US" dirty="0" smtClean="0"/>
              <a:t>This kind of coverage is written together with the hospital expense policies.</a:t>
            </a:r>
          </a:p>
          <a:p>
            <a:r>
              <a:rPr lang="en-US" dirty="0" smtClean="0"/>
              <a:t>Policy covers the cost of surgeons, services, whether surgery is performed in or out of the hospital, this policy covers surgeons fee, an anesthesiologist, operating room when it is not paid as a miscellaneous medical item.</a:t>
            </a:r>
          </a:p>
          <a:p>
            <a:r>
              <a:rPr lang="en-US" dirty="0" smtClean="0"/>
              <a:t>For other types of basic medical coverage there is no deductible but coverage is limited.</a:t>
            </a:r>
          </a:p>
          <a:p>
            <a:r>
              <a:rPr lang="en-US" dirty="0" smtClean="0"/>
              <a:t>Special schedule may list a specified amount, express the amount payable as a percentage of the maximum benefit or assign a relative value that is multiplied by its conversion factor.</a:t>
            </a:r>
          </a:p>
          <a:p>
            <a:r>
              <a:rPr lang="en-US" dirty="0" smtClean="0"/>
              <a:t>If 10 was the conversion factor the policy would pay $2000 (200 x 10) for the appendectomy and the maximum benefit of $10000 (1000 x 10) for the heart surgery</a:t>
            </a:r>
            <a:endParaRPr lang="en-US" dirty="0"/>
          </a:p>
        </p:txBody>
      </p:sp>
    </p:spTree>
    <p:extLst>
      <p:ext uri="{BB962C8B-B14F-4D97-AF65-F5344CB8AC3E}">
        <p14:creationId xmlns:p14="http://schemas.microsoft.com/office/powerpoint/2010/main" val="4178098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Major medical policies</a:t>
            </a:r>
            <a:endParaRPr lang="en-US" dirty="0"/>
          </a:p>
        </p:txBody>
      </p:sp>
      <p:sp>
        <p:nvSpPr>
          <p:cNvPr id="3" name="Content Placeholder 2"/>
          <p:cNvSpPr>
            <a:spLocks noGrp="1"/>
          </p:cNvSpPr>
          <p:nvPr>
            <p:ph idx="1"/>
          </p:nvPr>
        </p:nvSpPr>
        <p:spPr>
          <a:xfrm>
            <a:off x="150812" y="914400"/>
            <a:ext cx="11734800" cy="5715000"/>
          </a:xfrm>
        </p:spPr>
        <p:txBody>
          <a:bodyPr/>
          <a:lstStyle/>
          <a:p>
            <a:r>
              <a:rPr lang="en-US" dirty="0" smtClean="0"/>
              <a:t>Following is covered under basic medical expense policies:</a:t>
            </a:r>
          </a:p>
          <a:p>
            <a:r>
              <a:rPr lang="en-US" dirty="0" smtClean="0"/>
              <a:t>Comprehensive coverage for hospital expenses  (physicians services nursing services room board and miscellaneous expenses</a:t>
            </a:r>
          </a:p>
          <a:p>
            <a:r>
              <a:rPr lang="en-US" dirty="0" smtClean="0"/>
              <a:t>Catastrophic medical expense protection</a:t>
            </a:r>
          </a:p>
          <a:p>
            <a:r>
              <a:rPr lang="en-US" dirty="0" smtClean="0"/>
              <a:t>Benefits for prolonged illness of injury</a:t>
            </a:r>
          </a:p>
          <a:p>
            <a:r>
              <a:rPr lang="en-US" dirty="0" smtClean="0"/>
              <a:t>Supplemental major medical can be purchased to supplemental the coverage payable under a basic medical </a:t>
            </a:r>
            <a:r>
              <a:rPr lang="en-US" dirty="0" err="1" smtClean="0"/>
              <a:t>espense</a:t>
            </a:r>
            <a:r>
              <a:rPr lang="en-US" dirty="0" smtClean="0"/>
              <a:t> policy.</a:t>
            </a:r>
          </a:p>
          <a:p>
            <a:r>
              <a:rPr lang="en-US" dirty="0" smtClean="0"/>
              <a:t>The basic expense policy does not have a deductible and will provide coverage on a first dollar basis. After he limits of the basic coverage is exhausted, the insured is required to pay a corridor deductible before the major medical coverage will pay the benefits. The corridor deductible is applied between the basic policy and the major medical policy.</a:t>
            </a:r>
            <a:endParaRPr lang="en-US" dirty="0"/>
          </a:p>
        </p:txBody>
      </p:sp>
    </p:spTree>
    <p:extLst>
      <p:ext uri="{BB962C8B-B14F-4D97-AF65-F5344CB8AC3E}">
        <p14:creationId xmlns:p14="http://schemas.microsoft.com/office/powerpoint/2010/main" val="77248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normAutofit fontScale="90000"/>
          </a:bodyPr>
          <a:lstStyle/>
          <a:p>
            <a:r>
              <a:rPr lang="en-US" dirty="0" smtClean="0"/>
              <a:t>Health Maintenance Organization HMO</a:t>
            </a:r>
            <a:endParaRPr lang="en-US" dirty="0"/>
          </a:p>
        </p:txBody>
      </p:sp>
      <p:sp>
        <p:nvSpPr>
          <p:cNvPr id="3" name="Content Placeholder 2"/>
          <p:cNvSpPr>
            <a:spLocks noGrp="1"/>
          </p:cNvSpPr>
          <p:nvPr>
            <p:ph idx="1"/>
          </p:nvPr>
        </p:nvSpPr>
        <p:spPr>
          <a:xfrm>
            <a:off x="303212" y="1295400"/>
            <a:ext cx="11734800" cy="5334000"/>
          </a:xfrm>
        </p:spPr>
        <p:txBody>
          <a:bodyPr>
            <a:normAutofit fontScale="92500" lnSpcReduction="10000"/>
          </a:bodyPr>
          <a:lstStyle/>
          <a:p>
            <a:r>
              <a:rPr lang="en-US" dirty="0" smtClean="0"/>
              <a:t>Act of 1973, require employers with more than 25 employees to offer HMO as an alternative to their regular health insurance plans.</a:t>
            </a:r>
          </a:p>
          <a:p>
            <a:r>
              <a:rPr lang="en-US" dirty="0" smtClean="0"/>
              <a:t>Preventive care services: HMO acts primary goal to lower the cost of health care by utilizing preventive care. </a:t>
            </a:r>
          </a:p>
          <a:p>
            <a:r>
              <a:rPr lang="en-US" dirty="0" smtClean="0"/>
              <a:t>Offer free annual checkups for the entire family, through these visits the HMO hope to identify diseases in the early stages</a:t>
            </a:r>
          </a:p>
          <a:p>
            <a:r>
              <a:rPr lang="en-US" dirty="0" smtClean="0"/>
              <a:t>HMO concept is to offers both patient care and financing for its members.</a:t>
            </a:r>
          </a:p>
          <a:p>
            <a:r>
              <a:rPr lang="en-US" dirty="0"/>
              <a:t>HMO contact outside physician to deliver the health care </a:t>
            </a:r>
            <a:r>
              <a:rPr lang="en-US" dirty="0" err="1"/>
              <a:t>seervice</a:t>
            </a:r>
            <a:r>
              <a:rPr lang="en-US" dirty="0"/>
              <a:t> to their subscribers pay those providers on a </a:t>
            </a:r>
            <a:r>
              <a:rPr lang="en-US" b="1" dirty="0"/>
              <a:t>capitation basis</a:t>
            </a:r>
            <a:endParaRPr lang="en-US" dirty="0"/>
          </a:p>
          <a:p>
            <a:r>
              <a:rPr lang="en-US" dirty="0"/>
              <a:t> Cost plans are also a type of HMO plan that gets reimbursed on a cost basis rather than on a capitated, or per head, amount. And, Private Fee-for-Service Plans offer a Medicare approved private insurance plan where Medicare will pay the plan for Medicare approved services while the PFFS determines, up </a:t>
            </a:r>
            <a:r>
              <a:rPr lang="en-US" dirty="0" smtClean="0"/>
              <a:t>to  a </a:t>
            </a:r>
            <a:r>
              <a:rPr lang="en-US" dirty="0"/>
              <a:t>limit, how much the participant must pay</a:t>
            </a:r>
          </a:p>
          <a:p>
            <a:endParaRPr lang="en-US" dirty="0"/>
          </a:p>
          <a:p>
            <a:endParaRPr lang="en-US" dirty="0" smtClean="0"/>
          </a:p>
        </p:txBody>
      </p:sp>
    </p:spTree>
    <p:extLst>
      <p:ext uri="{BB962C8B-B14F-4D97-AF65-F5344CB8AC3E}">
        <p14:creationId xmlns:p14="http://schemas.microsoft.com/office/powerpoint/2010/main" val="423796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812" y="304800"/>
            <a:ext cx="11963402" cy="6324600"/>
          </a:xfrm>
        </p:spPr>
        <p:txBody>
          <a:bodyPr>
            <a:normAutofit fontScale="85000" lnSpcReduction="10000"/>
          </a:bodyPr>
          <a:lstStyle/>
          <a:p>
            <a:r>
              <a:rPr lang="en-US" dirty="0" smtClean="0"/>
              <a:t>Limited service area: If a individual living in specific geographic area within the boundaries they are eligible to enroll in HMO, if they do not live within the boundaries they are ineligible</a:t>
            </a:r>
          </a:p>
          <a:p>
            <a:r>
              <a:rPr lang="en-US" dirty="0" smtClean="0"/>
              <a:t>Limited Choice of providers: HMO tries to limit costs by only offering care from physicians that meet their standards and are willing to provide care at a pre-negotiated price.</a:t>
            </a:r>
          </a:p>
          <a:p>
            <a:r>
              <a:rPr lang="en-US" dirty="0" err="1" smtClean="0"/>
              <a:t>CoPayments</a:t>
            </a:r>
            <a:r>
              <a:rPr lang="en-US" dirty="0" smtClean="0"/>
              <a:t>: it’s a flat dollar amount or a specific part of the cost that must be paid by the member, member have to pay flat charge $5, $10, $15  or more each doctor visit.</a:t>
            </a:r>
          </a:p>
          <a:p>
            <a:r>
              <a:rPr lang="en-US" dirty="0" smtClean="0"/>
              <a:t>Prepaid Basis: HMOs operate on capitated basis, meaning HMO receives a flat amount each month attributed to each member whether they see a doctor or not.</a:t>
            </a:r>
          </a:p>
          <a:p>
            <a:r>
              <a:rPr lang="en-US" dirty="0" smtClean="0"/>
              <a:t>Primary care physician vs. Referral Specialty physician: Care is provided to the HMOs members by a limited number of physicians that are approved to practice in the HMO.</a:t>
            </a:r>
          </a:p>
          <a:p>
            <a:r>
              <a:rPr lang="en-US" dirty="0" smtClean="0"/>
              <a:t>PCP Primary care physician: A member can select primary care physician or gatekeeper. This PCP is primary physician is responsible for the member whether a service is provided or not on a regular basis.</a:t>
            </a:r>
          </a:p>
          <a:p>
            <a:r>
              <a:rPr lang="en-US" dirty="0" smtClean="0"/>
              <a:t>Referral Specialty physician: If a member wants to see a specialist, PCP will do the referral to control the cost.</a:t>
            </a:r>
          </a:p>
          <a:p>
            <a:r>
              <a:rPr lang="en-US" dirty="0" smtClean="0"/>
              <a:t>Hospital services and emergency care: HMO offers member impatient hospital care in or out or the service area. The services are limited for the treatment of mental emotional or nervous disorders including drug or alcohol treatment or rehabilitation.</a:t>
            </a:r>
          </a:p>
        </p:txBody>
      </p:sp>
    </p:spTree>
    <p:extLst>
      <p:ext uri="{BB962C8B-B14F-4D97-AF65-F5344CB8AC3E}">
        <p14:creationId xmlns:p14="http://schemas.microsoft.com/office/powerpoint/2010/main" val="2725116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endParaRPr lang="en-US" dirty="0"/>
          </a:p>
        </p:txBody>
      </p:sp>
      <p:sp>
        <p:nvSpPr>
          <p:cNvPr id="3" name="Content Placeholder 2"/>
          <p:cNvSpPr>
            <a:spLocks noGrp="1"/>
          </p:cNvSpPr>
          <p:nvPr>
            <p:ph idx="1"/>
          </p:nvPr>
        </p:nvSpPr>
        <p:spPr>
          <a:xfrm>
            <a:off x="1217614" y="1219200"/>
            <a:ext cx="9753600" cy="4953000"/>
          </a:xfrm>
        </p:spPr>
        <p:txBody>
          <a:bodyPr/>
          <a:lstStyle/>
          <a:p>
            <a:endParaRPr lang="en-US" dirty="0"/>
          </a:p>
        </p:txBody>
      </p:sp>
    </p:spTree>
    <p:extLst>
      <p:ext uri="{BB962C8B-B14F-4D97-AF65-F5344CB8AC3E}">
        <p14:creationId xmlns:p14="http://schemas.microsoft.com/office/powerpoint/2010/main" val="1502402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150812" y="914400"/>
            <a:ext cx="11887200" cy="5867400"/>
          </a:xfrm>
        </p:spPr>
        <p:txBody>
          <a:bodyPr>
            <a:normAutofit/>
          </a:bodyPr>
          <a:lstStyle/>
          <a:p>
            <a:r>
              <a:rPr lang="en-US" dirty="0"/>
              <a:t>The </a:t>
            </a:r>
            <a:r>
              <a:rPr lang="en-US" b="1" dirty="0"/>
              <a:t>gatekeeper</a:t>
            </a:r>
            <a:r>
              <a:rPr lang="en-US" dirty="0"/>
              <a:t> of an HMO helps</a:t>
            </a:r>
          </a:p>
          <a:p>
            <a:endParaRPr lang="en-US" dirty="0"/>
          </a:p>
          <a:p>
            <a:r>
              <a:rPr lang="en-US" dirty="0"/>
              <a:t>Determine who will be allowed to enroll in an HMO program.</a:t>
            </a:r>
          </a:p>
          <a:p>
            <a:r>
              <a:rPr lang="en-US" dirty="0" smtClean="0"/>
              <a:t>Prevent </a:t>
            </a:r>
            <a:r>
              <a:rPr lang="en-US" dirty="0"/>
              <a:t>double coverage.</a:t>
            </a:r>
          </a:p>
          <a:p>
            <a:r>
              <a:rPr lang="en-US" dirty="0" smtClean="0"/>
              <a:t>Determine </a:t>
            </a:r>
            <a:r>
              <a:rPr lang="en-US" dirty="0"/>
              <a:t>which doctors can participate in an HMO plan.</a:t>
            </a:r>
          </a:p>
          <a:p>
            <a:r>
              <a:rPr lang="en-US" i="1" dirty="0" smtClean="0"/>
              <a:t>Control </a:t>
            </a:r>
            <a:r>
              <a:rPr lang="en-US" i="1" dirty="0"/>
              <a:t>specialist costs</a:t>
            </a:r>
            <a:r>
              <a:rPr lang="en-US" dirty="0"/>
              <a:t>.</a:t>
            </a:r>
          </a:p>
          <a:p>
            <a:endParaRPr lang="en-US" dirty="0"/>
          </a:p>
          <a:p>
            <a:r>
              <a:rPr lang="en-US" dirty="0"/>
              <a:t>Initially the member chooses a primary care physician, or gatekeeper. If the member needs the attention of a specialist, the primary care physician must refer the member. This helps keep the member away from the higher priced specialists unless it is truly necessary.</a:t>
            </a:r>
          </a:p>
          <a:p>
            <a:endParaRPr lang="en-US" dirty="0"/>
          </a:p>
        </p:txBody>
      </p:sp>
    </p:spTree>
    <p:extLst>
      <p:ext uri="{BB962C8B-B14F-4D97-AF65-F5344CB8AC3E}">
        <p14:creationId xmlns:p14="http://schemas.microsoft.com/office/powerpoint/2010/main" val="2364791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err="1" smtClean="0"/>
              <a:t>Exapmple</a:t>
            </a:r>
            <a:endParaRPr lang="en-US" dirty="0"/>
          </a:p>
        </p:txBody>
      </p:sp>
      <p:sp>
        <p:nvSpPr>
          <p:cNvPr id="3" name="Content Placeholder 2"/>
          <p:cNvSpPr>
            <a:spLocks noGrp="1"/>
          </p:cNvSpPr>
          <p:nvPr>
            <p:ph idx="1"/>
          </p:nvPr>
        </p:nvSpPr>
        <p:spPr>
          <a:xfrm>
            <a:off x="227012" y="1295400"/>
            <a:ext cx="11658600" cy="5334000"/>
          </a:xfrm>
        </p:spPr>
        <p:txBody>
          <a:bodyPr>
            <a:normAutofit/>
          </a:bodyPr>
          <a:lstStyle/>
          <a:p>
            <a:r>
              <a:rPr lang="en-US" dirty="0"/>
              <a:t>All of the following information must be included in the evidence of coverage for an HMO plan </a:t>
            </a:r>
            <a:r>
              <a:rPr lang="en-US" b="1" dirty="0"/>
              <a:t>EXCEPT</a:t>
            </a:r>
          </a:p>
          <a:p>
            <a:endParaRPr lang="en-US" dirty="0"/>
          </a:p>
          <a:p>
            <a:r>
              <a:rPr lang="en-US" dirty="0"/>
              <a:t>HMO’s toll-free telephone number.</a:t>
            </a:r>
          </a:p>
          <a:p>
            <a:r>
              <a:rPr lang="en-US" i="1" dirty="0" smtClean="0"/>
              <a:t>The </a:t>
            </a:r>
            <a:r>
              <a:rPr lang="en-US" i="1" dirty="0"/>
              <a:t>insurance agent’s name and license number.</a:t>
            </a:r>
          </a:p>
          <a:p>
            <a:r>
              <a:rPr lang="en-US" dirty="0" smtClean="0"/>
              <a:t>A </a:t>
            </a:r>
            <a:r>
              <a:rPr lang="en-US" dirty="0"/>
              <a:t>schedule of benefits.</a:t>
            </a:r>
          </a:p>
          <a:p>
            <a:r>
              <a:rPr lang="en-US" dirty="0" smtClean="0"/>
              <a:t>Examples </a:t>
            </a:r>
            <a:r>
              <a:rPr lang="en-US" dirty="0"/>
              <a:t>of information to appear in the blanks.</a:t>
            </a:r>
          </a:p>
          <a:p>
            <a:endParaRPr lang="en-US" dirty="0"/>
          </a:p>
          <a:p>
            <a:r>
              <a:rPr lang="en-US" dirty="0"/>
              <a:t>The insurance agent’s name and license number are not required; all the other information must be provided.</a:t>
            </a:r>
          </a:p>
          <a:p>
            <a:endParaRPr lang="en-US" dirty="0"/>
          </a:p>
        </p:txBody>
      </p:sp>
    </p:spTree>
    <p:extLst>
      <p:ext uri="{BB962C8B-B14F-4D97-AF65-F5344CB8AC3E}">
        <p14:creationId xmlns:p14="http://schemas.microsoft.com/office/powerpoint/2010/main" val="3882432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379412" y="1371600"/>
            <a:ext cx="11582400" cy="5334000"/>
          </a:xfrm>
        </p:spPr>
        <p:txBody>
          <a:bodyPr>
            <a:normAutofit fontScale="92500" lnSpcReduction="20000"/>
          </a:bodyPr>
          <a:lstStyle/>
          <a:p>
            <a:r>
              <a:rPr lang="en-US" dirty="0"/>
              <a:t>A __________ policy will typically pay for some or all of the Medicare Part A and B deductibles and / or copayments. </a:t>
            </a:r>
          </a:p>
          <a:p>
            <a:r>
              <a:rPr lang="en-US" dirty="0"/>
              <a:t>I - Medicare Part C </a:t>
            </a:r>
          </a:p>
          <a:p>
            <a:r>
              <a:rPr lang="en-US" dirty="0"/>
              <a:t>II - Medicare Part D </a:t>
            </a:r>
          </a:p>
          <a:p>
            <a:r>
              <a:rPr lang="en-US" b="1" dirty="0"/>
              <a:t>III - Medicare Supplement </a:t>
            </a:r>
            <a:endParaRPr lang="en-US" dirty="0"/>
          </a:p>
          <a:p>
            <a:r>
              <a:rPr lang="en-US" b="1" dirty="0"/>
              <a:t>IV - </a:t>
            </a:r>
            <a:r>
              <a:rPr lang="en-US" b="1" dirty="0" err="1"/>
              <a:t>Medigap</a:t>
            </a:r>
            <a:r>
              <a:rPr lang="en-US" dirty="0"/>
              <a:t> </a:t>
            </a:r>
          </a:p>
          <a:p>
            <a:r>
              <a:rPr lang="en-US" dirty="0"/>
              <a:t>a. I only </a:t>
            </a:r>
          </a:p>
          <a:p>
            <a:r>
              <a:rPr lang="en-US" dirty="0"/>
              <a:t>b. II only </a:t>
            </a:r>
          </a:p>
          <a:p>
            <a:r>
              <a:rPr lang="en-US" dirty="0"/>
              <a:t>c. I and II </a:t>
            </a:r>
          </a:p>
          <a:p>
            <a:r>
              <a:rPr lang="en-US" dirty="0"/>
              <a:t>d. III and IV </a:t>
            </a:r>
          </a:p>
          <a:p>
            <a:r>
              <a:rPr lang="en-US" dirty="0"/>
              <a:t>d - Medicare Supplement policies are designed to pick up the cost of some items left uncovered by Medicare Parts A and B, such as deductibles and copayments. </a:t>
            </a:r>
            <a:r>
              <a:rPr lang="en-US" dirty="0" err="1"/>
              <a:t>Medigap</a:t>
            </a:r>
            <a:r>
              <a:rPr lang="en-US" dirty="0"/>
              <a:t> is another name for Medicare Supplement</a:t>
            </a:r>
            <a:r>
              <a:rPr lang="en-US" dirty="0" smtClean="0"/>
              <a:t>.</a:t>
            </a:r>
            <a:endParaRPr lang="en-US" dirty="0"/>
          </a:p>
        </p:txBody>
      </p:sp>
    </p:spTree>
    <p:extLst>
      <p:ext uri="{BB962C8B-B14F-4D97-AF65-F5344CB8AC3E}">
        <p14:creationId xmlns:p14="http://schemas.microsoft.com/office/powerpoint/2010/main" val="3110887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150812" y="914400"/>
            <a:ext cx="11887200" cy="5791200"/>
          </a:xfrm>
        </p:spPr>
        <p:txBody>
          <a:bodyPr/>
          <a:lstStyle/>
          <a:p>
            <a:r>
              <a:rPr lang="en-US" dirty="0"/>
              <a:t>Prior to the Affordable Care Act, the most common exclusion on a health insurance policy was for __________. </a:t>
            </a:r>
            <a:endParaRPr lang="en-US" dirty="0" smtClean="0"/>
          </a:p>
          <a:p>
            <a:endParaRPr lang="en-US" dirty="0"/>
          </a:p>
          <a:p>
            <a:r>
              <a:rPr lang="en-US" dirty="0"/>
              <a:t>a. Acts of war </a:t>
            </a:r>
          </a:p>
          <a:p>
            <a:r>
              <a:rPr lang="en-US" dirty="0"/>
              <a:t>b. Illegal activities </a:t>
            </a:r>
          </a:p>
          <a:p>
            <a:r>
              <a:rPr lang="en-US" dirty="0"/>
              <a:t>c. </a:t>
            </a:r>
            <a:r>
              <a:rPr lang="en-US" i="1" dirty="0"/>
              <a:t>Pre-existing conditions </a:t>
            </a:r>
          </a:p>
          <a:p>
            <a:r>
              <a:rPr lang="en-US" dirty="0"/>
              <a:t>d. None of the above </a:t>
            </a:r>
            <a:endParaRPr lang="en-US" dirty="0" smtClean="0"/>
          </a:p>
          <a:p>
            <a:endParaRPr lang="en-US" dirty="0"/>
          </a:p>
          <a:p>
            <a:r>
              <a:rPr lang="en-US" b="1" dirty="0"/>
              <a:t>c</a:t>
            </a:r>
            <a:r>
              <a:rPr lang="en-US" dirty="0"/>
              <a:t> - Pre-existing conditions included any injury or illness that a policy holder already had at the time that they applied for coverage. Insurance companies would often oftentimes impose a waiting period before treatment for such conditions would be covered</a:t>
            </a:r>
          </a:p>
          <a:p>
            <a:pPr marL="45720" indent="0">
              <a:buNone/>
            </a:pPr>
            <a:endParaRPr lang="en-US" dirty="0"/>
          </a:p>
        </p:txBody>
      </p:sp>
    </p:spTree>
    <p:extLst>
      <p:ext uri="{BB962C8B-B14F-4D97-AF65-F5344CB8AC3E}">
        <p14:creationId xmlns:p14="http://schemas.microsoft.com/office/powerpoint/2010/main" val="4132105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normAutofit fontScale="90000"/>
          </a:bodyPr>
          <a:lstStyle/>
          <a:p>
            <a:r>
              <a:rPr lang="en-US" dirty="0" smtClean="0"/>
              <a:t>Preferred provider organization PPO</a:t>
            </a:r>
            <a:endParaRPr lang="en-US" dirty="0"/>
          </a:p>
        </p:txBody>
      </p:sp>
      <p:sp>
        <p:nvSpPr>
          <p:cNvPr id="3" name="Content Placeholder 2"/>
          <p:cNvSpPr>
            <a:spLocks noGrp="1"/>
          </p:cNvSpPr>
          <p:nvPr>
            <p:ph idx="1"/>
          </p:nvPr>
        </p:nvSpPr>
        <p:spPr>
          <a:xfrm>
            <a:off x="303212" y="1143000"/>
            <a:ext cx="11734800" cy="5562600"/>
          </a:xfrm>
        </p:spPr>
        <p:txBody>
          <a:bodyPr>
            <a:normAutofit lnSpcReduction="10000"/>
          </a:bodyPr>
          <a:lstStyle/>
          <a:p>
            <a:r>
              <a:rPr lang="en-US" dirty="0" smtClean="0"/>
              <a:t>PPO can be viewed as the traditional medical system answer to HMO.</a:t>
            </a:r>
          </a:p>
          <a:p>
            <a:r>
              <a:rPr lang="en-US" dirty="0" smtClean="0"/>
              <a:t>In PPO physicians are paid fees to their services instead of salary</a:t>
            </a:r>
          </a:p>
          <a:p>
            <a:r>
              <a:rPr lang="en-US" dirty="0" smtClean="0"/>
              <a:t>Members are encouraged to visit approved members physician </a:t>
            </a:r>
          </a:p>
          <a:p>
            <a:r>
              <a:rPr lang="en-US" dirty="0" smtClean="0"/>
              <a:t>PPO cover 90% of fee for approved physician and 70% for physicians that are not included in the list.</a:t>
            </a:r>
          </a:p>
          <a:p>
            <a:r>
              <a:rPr lang="en-US" dirty="0" smtClean="0"/>
              <a:t>PPO differ from HMO in two ways:</a:t>
            </a:r>
          </a:p>
          <a:p>
            <a:pPr>
              <a:buFontTx/>
              <a:buChar char="-"/>
            </a:pPr>
            <a:r>
              <a:rPr lang="en-US" dirty="0" smtClean="0"/>
              <a:t>Medical are is not provided on prepaid basis but physicians are paid a fee fro service</a:t>
            </a:r>
          </a:p>
          <a:p>
            <a:pPr>
              <a:buFontTx/>
              <a:buChar char="-"/>
            </a:pPr>
            <a:r>
              <a:rPr lang="en-US" dirty="0"/>
              <a:t> </a:t>
            </a:r>
            <a:r>
              <a:rPr lang="en-US" dirty="0" smtClean="0"/>
              <a:t>Subscribers do not have to use physicians or facilities that contract with the PPO</a:t>
            </a:r>
          </a:p>
          <a:p>
            <a:pPr>
              <a:buFontTx/>
              <a:buChar char="-"/>
            </a:pPr>
            <a:r>
              <a:rPr lang="en-US" dirty="0" smtClean="0"/>
              <a:t>PCP referral (Gatekeeper PPO): Insured don’t choose the primary care physician, instead insured select the PPO medical provider, for lower out of pocket cost.</a:t>
            </a:r>
            <a:endParaRPr lang="en-US" dirty="0"/>
          </a:p>
        </p:txBody>
      </p:sp>
    </p:spTree>
    <p:extLst>
      <p:ext uri="{BB962C8B-B14F-4D97-AF65-F5344CB8AC3E}">
        <p14:creationId xmlns:p14="http://schemas.microsoft.com/office/powerpoint/2010/main" val="681422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Point of service POS plans</a:t>
            </a:r>
            <a:endParaRPr lang="en-US" dirty="0"/>
          </a:p>
        </p:txBody>
      </p:sp>
      <p:sp>
        <p:nvSpPr>
          <p:cNvPr id="3" name="Content Placeholder 2"/>
          <p:cNvSpPr>
            <a:spLocks noGrp="1"/>
          </p:cNvSpPr>
          <p:nvPr>
            <p:ph idx="1"/>
          </p:nvPr>
        </p:nvSpPr>
        <p:spPr>
          <a:xfrm>
            <a:off x="303212" y="1143000"/>
            <a:ext cx="11734800" cy="5562600"/>
          </a:xfrm>
        </p:spPr>
        <p:txBody>
          <a:bodyPr/>
          <a:lstStyle/>
          <a:p>
            <a:r>
              <a:rPr lang="en-US" dirty="0" smtClean="0"/>
              <a:t>It’s a combination of HMO and PPO also called open ended HMO</a:t>
            </a:r>
          </a:p>
          <a:p>
            <a:r>
              <a:rPr lang="en-US" dirty="0" smtClean="0"/>
              <a:t>Nature and purpose: POS employees do not have to locked into one plan or open ended HMOSs</a:t>
            </a:r>
          </a:p>
          <a:p>
            <a:r>
              <a:rPr lang="en-US" dirty="0" smtClean="0"/>
              <a:t>Out of network provider access: Members can select out of network or in network physicians, but for out of network deductibles, copays, and coinsurance could be high. </a:t>
            </a:r>
          </a:p>
          <a:p>
            <a:r>
              <a:rPr lang="en-US" dirty="0" smtClean="0"/>
              <a:t>In POS plans members have access to a provider network that is controlled by a primary care physician (gatekeeper), at a reduced coverage level.</a:t>
            </a:r>
          </a:p>
          <a:p>
            <a:r>
              <a:rPr lang="en-US" dirty="0" smtClean="0"/>
              <a:t>Indemnity plan features: If a non member physician is used under the POS plan the attending physician will be paid a fee for the service but member patient will pay a higher coinsurance for using the non member physician.</a:t>
            </a:r>
            <a:endParaRPr lang="en-US" dirty="0"/>
          </a:p>
        </p:txBody>
      </p:sp>
    </p:spTree>
    <p:extLst>
      <p:ext uri="{BB962C8B-B14F-4D97-AF65-F5344CB8AC3E}">
        <p14:creationId xmlns:p14="http://schemas.microsoft.com/office/powerpoint/2010/main" val="2730613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096962"/>
          </a:xfrm>
        </p:spPr>
        <p:txBody>
          <a:bodyPr>
            <a:normAutofit fontScale="90000"/>
          </a:bodyPr>
          <a:lstStyle/>
          <a:p>
            <a:r>
              <a:rPr lang="en-US" dirty="0" smtClean="0"/>
              <a:t>High deductible health plans   HDHP</a:t>
            </a:r>
            <a:br>
              <a:rPr lang="en-US" dirty="0" smtClean="0"/>
            </a:br>
            <a:r>
              <a:rPr lang="en-US" dirty="0" smtClean="0"/>
              <a:t>Health savings account   HSA</a:t>
            </a:r>
            <a:endParaRPr lang="en-US" dirty="0"/>
          </a:p>
        </p:txBody>
      </p:sp>
      <p:sp>
        <p:nvSpPr>
          <p:cNvPr id="3" name="Content Placeholder 2"/>
          <p:cNvSpPr>
            <a:spLocks noGrp="1"/>
          </p:cNvSpPr>
          <p:nvPr>
            <p:ph idx="1"/>
          </p:nvPr>
        </p:nvSpPr>
        <p:spPr>
          <a:xfrm>
            <a:off x="379412" y="1371600"/>
            <a:ext cx="11658600" cy="5410200"/>
          </a:xfrm>
        </p:spPr>
        <p:txBody>
          <a:bodyPr>
            <a:normAutofit fontScale="92500" lnSpcReduction="20000"/>
          </a:bodyPr>
          <a:lstStyle/>
          <a:p>
            <a:r>
              <a:rPr lang="en-US" dirty="0" smtClean="0"/>
              <a:t>HDHP are often used in coordination with MSA HAS or HRA</a:t>
            </a:r>
          </a:p>
          <a:p>
            <a:r>
              <a:rPr lang="en-US" dirty="0" smtClean="0"/>
              <a:t>The high deductible health plan features out of pocket limits and annual deductibles than traditional health plans which means lower premiums. Except for preventive care the annual deductible needs to be met before the plan will pay benefits.</a:t>
            </a:r>
          </a:p>
          <a:p>
            <a:r>
              <a:rPr lang="en-US" dirty="0" smtClean="0"/>
              <a:t>The HDHP deductibles can be paid with the funds from the coordinating account plan</a:t>
            </a:r>
          </a:p>
          <a:p>
            <a:r>
              <a:rPr lang="en-US" dirty="0" smtClean="0"/>
              <a:t>FSA are intended to help individuals save for qualified health expenses that they their spouses or their dependents incur. An individual who is covered by an HDHP can make a tax deductible contribution to an HAS and use it to pay out of pocket medical expenses.</a:t>
            </a:r>
          </a:p>
          <a:p>
            <a:r>
              <a:rPr lang="en-US" dirty="0" smtClean="0"/>
              <a:t>Employer contributions to a health saving account are not included in the individual’s taxable income.</a:t>
            </a:r>
          </a:p>
          <a:p>
            <a:r>
              <a:rPr lang="en-US" dirty="0" smtClean="0"/>
              <a:t>HAS holders who use money for a non health expenditure will pay tax on it, plus 20% penalty, after the age of 65 withdrawals for non health purpose will be tax no penalty</a:t>
            </a:r>
            <a:endParaRPr lang="en-US" dirty="0"/>
          </a:p>
        </p:txBody>
      </p:sp>
    </p:spTree>
    <p:extLst>
      <p:ext uri="{BB962C8B-B14F-4D97-AF65-F5344CB8AC3E}">
        <p14:creationId xmlns:p14="http://schemas.microsoft.com/office/powerpoint/2010/main" val="1851459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Disability Income</a:t>
            </a:r>
            <a:endParaRPr lang="en-US" dirty="0"/>
          </a:p>
        </p:txBody>
      </p:sp>
      <p:sp>
        <p:nvSpPr>
          <p:cNvPr id="3" name="Content Placeholder 2"/>
          <p:cNvSpPr>
            <a:spLocks noGrp="1"/>
          </p:cNvSpPr>
          <p:nvPr>
            <p:ph idx="1"/>
          </p:nvPr>
        </p:nvSpPr>
        <p:spPr>
          <a:xfrm>
            <a:off x="74612" y="1066800"/>
            <a:ext cx="11963400" cy="5715000"/>
          </a:xfrm>
        </p:spPr>
        <p:txBody>
          <a:bodyPr/>
          <a:lstStyle/>
          <a:p>
            <a:r>
              <a:rPr lang="en-US" dirty="0" smtClean="0"/>
              <a:t>Individual disability income policy: Disability income insurance is intended to replace lost income in the event of this possibility, it can be purchased individually or on a group basis</a:t>
            </a:r>
          </a:p>
          <a:p>
            <a:r>
              <a:rPr lang="en-US" dirty="0" err="1" smtClean="0"/>
              <a:t>Elmination</a:t>
            </a:r>
            <a:r>
              <a:rPr lang="en-US" dirty="0" smtClean="0"/>
              <a:t> period: waiting period from onset of disability until benefit period begins </a:t>
            </a:r>
          </a:p>
          <a:p>
            <a:r>
              <a:rPr lang="en-US" dirty="0" smtClean="0"/>
              <a:t>Probationary period: waiting period often 10 to 30 days. From policy issue date during which benefits will not be paid for disabilities related to illness.</a:t>
            </a:r>
          </a:p>
          <a:p>
            <a:r>
              <a:rPr lang="en-US" dirty="0" smtClean="0"/>
              <a:t>Probationary period applies to only sickness not injury  or accident.</a:t>
            </a:r>
          </a:p>
          <a:p>
            <a:r>
              <a:rPr lang="en-US" dirty="0" smtClean="0"/>
              <a:t>Dismemberment: the loss of two limbs permanent and total blindness or loss of hearing or speech.</a:t>
            </a:r>
          </a:p>
          <a:p>
            <a:endParaRPr lang="en-US" dirty="0" smtClean="0"/>
          </a:p>
          <a:p>
            <a:endParaRPr lang="en-US" dirty="0"/>
          </a:p>
        </p:txBody>
      </p:sp>
    </p:spTree>
    <p:extLst>
      <p:ext uri="{BB962C8B-B14F-4D97-AF65-F5344CB8AC3E}">
        <p14:creationId xmlns:p14="http://schemas.microsoft.com/office/powerpoint/2010/main" val="33942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Business overhead expense   (BOE)</a:t>
            </a:r>
            <a:endParaRPr lang="en-US" dirty="0"/>
          </a:p>
        </p:txBody>
      </p:sp>
      <p:sp>
        <p:nvSpPr>
          <p:cNvPr id="3" name="Content Placeholder 2"/>
          <p:cNvSpPr>
            <a:spLocks noGrp="1"/>
          </p:cNvSpPr>
          <p:nvPr>
            <p:ph idx="1"/>
          </p:nvPr>
        </p:nvSpPr>
        <p:spPr>
          <a:xfrm>
            <a:off x="303212" y="1219200"/>
            <a:ext cx="11658600" cy="5486400"/>
          </a:xfrm>
        </p:spPr>
        <p:txBody>
          <a:bodyPr/>
          <a:lstStyle/>
          <a:p>
            <a:r>
              <a:rPr lang="en-US" dirty="0" smtClean="0"/>
              <a:t>BOE policy is insurance that is sold to small business owners who must continue to meet overhead expenses such as employee salaries, rent, utilities, leased </a:t>
            </a:r>
            <a:r>
              <a:rPr lang="en-US" dirty="0" err="1" smtClean="0"/>
              <a:t>equipement</a:t>
            </a:r>
            <a:r>
              <a:rPr lang="en-US" dirty="0" smtClean="0"/>
              <a:t>, installment, purchases etc. following a disability.</a:t>
            </a:r>
          </a:p>
          <a:p>
            <a:r>
              <a:rPr lang="en-US" dirty="0" smtClean="0"/>
              <a:t>When business owner become completely disabled, business overhead expenses are reimbursed </a:t>
            </a:r>
          </a:p>
          <a:p>
            <a:r>
              <a:rPr lang="en-US" dirty="0" smtClean="0"/>
              <a:t>It does not pay for the owner compensation, salary or other forms of income that is lost as a result of the disability</a:t>
            </a:r>
          </a:p>
          <a:p>
            <a:r>
              <a:rPr lang="en-US" dirty="0" smtClean="0"/>
              <a:t>The elimination period of 15 to 30 days and benefit payments are limited over one or two years.</a:t>
            </a:r>
          </a:p>
          <a:p>
            <a:r>
              <a:rPr lang="en-US" dirty="0" smtClean="0"/>
              <a:t>Premiums are tax deductible but benefits received are taxable</a:t>
            </a:r>
            <a:endParaRPr lang="en-US" dirty="0"/>
          </a:p>
        </p:txBody>
      </p:sp>
    </p:spTree>
    <p:extLst>
      <p:ext uri="{BB962C8B-B14F-4D97-AF65-F5344CB8AC3E}">
        <p14:creationId xmlns:p14="http://schemas.microsoft.com/office/powerpoint/2010/main" val="143494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Business disability buyout policy</a:t>
            </a:r>
            <a:endParaRPr lang="en-US" dirty="0"/>
          </a:p>
        </p:txBody>
      </p:sp>
      <p:sp>
        <p:nvSpPr>
          <p:cNvPr id="3" name="Content Placeholder 2"/>
          <p:cNvSpPr>
            <a:spLocks noGrp="1"/>
          </p:cNvSpPr>
          <p:nvPr>
            <p:ph idx="1"/>
          </p:nvPr>
        </p:nvSpPr>
        <p:spPr>
          <a:xfrm>
            <a:off x="303212" y="1143000"/>
            <a:ext cx="10668002" cy="5029200"/>
          </a:xfrm>
        </p:spPr>
        <p:txBody>
          <a:bodyPr/>
          <a:lstStyle/>
          <a:p>
            <a:r>
              <a:rPr lang="en-US" dirty="0" smtClean="0"/>
              <a:t>When one owner becomes disabled or dies the buy and sell agreement specifies how business will pass between owners.</a:t>
            </a:r>
          </a:p>
          <a:p>
            <a:r>
              <a:rPr lang="en-US" dirty="0" smtClean="0"/>
              <a:t>It has long elimination period possibly one or two years</a:t>
            </a:r>
          </a:p>
          <a:p>
            <a:r>
              <a:rPr lang="en-US" dirty="0" smtClean="0"/>
              <a:t>Provide lump sum benefit</a:t>
            </a:r>
          </a:p>
          <a:p>
            <a:r>
              <a:rPr lang="en-US" dirty="0" smtClean="0"/>
              <a:t>Premiums are not tax deductible but benefits are tax free</a:t>
            </a:r>
            <a:endParaRPr lang="en-US" dirty="0"/>
          </a:p>
          <a:p>
            <a:r>
              <a:rPr lang="en-US" dirty="0"/>
              <a:t>It’s a legal contract prepared by attorney</a:t>
            </a:r>
          </a:p>
          <a:p>
            <a:endParaRPr lang="en-US" dirty="0"/>
          </a:p>
        </p:txBody>
      </p:sp>
    </p:spTree>
    <p:extLst>
      <p:ext uri="{BB962C8B-B14F-4D97-AF65-F5344CB8AC3E}">
        <p14:creationId xmlns:p14="http://schemas.microsoft.com/office/powerpoint/2010/main" val="3814427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Key Employee Policy</a:t>
            </a:r>
            <a:endParaRPr lang="en-US" dirty="0"/>
          </a:p>
        </p:txBody>
      </p:sp>
      <p:sp>
        <p:nvSpPr>
          <p:cNvPr id="3" name="Content Placeholder 2"/>
          <p:cNvSpPr>
            <a:spLocks noGrp="1"/>
          </p:cNvSpPr>
          <p:nvPr>
            <p:ph idx="1"/>
          </p:nvPr>
        </p:nvSpPr>
        <p:spPr>
          <a:xfrm>
            <a:off x="227012" y="990600"/>
            <a:ext cx="11811000" cy="5715000"/>
          </a:xfrm>
        </p:spPr>
        <p:txBody>
          <a:bodyPr>
            <a:normAutofit/>
          </a:bodyPr>
          <a:lstStyle/>
          <a:p>
            <a:r>
              <a:rPr lang="en-US" dirty="0" smtClean="0"/>
              <a:t>Key person economic value to the business is calculated in terms of the potential loss of business income that could occur as well as the cost of hiring and training a replacement for the key person</a:t>
            </a:r>
          </a:p>
          <a:p>
            <a:r>
              <a:rPr lang="en-US" dirty="0" smtClean="0"/>
              <a:t>The premium paid by the business the contract is owned by the business and the business is the beneficiary.</a:t>
            </a:r>
          </a:p>
          <a:p>
            <a:endParaRPr lang="en-US" dirty="0"/>
          </a:p>
        </p:txBody>
      </p:sp>
    </p:spTree>
    <p:extLst>
      <p:ext uri="{BB962C8B-B14F-4D97-AF65-F5344CB8AC3E}">
        <p14:creationId xmlns:p14="http://schemas.microsoft.com/office/powerpoint/2010/main" val="3263618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normAutofit fontScale="90000"/>
          </a:bodyPr>
          <a:lstStyle/>
          <a:p>
            <a:r>
              <a:rPr lang="en-US" dirty="0" smtClean="0"/>
              <a:t>Accidental death and </a:t>
            </a:r>
            <a:r>
              <a:rPr lang="en-US" dirty="0" err="1" smtClean="0"/>
              <a:t>dismembermemt</a:t>
            </a:r>
            <a:endParaRPr lang="en-US" dirty="0"/>
          </a:p>
        </p:txBody>
      </p:sp>
      <p:sp>
        <p:nvSpPr>
          <p:cNvPr id="3" name="Content Placeholder 2"/>
          <p:cNvSpPr>
            <a:spLocks noGrp="1"/>
          </p:cNvSpPr>
          <p:nvPr>
            <p:ph idx="1"/>
          </p:nvPr>
        </p:nvSpPr>
        <p:spPr>
          <a:xfrm>
            <a:off x="379412" y="1219200"/>
            <a:ext cx="11582400" cy="5562600"/>
          </a:xfrm>
        </p:spPr>
        <p:txBody>
          <a:bodyPr/>
          <a:lstStyle/>
          <a:p>
            <a:r>
              <a:rPr lang="en-US" dirty="0" smtClean="0"/>
              <a:t>This policy pay the full principal for loss of two of more limbs or sight in both eyes but however it will pay only 50% for the loss of one hand or one foot.</a:t>
            </a:r>
          </a:p>
          <a:p>
            <a:r>
              <a:rPr lang="en-US" dirty="0" smtClean="0"/>
              <a:t>It can be written as separate policy of a rider</a:t>
            </a:r>
          </a:p>
          <a:p>
            <a:r>
              <a:rPr lang="en-US" dirty="0" smtClean="0"/>
              <a:t>It pays lump sum payment, its generally equal to face amount or amount coverage under insurance contract.</a:t>
            </a:r>
          </a:p>
          <a:p>
            <a:r>
              <a:rPr lang="en-US" dirty="0" smtClean="0"/>
              <a:t>In an event of a loss sight or accidental dismemberment , a principal sum is paid also referred as capital sum.</a:t>
            </a:r>
          </a:p>
          <a:p>
            <a:r>
              <a:rPr lang="en-US" dirty="0" smtClean="0"/>
              <a:t>In case of accidental death some policies pay double or triple the indemnity</a:t>
            </a:r>
          </a:p>
          <a:p>
            <a:r>
              <a:rPr lang="en-US" dirty="0" smtClean="0"/>
              <a:t>If death is cause by an accident and occurs with in 90 days most policies pay the accidental death benefit.</a:t>
            </a:r>
          </a:p>
          <a:p>
            <a:endParaRPr lang="en-US" dirty="0" smtClean="0"/>
          </a:p>
        </p:txBody>
      </p:sp>
    </p:spTree>
    <p:extLst>
      <p:ext uri="{BB962C8B-B14F-4D97-AF65-F5344CB8AC3E}">
        <p14:creationId xmlns:p14="http://schemas.microsoft.com/office/powerpoint/2010/main" val="1117166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Example</a:t>
            </a:r>
            <a:endParaRPr lang="en-US" dirty="0"/>
          </a:p>
        </p:txBody>
      </p:sp>
      <p:sp>
        <p:nvSpPr>
          <p:cNvPr id="3" name="Content Placeholder 2"/>
          <p:cNvSpPr>
            <a:spLocks noGrp="1"/>
          </p:cNvSpPr>
          <p:nvPr>
            <p:ph idx="1"/>
          </p:nvPr>
        </p:nvSpPr>
        <p:spPr>
          <a:xfrm>
            <a:off x="379412" y="1295400"/>
            <a:ext cx="11430000" cy="5257800"/>
          </a:xfrm>
        </p:spPr>
        <p:txBody>
          <a:bodyPr>
            <a:normAutofit fontScale="92500" lnSpcReduction="10000"/>
          </a:bodyPr>
          <a:lstStyle/>
          <a:p>
            <a:r>
              <a:rPr lang="en-US" dirty="0"/>
              <a:t>Bethany studies in England for a semester. While she is there, she is involved in a train accident that leaves her disabled. If Bethany owns a general disability policy, what will be the extent of benefits that she receives?</a:t>
            </a:r>
          </a:p>
          <a:p>
            <a:endParaRPr lang="en-US" dirty="0"/>
          </a:p>
          <a:p>
            <a:r>
              <a:rPr lang="en-US" dirty="0"/>
              <a:t>Full</a:t>
            </a:r>
          </a:p>
          <a:p>
            <a:r>
              <a:rPr lang="en-US" dirty="0" smtClean="0"/>
              <a:t>50</a:t>
            </a:r>
            <a:r>
              <a:rPr lang="en-US" dirty="0"/>
              <a:t>%</a:t>
            </a:r>
          </a:p>
          <a:p>
            <a:r>
              <a:rPr lang="en-US" dirty="0" smtClean="0"/>
              <a:t>25</a:t>
            </a:r>
            <a:r>
              <a:rPr lang="en-US" dirty="0"/>
              <a:t>%</a:t>
            </a:r>
          </a:p>
          <a:p>
            <a:r>
              <a:rPr lang="en-US" i="1" dirty="0" smtClean="0"/>
              <a:t>None</a:t>
            </a:r>
            <a:endParaRPr lang="en-US" i="1" dirty="0"/>
          </a:p>
          <a:p>
            <a:endParaRPr lang="en-US" dirty="0"/>
          </a:p>
          <a:p>
            <a:r>
              <a:rPr lang="en-US" dirty="0"/>
              <a:t>General disability policies do not cover losses caused by war, military service, intentionally self-inflicted injuries, overseas residence, or injuries suffered while committing or attempting to commit a felony.</a:t>
            </a:r>
          </a:p>
          <a:p>
            <a:endParaRPr lang="en-US" dirty="0"/>
          </a:p>
        </p:txBody>
      </p:sp>
    </p:spTree>
    <p:extLst>
      <p:ext uri="{BB962C8B-B14F-4D97-AF65-F5344CB8AC3E}">
        <p14:creationId xmlns:p14="http://schemas.microsoft.com/office/powerpoint/2010/main" val="426495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Example</a:t>
            </a:r>
            <a:endParaRPr lang="en-US" dirty="0"/>
          </a:p>
        </p:txBody>
      </p:sp>
      <p:sp>
        <p:nvSpPr>
          <p:cNvPr id="3" name="Content Placeholder 2"/>
          <p:cNvSpPr>
            <a:spLocks noGrp="1"/>
          </p:cNvSpPr>
          <p:nvPr>
            <p:ph idx="1"/>
          </p:nvPr>
        </p:nvSpPr>
        <p:spPr>
          <a:xfrm>
            <a:off x="455612" y="1295400"/>
            <a:ext cx="11353800" cy="5181600"/>
          </a:xfrm>
        </p:spPr>
        <p:txBody>
          <a:bodyPr>
            <a:normAutofit fontScale="92500" lnSpcReduction="10000"/>
          </a:bodyPr>
          <a:lstStyle/>
          <a:p>
            <a:r>
              <a:rPr lang="en-US" dirty="0"/>
              <a:t>Don has both a basic expense and a major medical policy. He is injured in an accident, which requires several major surgeries. This quickly exhausts Don's basic expense policy. What must Don do before his major medical policy can pick up where the basic expense policy left off?</a:t>
            </a:r>
          </a:p>
          <a:p>
            <a:endParaRPr lang="en-US" dirty="0"/>
          </a:p>
          <a:p>
            <a:r>
              <a:rPr lang="en-US" dirty="0"/>
              <a:t>Submit written notification to his major medical insurance company</a:t>
            </a:r>
          </a:p>
          <a:p>
            <a:r>
              <a:rPr lang="en-US" i="1" dirty="0" smtClean="0"/>
              <a:t>Pay </a:t>
            </a:r>
            <a:r>
              <a:rPr lang="en-US" i="1" dirty="0"/>
              <a:t>a special deductible on his major medical policy</a:t>
            </a:r>
          </a:p>
          <a:p>
            <a:r>
              <a:rPr lang="en-US" dirty="0" smtClean="0"/>
              <a:t>Wait </a:t>
            </a:r>
            <a:r>
              <a:rPr lang="en-US" dirty="0"/>
              <a:t>6 months in order to be covered again</a:t>
            </a:r>
          </a:p>
          <a:p>
            <a:r>
              <a:rPr lang="en-US" dirty="0" smtClean="0"/>
              <a:t>Nothing </a:t>
            </a:r>
            <a:r>
              <a:rPr lang="en-US" dirty="0"/>
              <a:t>needs to be done. The hospital's billing staff will make the appropriate arrangements.</a:t>
            </a:r>
          </a:p>
          <a:p>
            <a:endParaRPr lang="en-US" dirty="0"/>
          </a:p>
          <a:p>
            <a:r>
              <a:rPr lang="en-US" dirty="0"/>
              <a:t>Before a major medical policy pays benefits not covered under an exhausted basic medical policy, the insured must pay a corridor deductible.</a:t>
            </a:r>
          </a:p>
          <a:p>
            <a:endParaRPr lang="en-US" dirty="0"/>
          </a:p>
        </p:txBody>
      </p:sp>
    </p:spTree>
    <p:extLst>
      <p:ext uri="{BB962C8B-B14F-4D97-AF65-F5344CB8AC3E}">
        <p14:creationId xmlns:p14="http://schemas.microsoft.com/office/powerpoint/2010/main" val="12526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303212" y="914400"/>
            <a:ext cx="11582400" cy="5638800"/>
          </a:xfrm>
        </p:spPr>
        <p:txBody>
          <a:bodyPr>
            <a:normAutofit lnSpcReduction="10000"/>
          </a:bodyPr>
          <a:lstStyle/>
          <a:p>
            <a:r>
              <a:rPr lang="en-US" dirty="0"/>
              <a:t>An insured has had a life insurance policy that he purchased 3 years ago when he was 40 years old. He is killed in an automobile accident and it is discovered that he is actually 45 years old, and not 43, as stated on the application. What will the company do?</a:t>
            </a:r>
          </a:p>
          <a:p>
            <a:endParaRPr lang="en-US" dirty="0"/>
          </a:p>
          <a:p>
            <a:r>
              <a:rPr lang="en-US" dirty="0"/>
              <a:t>Pay nothing; there was a misrepresentation on the application</a:t>
            </a:r>
          </a:p>
          <a:p>
            <a:r>
              <a:rPr lang="en-US" dirty="0" smtClean="0"/>
              <a:t>Pay </a:t>
            </a:r>
            <a:r>
              <a:rPr lang="en-US" dirty="0"/>
              <a:t>the full death benefit and refund excess premium</a:t>
            </a:r>
          </a:p>
          <a:p>
            <a:r>
              <a:rPr lang="en-US" dirty="0" smtClean="0"/>
              <a:t>Pay </a:t>
            </a:r>
            <a:r>
              <a:rPr lang="en-US" dirty="0"/>
              <a:t>a reduced death benefit</a:t>
            </a:r>
          </a:p>
          <a:p>
            <a:r>
              <a:rPr lang="en-US" dirty="0" smtClean="0"/>
              <a:t>Pay </a:t>
            </a:r>
            <a:r>
              <a:rPr lang="en-US" dirty="0"/>
              <a:t>the full death benefit</a:t>
            </a:r>
          </a:p>
          <a:p>
            <a:endParaRPr lang="en-US" dirty="0"/>
          </a:p>
          <a:p>
            <a:r>
              <a:rPr lang="en-US" dirty="0"/>
              <a:t>The incontestability clause prevents an insurer from denying a claim due to statements in an application after the policy has been in force for 2 years. However, it does not apply to statements relating to age, sex and identity.</a:t>
            </a:r>
          </a:p>
          <a:p>
            <a:endParaRPr lang="en-US" dirty="0"/>
          </a:p>
        </p:txBody>
      </p:sp>
    </p:spTree>
    <p:extLst>
      <p:ext uri="{BB962C8B-B14F-4D97-AF65-F5344CB8AC3E}">
        <p14:creationId xmlns:p14="http://schemas.microsoft.com/office/powerpoint/2010/main" val="4239670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379412" y="1219200"/>
            <a:ext cx="11658600" cy="5486400"/>
          </a:xfrm>
        </p:spPr>
        <p:txBody>
          <a:bodyPr>
            <a:normAutofit/>
          </a:bodyPr>
          <a:lstStyle/>
          <a:p>
            <a:r>
              <a:rPr lang="en-US" dirty="0"/>
              <a:t>Which of the following statements is TRUE concerning the Accidental Death Rider?</a:t>
            </a:r>
          </a:p>
          <a:p>
            <a:endParaRPr lang="en-US" dirty="0"/>
          </a:p>
          <a:p>
            <a:r>
              <a:rPr lang="en-US" dirty="0"/>
              <a:t>It is only available in group insurance.</a:t>
            </a:r>
          </a:p>
          <a:p>
            <a:r>
              <a:rPr lang="en-US" i="1" dirty="0" smtClean="0"/>
              <a:t>It </a:t>
            </a:r>
            <a:r>
              <a:rPr lang="en-US" i="1" dirty="0"/>
              <a:t>will pay double or triple the face amount</a:t>
            </a:r>
            <a:r>
              <a:rPr lang="en-US" dirty="0"/>
              <a:t>.</a:t>
            </a:r>
          </a:p>
          <a:p>
            <a:r>
              <a:rPr lang="en-US" dirty="0" smtClean="0"/>
              <a:t>It </a:t>
            </a:r>
            <a:r>
              <a:rPr lang="en-US" dirty="0"/>
              <a:t>is also known as a triple indemnity rider.</a:t>
            </a:r>
          </a:p>
          <a:p>
            <a:r>
              <a:rPr lang="en-US" dirty="0" smtClean="0"/>
              <a:t>This </a:t>
            </a:r>
            <a:r>
              <a:rPr lang="en-US" dirty="0"/>
              <a:t>rider is only available to </a:t>
            </a:r>
            <a:r>
              <a:rPr lang="en-US" dirty="0" err="1"/>
              <a:t>insureds</a:t>
            </a:r>
            <a:r>
              <a:rPr lang="en-US" dirty="0"/>
              <a:t> over the age of 65.</a:t>
            </a:r>
          </a:p>
          <a:p>
            <a:endParaRPr lang="en-US" dirty="0"/>
          </a:p>
          <a:p>
            <a:r>
              <a:rPr lang="en-US" dirty="0"/>
              <a:t>The Accidental Death Rider pays 2 or 3 times the face amount if death is the result of an accident as defined in the policy and occurs within 90 days of such an accident.</a:t>
            </a:r>
          </a:p>
          <a:p>
            <a:endParaRPr lang="en-US" dirty="0"/>
          </a:p>
        </p:txBody>
      </p:sp>
    </p:spTree>
    <p:extLst>
      <p:ext uri="{BB962C8B-B14F-4D97-AF65-F5344CB8AC3E}">
        <p14:creationId xmlns:p14="http://schemas.microsoft.com/office/powerpoint/2010/main" val="1272821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Example</a:t>
            </a:r>
            <a:endParaRPr lang="en-US" dirty="0"/>
          </a:p>
        </p:txBody>
      </p:sp>
      <p:sp>
        <p:nvSpPr>
          <p:cNvPr id="3" name="Content Placeholder 2"/>
          <p:cNvSpPr>
            <a:spLocks noGrp="1"/>
          </p:cNvSpPr>
          <p:nvPr>
            <p:ph idx="1"/>
          </p:nvPr>
        </p:nvSpPr>
        <p:spPr>
          <a:xfrm>
            <a:off x="303212" y="1066800"/>
            <a:ext cx="11734800" cy="5638800"/>
          </a:xfrm>
        </p:spPr>
        <p:txBody>
          <a:bodyPr>
            <a:normAutofit/>
          </a:bodyPr>
          <a:lstStyle/>
          <a:p>
            <a:r>
              <a:rPr lang="en-US" dirty="0"/>
              <a:t>A Health insurance policy lapses but is reinstated within an acceptable timeframe. How soon from the reinstatement date will coverage for accidents become effective?</a:t>
            </a:r>
          </a:p>
          <a:p>
            <a:endParaRPr lang="en-US" dirty="0"/>
          </a:p>
          <a:p>
            <a:r>
              <a:rPr lang="en-US" dirty="0"/>
              <a:t>Immediately</a:t>
            </a:r>
          </a:p>
          <a:p>
            <a:r>
              <a:rPr lang="en-US" dirty="0" smtClean="0"/>
              <a:t>After </a:t>
            </a:r>
            <a:r>
              <a:rPr lang="en-US" dirty="0"/>
              <a:t>14 days</a:t>
            </a:r>
          </a:p>
          <a:p>
            <a:r>
              <a:rPr lang="en-US" dirty="0" smtClean="0"/>
              <a:t>After </a:t>
            </a:r>
            <a:r>
              <a:rPr lang="en-US" dirty="0"/>
              <a:t>21 days</a:t>
            </a:r>
          </a:p>
          <a:p>
            <a:r>
              <a:rPr lang="en-US" dirty="0" smtClean="0"/>
              <a:t>After </a:t>
            </a:r>
            <a:r>
              <a:rPr lang="en-US" dirty="0"/>
              <a:t>31 days</a:t>
            </a:r>
          </a:p>
          <a:p>
            <a:endParaRPr lang="en-US" dirty="0"/>
          </a:p>
          <a:p>
            <a:r>
              <a:rPr lang="en-US" dirty="0"/>
              <a:t>Coverage for accidents is immediate when reinstatement occurs, but coverage for sickness may have a waiting period of about 10 days.</a:t>
            </a:r>
          </a:p>
          <a:p>
            <a:endParaRPr lang="en-US" dirty="0"/>
          </a:p>
        </p:txBody>
      </p:sp>
    </p:spTree>
    <p:extLst>
      <p:ext uri="{BB962C8B-B14F-4D97-AF65-F5344CB8AC3E}">
        <p14:creationId xmlns:p14="http://schemas.microsoft.com/office/powerpoint/2010/main" val="3161612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Example</a:t>
            </a:r>
            <a:endParaRPr lang="en-US" dirty="0"/>
          </a:p>
        </p:txBody>
      </p:sp>
      <p:sp>
        <p:nvSpPr>
          <p:cNvPr id="3" name="Content Placeholder 2"/>
          <p:cNvSpPr>
            <a:spLocks noGrp="1"/>
          </p:cNvSpPr>
          <p:nvPr>
            <p:ph idx="1"/>
          </p:nvPr>
        </p:nvSpPr>
        <p:spPr>
          <a:xfrm>
            <a:off x="303212" y="1143000"/>
            <a:ext cx="11734800" cy="5562600"/>
          </a:xfrm>
        </p:spPr>
        <p:txBody>
          <a:bodyPr>
            <a:normAutofit fontScale="92500" lnSpcReduction="10000"/>
          </a:bodyPr>
          <a:lstStyle/>
          <a:p>
            <a:r>
              <a:rPr lang="en-US" dirty="0"/>
              <a:t>Under the Accidental Death and Dismemberment (AD&amp;D) coverage, what type of benefit will be paid to the beneficiary in the event of the insured’s accidental death?</a:t>
            </a:r>
          </a:p>
          <a:p>
            <a:endParaRPr lang="en-US" dirty="0"/>
          </a:p>
          <a:p>
            <a:r>
              <a:rPr lang="en-US" dirty="0"/>
              <a:t>Refund of premiums</a:t>
            </a:r>
          </a:p>
          <a:p>
            <a:r>
              <a:rPr lang="en-US" i="1" dirty="0" smtClean="0"/>
              <a:t>Principal </a:t>
            </a:r>
            <a:r>
              <a:rPr lang="en-US" i="1" dirty="0"/>
              <a:t>sum</a:t>
            </a:r>
          </a:p>
          <a:p>
            <a:r>
              <a:rPr lang="en-US" dirty="0" smtClean="0"/>
              <a:t>Capital </a:t>
            </a:r>
            <a:r>
              <a:rPr lang="en-US" dirty="0"/>
              <a:t>sum</a:t>
            </a:r>
          </a:p>
          <a:p>
            <a:r>
              <a:rPr lang="en-US" dirty="0" smtClean="0"/>
              <a:t>Double </a:t>
            </a:r>
            <a:r>
              <a:rPr lang="en-US" dirty="0"/>
              <a:t>the amount of the death benefit</a:t>
            </a:r>
          </a:p>
          <a:p>
            <a:endParaRPr lang="en-US" dirty="0"/>
          </a:p>
          <a:p>
            <a:r>
              <a:rPr lang="en-US" dirty="0"/>
              <a:t>Accidental Death and Dismemberment coverage only pays for accidental losses and is thus considered a pure form of accident insurance. The principal sum is paid for accidental death. In case of loss of sight or accidental dismemberment, a percentage of that principal sum will be paid by the policy, often referred to as the capital sum.</a:t>
            </a:r>
          </a:p>
          <a:p>
            <a:endParaRPr lang="en-US" dirty="0"/>
          </a:p>
        </p:txBody>
      </p:sp>
    </p:spTree>
    <p:extLst>
      <p:ext uri="{BB962C8B-B14F-4D97-AF65-F5344CB8AC3E}">
        <p14:creationId xmlns:p14="http://schemas.microsoft.com/office/powerpoint/2010/main" val="1405319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Long Term Care    LTC</a:t>
            </a:r>
            <a:endParaRPr lang="en-US" dirty="0"/>
          </a:p>
        </p:txBody>
      </p:sp>
      <p:sp>
        <p:nvSpPr>
          <p:cNvPr id="3" name="Content Placeholder 2"/>
          <p:cNvSpPr>
            <a:spLocks noGrp="1"/>
          </p:cNvSpPr>
          <p:nvPr>
            <p:ph idx="1"/>
          </p:nvPr>
        </p:nvSpPr>
        <p:spPr>
          <a:xfrm>
            <a:off x="303212" y="1219200"/>
            <a:ext cx="11658600" cy="5486400"/>
          </a:xfrm>
        </p:spPr>
        <p:txBody>
          <a:bodyPr>
            <a:normAutofit fontScale="85000" lnSpcReduction="20000"/>
          </a:bodyPr>
          <a:lstStyle/>
          <a:p>
            <a:r>
              <a:rPr lang="en-US" dirty="0" smtClean="0"/>
              <a:t>LTC pays for those no longer lead independent lives and require living assistance living or in a nursing home.</a:t>
            </a:r>
          </a:p>
          <a:p>
            <a:r>
              <a:rPr lang="en-US" dirty="0" smtClean="0"/>
              <a:t>Benefit is paid for 2 or 5 years or for life time</a:t>
            </a:r>
          </a:p>
          <a:p>
            <a:r>
              <a:rPr lang="en-US" dirty="0" smtClean="0"/>
              <a:t>LTC policy with longer benefit period will have a higher premium</a:t>
            </a:r>
          </a:p>
          <a:p>
            <a:r>
              <a:rPr lang="en-US" dirty="0" smtClean="0"/>
              <a:t>Exclusions: </a:t>
            </a:r>
          </a:p>
          <a:p>
            <a:r>
              <a:rPr lang="en-US" dirty="0" smtClean="0"/>
              <a:t>Pre-existing conditions or diseases ( six months elimination period) </a:t>
            </a:r>
          </a:p>
          <a:p>
            <a:r>
              <a:rPr lang="en-US" dirty="0" smtClean="0"/>
              <a:t>Level of care:</a:t>
            </a:r>
          </a:p>
          <a:p>
            <a:r>
              <a:rPr lang="en-US" dirty="0" smtClean="0"/>
              <a:t>Home health care</a:t>
            </a:r>
          </a:p>
          <a:p>
            <a:r>
              <a:rPr lang="en-US" dirty="0" smtClean="0"/>
              <a:t>Skilled care</a:t>
            </a:r>
          </a:p>
          <a:p>
            <a:r>
              <a:rPr lang="en-US" dirty="0" smtClean="0"/>
              <a:t>Custodial care</a:t>
            </a:r>
          </a:p>
          <a:p>
            <a:r>
              <a:rPr lang="en-US" dirty="0" smtClean="0"/>
              <a:t>Adult day care</a:t>
            </a:r>
          </a:p>
          <a:p>
            <a:r>
              <a:rPr lang="en-US" dirty="0" smtClean="0"/>
              <a:t>Hospice care </a:t>
            </a:r>
          </a:p>
          <a:p>
            <a:r>
              <a:rPr lang="en-US" dirty="0" smtClean="0"/>
              <a:t>Respite care </a:t>
            </a:r>
            <a:endParaRPr lang="en-US" dirty="0"/>
          </a:p>
        </p:txBody>
      </p:sp>
    </p:spTree>
    <p:extLst>
      <p:ext uri="{BB962C8B-B14F-4D97-AF65-F5344CB8AC3E}">
        <p14:creationId xmlns:p14="http://schemas.microsoft.com/office/powerpoint/2010/main" val="3205473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LTC</a:t>
            </a:r>
            <a:endParaRPr lang="en-US" dirty="0"/>
          </a:p>
        </p:txBody>
      </p:sp>
      <p:sp>
        <p:nvSpPr>
          <p:cNvPr id="3" name="Content Placeholder 2"/>
          <p:cNvSpPr>
            <a:spLocks noGrp="1"/>
          </p:cNvSpPr>
          <p:nvPr>
            <p:ph idx="1"/>
          </p:nvPr>
        </p:nvSpPr>
        <p:spPr>
          <a:xfrm>
            <a:off x="455612" y="1066800"/>
            <a:ext cx="10515602" cy="5105400"/>
          </a:xfrm>
        </p:spPr>
        <p:txBody>
          <a:bodyPr>
            <a:normAutofit/>
          </a:bodyPr>
          <a:lstStyle/>
          <a:p>
            <a:r>
              <a:rPr lang="en-US" dirty="0" smtClean="0"/>
              <a:t>Skilled care: Daily rehabilitation and nursing care that only medical personal care give under the direction of a physician. Skilled care is given in an institutional settings, includes  sterile dressing or physical therapy provided in a skilled nursing care facility.</a:t>
            </a:r>
          </a:p>
          <a:p>
            <a:r>
              <a:rPr lang="en-US" dirty="0"/>
              <a:t>Institutional </a:t>
            </a:r>
            <a:r>
              <a:rPr lang="en-US" dirty="0" smtClean="0"/>
              <a:t>care, Nursing Homes, </a:t>
            </a:r>
            <a:r>
              <a:rPr lang="en-US" dirty="0"/>
              <a:t>Nursing </a:t>
            </a:r>
            <a:r>
              <a:rPr lang="en-US" dirty="0" smtClean="0"/>
              <a:t>facilities, Other </a:t>
            </a:r>
            <a:r>
              <a:rPr lang="en-US" dirty="0"/>
              <a:t>type of </a:t>
            </a:r>
            <a:r>
              <a:rPr lang="en-US" dirty="0" smtClean="0"/>
              <a:t>institution, Skilled </a:t>
            </a:r>
            <a:r>
              <a:rPr lang="en-US" dirty="0"/>
              <a:t>nursing facilities</a:t>
            </a:r>
          </a:p>
          <a:p>
            <a:r>
              <a:rPr lang="en-US" dirty="0" smtClean="0"/>
              <a:t>Nursing </a:t>
            </a:r>
            <a:r>
              <a:rPr lang="en-US" dirty="0"/>
              <a:t>homes licensed by the state</a:t>
            </a:r>
          </a:p>
          <a:p>
            <a:r>
              <a:rPr lang="en-US" dirty="0" smtClean="0"/>
              <a:t>Personal </a:t>
            </a:r>
            <a:r>
              <a:rPr lang="en-US" dirty="0"/>
              <a:t>care and skilled nursing care on 24 hour a day basis on resident</a:t>
            </a:r>
          </a:p>
          <a:p>
            <a:endParaRPr lang="en-US" dirty="0"/>
          </a:p>
          <a:p>
            <a:endParaRPr lang="en-US" dirty="0"/>
          </a:p>
        </p:txBody>
      </p:sp>
    </p:spTree>
    <p:extLst>
      <p:ext uri="{BB962C8B-B14F-4D97-AF65-F5344CB8AC3E}">
        <p14:creationId xmlns:p14="http://schemas.microsoft.com/office/powerpoint/2010/main" val="994138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150812" y="990600"/>
            <a:ext cx="11811000" cy="5715000"/>
          </a:xfrm>
        </p:spPr>
        <p:txBody>
          <a:bodyPr/>
          <a:lstStyle/>
          <a:p>
            <a:r>
              <a:rPr lang="en-US" dirty="0" smtClean="0"/>
              <a:t>For a patient to be eligible for </a:t>
            </a:r>
            <a:r>
              <a:rPr lang="en-US" dirty="0" err="1" smtClean="0"/>
              <a:t>medicare’s</a:t>
            </a:r>
            <a:r>
              <a:rPr lang="en-US" dirty="0" smtClean="0"/>
              <a:t> nursing home benefit, she must meet all of he following requirements except</a:t>
            </a:r>
          </a:p>
          <a:p>
            <a:endParaRPr lang="en-US" dirty="0"/>
          </a:p>
          <a:p>
            <a:r>
              <a:rPr lang="en-US" i="1" dirty="0" smtClean="0"/>
              <a:t>Enter a </a:t>
            </a:r>
            <a:r>
              <a:rPr lang="en-US" i="1" dirty="0" err="1" smtClean="0"/>
              <a:t>medicare</a:t>
            </a:r>
            <a:r>
              <a:rPr lang="en-US" i="1" dirty="0"/>
              <a:t> </a:t>
            </a:r>
            <a:r>
              <a:rPr lang="en-US" i="1" dirty="0" smtClean="0"/>
              <a:t>certified skilled nursing facility</a:t>
            </a:r>
          </a:p>
          <a:p>
            <a:r>
              <a:rPr lang="en-US" dirty="0" smtClean="0"/>
              <a:t>Spend at least 3 days in a hospital</a:t>
            </a:r>
          </a:p>
          <a:p>
            <a:r>
              <a:rPr lang="en-US" dirty="0" smtClean="0"/>
              <a:t>Reduce countable assets to $2000</a:t>
            </a:r>
          </a:p>
          <a:p>
            <a:r>
              <a:rPr lang="en-US" dirty="0" smtClean="0"/>
              <a:t>Have a physician certify that the care to be received must be skilled care</a:t>
            </a:r>
          </a:p>
          <a:p>
            <a:endParaRPr lang="en-US" dirty="0"/>
          </a:p>
          <a:p>
            <a:r>
              <a:rPr lang="en-US" dirty="0" smtClean="0"/>
              <a:t>Patient must spend </a:t>
            </a:r>
            <a:r>
              <a:rPr lang="en-US" dirty="0" err="1" smtClean="0"/>
              <a:t>atleast</a:t>
            </a:r>
            <a:r>
              <a:rPr lang="en-US" dirty="0" smtClean="0"/>
              <a:t> three days in the hospital, reduce countable asset to 2000 and have a physician certify if patient don’t any have insurance and want to use </a:t>
            </a:r>
            <a:r>
              <a:rPr lang="en-US" dirty="0" err="1" smtClean="0"/>
              <a:t>medicad</a:t>
            </a:r>
            <a:r>
              <a:rPr lang="en-US" dirty="0" smtClean="0"/>
              <a:t> </a:t>
            </a:r>
            <a:endParaRPr lang="en-US" dirty="0"/>
          </a:p>
        </p:txBody>
      </p:sp>
    </p:spTree>
    <p:extLst>
      <p:ext uri="{BB962C8B-B14F-4D97-AF65-F5344CB8AC3E}">
        <p14:creationId xmlns:p14="http://schemas.microsoft.com/office/powerpoint/2010/main" val="634774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LTC</a:t>
            </a:r>
            <a:endParaRPr lang="en-US" dirty="0"/>
          </a:p>
        </p:txBody>
      </p:sp>
      <p:sp>
        <p:nvSpPr>
          <p:cNvPr id="3" name="Content Placeholder 2"/>
          <p:cNvSpPr>
            <a:spLocks noGrp="1"/>
          </p:cNvSpPr>
          <p:nvPr>
            <p:ph idx="1"/>
          </p:nvPr>
        </p:nvSpPr>
        <p:spPr>
          <a:xfrm>
            <a:off x="74612" y="1295400"/>
            <a:ext cx="11658600" cy="5257800"/>
          </a:xfrm>
        </p:spPr>
        <p:txBody>
          <a:bodyPr>
            <a:normAutofit fontScale="92500" lnSpcReduction="20000"/>
          </a:bodyPr>
          <a:lstStyle/>
          <a:p>
            <a:r>
              <a:rPr lang="en-US" dirty="0" smtClean="0"/>
              <a:t>Intermediate care:  is occasional rehabilitative or nursing given to insured with stable conditions that require daily medial assistance on a less frequent basis than skilled nursing care.</a:t>
            </a:r>
          </a:p>
          <a:p>
            <a:r>
              <a:rPr lang="en-US" dirty="0" smtClean="0"/>
              <a:t>Custodial care: for assistance with personal needs such as eating, dressing or bathing which can be given by non medical personnel, such as home health care worker or relative, it cares for daily activities not surgical or hospital care</a:t>
            </a:r>
          </a:p>
          <a:p>
            <a:r>
              <a:rPr lang="en-US" dirty="0" smtClean="0"/>
              <a:t>Home health care:  </a:t>
            </a:r>
            <a:r>
              <a:rPr lang="en-US" dirty="0" smtClean="0"/>
              <a:t>This care provided at home, by skill nursing care or other professional care. Includes occasional visits to the person’s home health care worker, licensed practical nurses, registered nurses, licensed vocational nurses  or community based organization like hospice.</a:t>
            </a:r>
          </a:p>
          <a:p>
            <a:r>
              <a:rPr lang="en-US" dirty="0" smtClean="0"/>
              <a:t>Hom</a:t>
            </a:r>
            <a:r>
              <a:rPr lang="en-US" dirty="0" smtClean="0"/>
              <a:t>e convalescent care: is given in home under a planned program established by the attending physician</a:t>
            </a:r>
          </a:p>
          <a:p>
            <a:r>
              <a:rPr lang="en-US" dirty="0" smtClean="0"/>
              <a:t>Residential care: elderly living in a residential care facility or retirement community, physical social  environment that contributes to continued intellectual psychological growth</a:t>
            </a:r>
          </a:p>
          <a:p>
            <a:r>
              <a:rPr lang="en-US" dirty="0" smtClean="0"/>
              <a:t>Respite Care: provide relief to family caregiver to take a break or nap  or go out</a:t>
            </a:r>
            <a:endParaRPr lang="en-US" dirty="0"/>
          </a:p>
        </p:txBody>
      </p:sp>
    </p:spTree>
    <p:extLst>
      <p:ext uri="{BB962C8B-B14F-4D97-AF65-F5344CB8AC3E}">
        <p14:creationId xmlns:p14="http://schemas.microsoft.com/office/powerpoint/2010/main" val="4074098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303212" y="1066800"/>
            <a:ext cx="11582400" cy="5638800"/>
          </a:xfrm>
        </p:spPr>
        <p:txBody>
          <a:bodyPr/>
          <a:lstStyle/>
          <a:p>
            <a:r>
              <a:rPr lang="en-US" dirty="0" smtClean="0"/>
              <a:t>What type of care is provided on informal basis</a:t>
            </a:r>
          </a:p>
          <a:p>
            <a:endParaRPr lang="en-US" dirty="0"/>
          </a:p>
          <a:p>
            <a:r>
              <a:rPr lang="en-US" dirty="0" smtClean="0"/>
              <a:t>Skilled nursing care </a:t>
            </a:r>
          </a:p>
          <a:p>
            <a:r>
              <a:rPr lang="en-US" dirty="0" smtClean="0"/>
              <a:t>Respite care</a:t>
            </a:r>
          </a:p>
          <a:p>
            <a:r>
              <a:rPr lang="en-US" dirty="0" smtClean="0"/>
              <a:t>Hospice care</a:t>
            </a:r>
          </a:p>
          <a:p>
            <a:r>
              <a:rPr lang="en-US" i="1" dirty="0" smtClean="0"/>
              <a:t>Custodial care</a:t>
            </a:r>
            <a:endParaRPr lang="en-US" i="1" dirty="0"/>
          </a:p>
        </p:txBody>
      </p:sp>
    </p:spTree>
    <p:extLst>
      <p:ext uri="{BB962C8B-B14F-4D97-AF65-F5344CB8AC3E}">
        <p14:creationId xmlns:p14="http://schemas.microsoft.com/office/powerpoint/2010/main" val="409355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a:t>Example</a:t>
            </a:r>
            <a:r>
              <a:rPr lang="en-US" dirty="0" smtClean="0"/>
              <a:t>:</a:t>
            </a:r>
            <a:endParaRPr lang="en-US" dirty="0"/>
          </a:p>
        </p:txBody>
      </p:sp>
      <p:sp>
        <p:nvSpPr>
          <p:cNvPr id="3" name="Content Placeholder 2"/>
          <p:cNvSpPr>
            <a:spLocks noGrp="1"/>
          </p:cNvSpPr>
          <p:nvPr>
            <p:ph idx="1"/>
          </p:nvPr>
        </p:nvSpPr>
        <p:spPr>
          <a:xfrm>
            <a:off x="379412" y="914400"/>
            <a:ext cx="10591802" cy="5257800"/>
          </a:xfrm>
        </p:spPr>
        <p:txBody>
          <a:bodyPr>
            <a:normAutofit/>
          </a:bodyPr>
          <a:lstStyle/>
          <a:p>
            <a:r>
              <a:rPr lang="en-US" dirty="0"/>
              <a:t>Under a Key Person disability income policy, premium </a:t>
            </a:r>
            <a:r>
              <a:rPr lang="en-US" dirty="0" smtClean="0"/>
              <a:t>payments</a:t>
            </a:r>
          </a:p>
          <a:p>
            <a:endParaRPr lang="en-US" dirty="0"/>
          </a:p>
          <a:p>
            <a:r>
              <a:rPr lang="en-US" i="1" dirty="0"/>
              <a:t>Are made by the business and are not tax-deductible</a:t>
            </a:r>
            <a:r>
              <a:rPr lang="en-US" dirty="0"/>
              <a:t>.</a:t>
            </a:r>
          </a:p>
          <a:p>
            <a:r>
              <a:rPr lang="en-US" dirty="0"/>
              <a:t>Are made by the employee and are not tax-deductible.</a:t>
            </a:r>
          </a:p>
          <a:p>
            <a:r>
              <a:rPr lang="en-US" dirty="0"/>
              <a:t>Are made by the employee and are tax-free.</a:t>
            </a:r>
          </a:p>
          <a:p>
            <a:r>
              <a:rPr lang="en-US" dirty="0"/>
              <a:t>Are made by the business and are tax-deductible</a:t>
            </a:r>
            <a:r>
              <a:rPr lang="en-US" dirty="0" smtClean="0"/>
              <a:t>.</a:t>
            </a:r>
          </a:p>
          <a:p>
            <a:endParaRPr lang="en-US" dirty="0"/>
          </a:p>
          <a:p>
            <a:r>
              <a:rPr lang="en-US" dirty="0"/>
              <a:t>Premiums are nondeductible to the business; however, benefits are received tax-free by the business</a:t>
            </a:r>
          </a:p>
        </p:txBody>
      </p:sp>
    </p:spTree>
    <p:extLst>
      <p:ext uri="{BB962C8B-B14F-4D97-AF65-F5344CB8AC3E}">
        <p14:creationId xmlns:p14="http://schemas.microsoft.com/office/powerpoint/2010/main" val="771446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303212" y="1143000"/>
            <a:ext cx="11582400" cy="5486400"/>
          </a:xfrm>
        </p:spPr>
        <p:txBody>
          <a:bodyPr>
            <a:normAutofit/>
          </a:bodyPr>
          <a:lstStyle/>
          <a:p>
            <a:r>
              <a:rPr lang="en-US" dirty="0"/>
              <a:t>The gatekeeper of an HMO helps</a:t>
            </a:r>
          </a:p>
          <a:p>
            <a:endParaRPr lang="en-US" dirty="0"/>
          </a:p>
          <a:p>
            <a:r>
              <a:rPr lang="en-US" dirty="0"/>
              <a:t>Determine who will be allowed to enroll in an HMO program.</a:t>
            </a:r>
          </a:p>
          <a:p>
            <a:r>
              <a:rPr lang="en-US" dirty="0" smtClean="0"/>
              <a:t>Prevent </a:t>
            </a:r>
            <a:r>
              <a:rPr lang="en-US" dirty="0"/>
              <a:t>double coverage.</a:t>
            </a:r>
          </a:p>
          <a:p>
            <a:r>
              <a:rPr lang="en-US" dirty="0" smtClean="0"/>
              <a:t>Determine </a:t>
            </a:r>
            <a:r>
              <a:rPr lang="en-US" dirty="0"/>
              <a:t>which doctors can participate in an HMO plan.</a:t>
            </a:r>
          </a:p>
          <a:p>
            <a:r>
              <a:rPr lang="en-US" i="1" dirty="0" smtClean="0"/>
              <a:t>Control </a:t>
            </a:r>
            <a:r>
              <a:rPr lang="en-US" i="1" dirty="0"/>
              <a:t>specialist costs.</a:t>
            </a:r>
          </a:p>
          <a:p>
            <a:endParaRPr lang="en-US" i="1" dirty="0"/>
          </a:p>
          <a:p>
            <a:r>
              <a:rPr lang="en-US" dirty="0"/>
              <a:t>Initially the member chooses a primary care physician, or gatekeeper. If the member needs the attention of a specialist, the primary care physician must refer the member. This helps keep the member away from the higher priced specialists unless it is truly necessary.</a:t>
            </a:r>
          </a:p>
          <a:p>
            <a:endParaRPr lang="en-US" dirty="0"/>
          </a:p>
        </p:txBody>
      </p:sp>
    </p:spTree>
    <p:extLst>
      <p:ext uri="{BB962C8B-B14F-4D97-AF65-F5344CB8AC3E}">
        <p14:creationId xmlns:p14="http://schemas.microsoft.com/office/powerpoint/2010/main" val="164805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27012" y="1066800"/>
            <a:ext cx="11734800" cy="5562600"/>
          </a:xfrm>
        </p:spPr>
        <p:txBody>
          <a:bodyPr>
            <a:normAutofit fontScale="92500" lnSpcReduction="10000"/>
          </a:bodyPr>
          <a:lstStyle/>
          <a:p>
            <a:r>
              <a:rPr lang="en-US" dirty="0"/>
              <a:t>In a basic expense policy, after the limits of the basic policy are exhausted, the insured must pay what kind of deductible?</a:t>
            </a:r>
          </a:p>
          <a:p>
            <a:endParaRPr lang="en-US" dirty="0"/>
          </a:p>
          <a:p>
            <a:r>
              <a:rPr lang="en-US" dirty="0"/>
              <a:t>Half</a:t>
            </a:r>
          </a:p>
          <a:p>
            <a:r>
              <a:rPr lang="en-US" dirty="0" smtClean="0"/>
              <a:t>None</a:t>
            </a:r>
            <a:endParaRPr lang="en-US" dirty="0"/>
          </a:p>
          <a:p>
            <a:r>
              <a:rPr lang="en-US" i="1" dirty="0" smtClean="0"/>
              <a:t>Corridor</a:t>
            </a:r>
            <a:endParaRPr lang="en-US" i="1" dirty="0"/>
          </a:p>
          <a:p>
            <a:r>
              <a:rPr lang="en-US" dirty="0" smtClean="0"/>
              <a:t>Full</a:t>
            </a:r>
            <a:endParaRPr lang="en-US" dirty="0"/>
          </a:p>
          <a:p>
            <a:endParaRPr lang="en-US" dirty="0"/>
          </a:p>
          <a:p>
            <a:r>
              <a:rPr lang="en-US" dirty="0"/>
              <a:t>The basic expense policy will provide coverage on a first-dollar basis (no deductible). After the limits of the basic policy are exhausted, the insured must pay a corridor deductible before the major medical coverage will pay benefits. The corridor deductible derives its name from the fact that it is applied between the basic coverage and the major medical coverage.</a:t>
            </a:r>
          </a:p>
          <a:p>
            <a:endParaRPr lang="en-US" dirty="0"/>
          </a:p>
        </p:txBody>
      </p:sp>
    </p:spTree>
    <p:extLst>
      <p:ext uri="{BB962C8B-B14F-4D97-AF65-F5344CB8AC3E}">
        <p14:creationId xmlns:p14="http://schemas.microsoft.com/office/powerpoint/2010/main" val="829004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4873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303212" y="990600"/>
            <a:ext cx="11582400" cy="5715000"/>
          </a:xfrm>
        </p:spPr>
        <p:txBody>
          <a:bodyPr>
            <a:normAutofit lnSpcReduction="10000"/>
          </a:bodyPr>
          <a:lstStyle/>
          <a:p>
            <a:r>
              <a:rPr lang="en-US" dirty="0"/>
              <a:t>Regarding long-term care coverage, as the elimination period gets shorter, the premium</a:t>
            </a:r>
          </a:p>
          <a:p>
            <a:endParaRPr lang="en-US" dirty="0"/>
          </a:p>
          <a:p>
            <a:r>
              <a:rPr lang="en-US" dirty="0"/>
              <a:t>Gets lower.</a:t>
            </a:r>
          </a:p>
          <a:p>
            <a:r>
              <a:rPr lang="en-US" i="1" dirty="0" smtClean="0"/>
              <a:t>Gets </a:t>
            </a:r>
            <a:r>
              <a:rPr lang="en-US" i="1" dirty="0"/>
              <a:t>higher.</a:t>
            </a:r>
          </a:p>
          <a:p>
            <a:r>
              <a:rPr lang="en-US" dirty="0" smtClean="0"/>
              <a:t>Remains </a:t>
            </a:r>
            <a:r>
              <a:rPr lang="en-US" dirty="0"/>
              <a:t>constant.</a:t>
            </a:r>
          </a:p>
          <a:p>
            <a:r>
              <a:rPr lang="en-US" dirty="0" smtClean="0"/>
              <a:t>Premiums </a:t>
            </a:r>
            <a:r>
              <a:rPr lang="en-US" dirty="0"/>
              <a:t>are not based on elimination periods.</a:t>
            </a:r>
          </a:p>
          <a:p>
            <a:endParaRPr lang="en-US" dirty="0"/>
          </a:p>
          <a:p>
            <a:r>
              <a:rPr lang="en-US" dirty="0"/>
              <a:t>LTC policies also define the benefit period for how long coverage applies, after the elimination period. The benefit period is usually 2 to 5 years, with a few policies offering lifetime coverage. Obviously the longer the benefit period, the higher the premium will be; and the shorter the elimination period, the higher the premium will be.</a:t>
            </a:r>
          </a:p>
          <a:p>
            <a:endParaRPr lang="en-US" dirty="0"/>
          </a:p>
        </p:txBody>
      </p:sp>
    </p:spTree>
    <p:extLst>
      <p:ext uri="{BB962C8B-B14F-4D97-AF65-F5344CB8AC3E}">
        <p14:creationId xmlns:p14="http://schemas.microsoft.com/office/powerpoint/2010/main" val="1976587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FSA flexible spending accounts</a:t>
            </a:r>
            <a:endParaRPr lang="en-US" dirty="0"/>
          </a:p>
        </p:txBody>
      </p:sp>
      <p:sp>
        <p:nvSpPr>
          <p:cNvPr id="3" name="Content Placeholder 2"/>
          <p:cNvSpPr>
            <a:spLocks noGrp="1"/>
          </p:cNvSpPr>
          <p:nvPr>
            <p:ph idx="1"/>
          </p:nvPr>
        </p:nvSpPr>
        <p:spPr>
          <a:xfrm>
            <a:off x="150812" y="990600"/>
            <a:ext cx="11887200" cy="5867400"/>
          </a:xfrm>
        </p:spPr>
        <p:txBody>
          <a:bodyPr/>
          <a:lstStyle/>
          <a:p>
            <a:r>
              <a:rPr lang="en-US" dirty="0" smtClean="0"/>
              <a:t>FSA is a benefit funded by employer contributions and salary reduction. Employees are allowed to deposit a certain amount of their income into an account before paying taxes. Employees are allowed to deposit a certain amount of their income into an account before paying taxes. </a:t>
            </a:r>
          </a:p>
          <a:p>
            <a:r>
              <a:rPr lang="en-US" dirty="0" smtClean="0"/>
              <a:t>During the year, this account directly reimburses the employee for eligible health care and dependent care expenses. </a:t>
            </a:r>
          </a:p>
          <a:p>
            <a:r>
              <a:rPr lang="en-US" dirty="0" smtClean="0"/>
              <a:t>FSA benefits are use it or lose it and annual contributions rules.</a:t>
            </a:r>
          </a:p>
          <a:p>
            <a:r>
              <a:rPr lang="en-US" dirty="0" smtClean="0"/>
              <a:t>This plan does not offer a cumulative benefits beyond the plan year.</a:t>
            </a:r>
          </a:p>
          <a:p>
            <a:r>
              <a:rPr lang="en-US" dirty="0" smtClean="0"/>
              <a:t>The annual contributions for dependent care accounts is limited by the IRS to a specified amount that is adjusted annually for the cost of living. This is a family unit meaning that even if both parents contribute to  flexible care accounts their combined contributions cannot exceed the amount.</a:t>
            </a:r>
            <a:endParaRPr lang="en-US" dirty="0"/>
          </a:p>
        </p:txBody>
      </p:sp>
    </p:spTree>
    <p:extLst>
      <p:ext uri="{BB962C8B-B14F-4D97-AF65-F5344CB8AC3E}">
        <p14:creationId xmlns:p14="http://schemas.microsoft.com/office/powerpoint/2010/main" val="167696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28600"/>
            <a:ext cx="9753600" cy="609600"/>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303212" y="990600"/>
            <a:ext cx="11734800" cy="5715000"/>
          </a:xfrm>
        </p:spPr>
        <p:txBody>
          <a:bodyPr>
            <a:normAutofit/>
          </a:bodyPr>
          <a:lstStyle/>
          <a:p>
            <a:r>
              <a:rPr lang="en-US" dirty="0"/>
              <a:t>Which of the following types of LTC is NOT provided in an institutional setting?</a:t>
            </a:r>
          </a:p>
          <a:p>
            <a:endParaRPr lang="en-US" dirty="0"/>
          </a:p>
          <a:p>
            <a:r>
              <a:rPr lang="en-US" dirty="0"/>
              <a:t>Intermediate care</a:t>
            </a:r>
          </a:p>
          <a:p>
            <a:r>
              <a:rPr lang="en-US" dirty="0" smtClean="0"/>
              <a:t>Home </a:t>
            </a:r>
            <a:r>
              <a:rPr lang="en-US" dirty="0"/>
              <a:t>health care</a:t>
            </a:r>
          </a:p>
          <a:p>
            <a:r>
              <a:rPr lang="en-US" dirty="0" smtClean="0"/>
              <a:t>Custodial </a:t>
            </a:r>
            <a:r>
              <a:rPr lang="en-US" dirty="0"/>
              <a:t>care</a:t>
            </a:r>
          </a:p>
          <a:p>
            <a:r>
              <a:rPr lang="en-US" dirty="0" smtClean="0"/>
              <a:t>Skilled </a:t>
            </a:r>
            <a:r>
              <a:rPr lang="en-US" dirty="0"/>
              <a:t>nursing care</a:t>
            </a:r>
          </a:p>
          <a:p>
            <a:endParaRPr lang="en-US" dirty="0"/>
          </a:p>
          <a:p>
            <a:r>
              <a:rPr lang="en-US" dirty="0"/>
              <a:t>Home health care is given in the home, but skilled nursing, intermediate, and custodial care may all be provided in an institutional setting.</a:t>
            </a:r>
          </a:p>
          <a:p>
            <a:endParaRPr lang="en-US" dirty="0"/>
          </a:p>
        </p:txBody>
      </p:sp>
    </p:spTree>
    <p:extLst>
      <p:ext uri="{BB962C8B-B14F-4D97-AF65-F5344CB8AC3E}">
        <p14:creationId xmlns:p14="http://schemas.microsoft.com/office/powerpoint/2010/main" val="667788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150812" y="1143000"/>
            <a:ext cx="11811000" cy="5486400"/>
          </a:xfrm>
        </p:spPr>
        <p:txBody>
          <a:bodyPr>
            <a:normAutofit/>
          </a:bodyPr>
          <a:lstStyle/>
          <a:p>
            <a:r>
              <a:rPr lang="en-US" dirty="0"/>
              <a:t>Prior to purchasing a </a:t>
            </a:r>
            <a:r>
              <a:rPr lang="en-US" dirty="0" err="1"/>
              <a:t>Medigap</a:t>
            </a:r>
            <a:r>
              <a:rPr lang="en-US" dirty="0"/>
              <a:t> policy, a person must be enrolled in which of the following?</a:t>
            </a:r>
          </a:p>
          <a:p>
            <a:endParaRPr lang="en-US" dirty="0"/>
          </a:p>
          <a:p>
            <a:r>
              <a:rPr lang="en-US" i="1" dirty="0"/>
              <a:t>Parts A and B of Medicare</a:t>
            </a:r>
          </a:p>
          <a:p>
            <a:r>
              <a:rPr lang="en-US" dirty="0" smtClean="0"/>
              <a:t>All </a:t>
            </a:r>
            <a:r>
              <a:rPr lang="en-US" dirty="0"/>
              <a:t>four parts of Medicare</a:t>
            </a:r>
          </a:p>
          <a:p>
            <a:r>
              <a:rPr lang="en-US" dirty="0" smtClean="0"/>
              <a:t>Any </a:t>
            </a:r>
            <a:r>
              <a:rPr lang="en-US" dirty="0"/>
              <a:t>private insurance policy</a:t>
            </a:r>
          </a:p>
          <a:p>
            <a:r>
              <a:rPr lang="en-US" dirty="0" smtClean="0"/>
              <a:t>Only </a:t>
            </a:r>
            <a:r>
              <a:rPr lang="en-US" dirty="0"/>
              <a:t>Part A of Medicare</a:t>
            </a:r>
          </a:p>
          <a:p>
            <a:endParaRPr lang="en-US" dirty="0"/>
          </a:p>
          <a:p>
            <a:r>
              <a:rPr lang="en-US" dirty="0"/>
              <a:t>To buy a </a:t>
            </a:r>
            <a:r>
              <a:rPr lang="en-US" dirty="0" err="1"/>
              <a:t>Medigap</a:t>
            </a:r>
            <a:r>
              <a:rPr lang="en-US" dirty="0"/>
              <a:t> policy, the applicant must generally have both Medicare Part A and Part B.</a:t>
            </a:r>
          </a:p>
          <a:p>
            <a:endParaRPr lang="en-US" dirty="0"/>
          </a:p>
        </p:txBody>
      </p:sp>
    </p:spTree>
    <p:extLst>
      <p:ext uri="{BB962C8B-B14F-4D97-AF65-F5344CB8AC3E}">
        <p14:creationId xmlns:p14="http://schemas.microsoft.com/office/powerpoint/2010/main" val="193625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563562"/>
          </a:xfrm>
        </p:spPr>
        <p:txBody>
          <a:bodyPr>
            <a:normAutofit fontScale="90000"/>
          </a:bodyPr>
          <a:lstStyle/>
          <a:p>
            <a:r>
              <a:rPr lang="en-US" dirty="0" smtClean="0"/>
              <a:t>Example </a:t>
            </a:r>
            <a:endParaRPr lang="en-US" dirty="0"/>
          </a:p>
        </p:txBody>
      </p:sp>
      <p:sp>
        <p:nvSpPr>
          <p:cNvPr id="3" name="Content Placeholder 2"/>
          <p:cNvSpPr>
            <a:spLocks noGrp="1"/>
          </p:cNvSpPr>
          <p:nvPr>
            <p:ph idx="1"/>
          </p:nvPr>
        </p:nvSpPr>
        <p:spPr>
          <a:xfrm>
            <a:off x="303212" y="1066800"/>
            <a:ext cx="11658600" cy="5562600"/>
          </a:xfrm>
        </p:spPr>
        <p:txBody>
          <a:bodyPr>
            <a:normAutofit lnSpcReduction="10000"/>
          </a:bodyPr>
          <a:lstStyle/>
          <a:p>
            <a:r>
              <a:rPr lang="en-US" dirty="0"/>
              <a:t>Which statement regarding qualifications for Social Security disability benefits is NOT true?</a:t>
            </a:r>
          </a:p>
          <a:p>
            <a:endParaRPr lang="en-US" dirty="0"/>
          </a:p>
          <a:p>
            <a:r>
              <a:rPr lang="en-US" dirty="0"/>
              <a:t>The individual must be at least 65 years old.</a:t>
            </a:r>
          </a:p>
          <a:p>
            <a:r>
              <a:rPr lang="en-US" dirty="0" smtClean="0"/>
              <a:t>The </a:t>
            </a:r>
            <a:r>
              <a:rPr lang="en-US" dirty="0"/>
              <a:t>individual must satisfy the waiting period.</a:t>
            </a:r>
          </a:p>
          <a:p>
            <a:r>
              <a:rPr lang="en-US" dirty="0" smtClean="0"/>
              <a:t>The </a:t>
            </a:r>
            <a:r>
              <a:rPr lang="en-US" dirty="0"/>
              <a:t>individual must meet the definition of disability.</a:t>
            </a:r>
          </a:p>
          <a:p>
            <a:r>
              <a:rPr lang="en-US" dirty="0" smtClean="0"/>
              <a:t>The </a:t>
            </a:r>
            <a:r>
              <a:rPr lang="en-US" dirty="0"/>
              <a:t>individual must have proper insured status.</a:t>
            </a:r>
          </a:p>
          <a:p>
            <a:endParaRPr lang="en-US" dirty="0"/>
          </a:p>
          <a:p>
            <a:r>
              <a:rPr lang="en-US" dirty="0"/>
              <a:t>It is difficult to receive Social Security disability benefits. Prospective recipients must have a particular insured status and satisfy a waiting period. Recipients must also meet a strict definition of total disability, making qualifying for benefits difficult.</a:t>
            </a:r>
          </a:p>
          <a:p>
            <a:endParaRPr lang="en-US" dirty="0"/>
          </a:p>
        </p:txBody>
      </p:sp>
    </p:spTree>
    <p:extLst>
      <p:ext uri="{BB962C8B-B14F-4D97-AF65-F5344CB8AC3E}">
        <p14:creationId xmlns:p14="http://schemas.microsoft.com/office/powerpoint/2010/main" val="799160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303212" y="1295400"/>
            <a:ext cx="11582400" cy="5410200"/>
          </a:xfrm>
        </p:spPr>
        <p:txBody>
          <a:bodyPr>
            <a:normAutofit fontScale="92500" lnSpcReduction="20000"/>
          </a:bodyPr>
          <a:lstStyle/>
          <a:p>
            <a:r>
              <a:rPr lang="en-US" dirty="0"/>
              <a:t>Under the Accidental Death and Dismemberment (AD&amp;D) coverage, what type of benefit will be paid to the beneficiary in the event of the insured’s accidental death?</a:t>
            </a:r>
          </a:p>
          <a:p>
            <a:endParaRPr lang="en-US" dirty="0"/>
          </a:p>
          <a:p>
            <a:r>
              <a:rPr lang="en-US" dirty="0"/>
              <a:t>Refund of premiums</a:t>
            </a:r>
          </a:p>
          <a:p>
            <a:r>
              <a:rPr lang="en-US" i="1" dirty="0" smtClean="0"/>
              <a:t>Principal </a:t>
            </a:r>
            <a:r>
              <a:rPr lang="en-US" i="1" dirty="0"/>
              <a:t>sum</a:t>
            </a:r>
          </a:p>
          <a:p>
            <a:r>
              <a:rPr lang="en-US" dirty="0" smtClean="0"/>
              <a:t>Capital </a:t>
            </a:r>
            <a:r>
              <a:rPr lang="en-US" dirty="0"/>
              <a:t>sum</a:t>
            </a:r>
          </a:p>
          <a:p>
            <a:r>
              <a:rPr lang="en-US" dirty="0" smtClean="0"/>
              <a:t>Double </a:t>
            </a:r>
            <a:r>
              <a:rPr lang="en-US" dirty="0"/>
              <a:t>the amount of the death benefit</a:t>
            </a:r>
          </a:p>
          <a:p>
            <a:endParaRPr lang="en-US" dirty="0"/>
          </a:p>
          <a:p>
            <a:r>
              <a:rPr lang="en-US" dirty="0"/>
              <a:t>Accidental Death and Dismemberment coverage only pays for accidental losses and is thus considered a pure form of accident insurance. The principal sum is paid for accidental death. In case of loss of sight or accidental dismemberment, a percentage of that principal sum will be paid by the policy, often referred to as the capital sum.</a:t>
            </a:r>
          </a:p>
          <a:p>
            <a:endParaRPr lang="en-US" dirty="0"/>
          </a:p>
        </p:txBody>
      </p:sp>
    </p:spTree>
    <p:extLst>
      <p:ext uri="{BB962C8B-B14F-4D97-AF65-F5344CB8AC3E}">
        <p14:creationId xmlns:p14="http://schemas.microsoft.com/office/powerpoint/2010/main" val="2198604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p:txBody>
          <a:bodyPr>
            <a:normAutofit fontScale="92500" lnSpcReduction="20000"/>
          </a:bodyPr>
          <a:lstStyle/>
          <a:p>
            <a:r>
              <a:rPr lang="en-US" dirty="0"/>
              <a:t>Which type of a hospital policy pays a fixed amount each day that the insured is in a hospital?</a:t>
            </a:r>
          </a:p>
          <a:p>
            <a:endParaRPr lang="en-US" dirty="0"/>
          </a:p>
          <a:p>
            <a:r>
              <a:rPr lang="en-US" dirty="0"/>
              <a:t>Surgical</a:t>
            </a:r>
          </a:p>
          <a:p>
            <a:r>
              <a:rPr lang="en-US" dirty="0" smtClean="0"/>
              <a:t>Blanket</a:t>
            </a:r>
            <a:endParaRPr lang="en-US" dirty="0"/>
          </a:p>
          <a:p>
            <a:r>
              <a:rPr lang="en-US" dirty="0" err="1" smtClean="0"/>
              <a:t>Medigap</a:t>
            </a:r>
            <a:endParaRPr lang="en-US" dirty="0"/>
          </a:p>
          <a:p>
            <a:r>
              <a:rPr lang="en-US" i="1" dirty="0" smtClean="0"/>
              <a:t>Indemnity</a:t>
            </a:r>
            <a:endParaRPr lang="en-US" i="1" dirty="0"/>
          </a:p>
          <a:p>
            <a:endParaRPr lang="en-US" dirty="0"/>
          </a:p>
          <a:p>
            <a:r>
              <a:rPr lang="en-US" dirty="0"/>
              <a:t>A Hospital Indemnity policy pays a fixed amount each day the insured is hospitalized, unrelated to medical expenses.</a:t>
            </a:r>
          </a:p>
        </p:txBody>
      </p:sp>
    </p:spTree>
    <p:extLst>
      <p:ext uri="{BB962C8B-B14F-4D97-AF65-F5344CB8AC3E}">
        <p14:creationId xmlns:p14="http://schemas.microsoft.com/office/powerpoint/2010/main" val="622866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92162"/>
          </a:xfrm>
        </p:spPr>
        <p:txBody>
          <a:bodyPr/>
          <a:lstStyle/>
          <a:p>
            <a:r>
              <a:rPr lang="en-US" dirty="0" smtClean="0"/>
              <a:t>Example</a:t>
            </a:r>
            <a:endParaRPr lang="en-US" dirty="0"/>
          </a:p>
        </p:txBody>
      </p:sp>
      <p:sp>
        <p:nvSpPr>
          <p:cNvPr id="3" name="Content Placeholder 2"/>
          <p:cNvSpPr>
            <a:spLocks noGrp="1"/>
          </p:cNvSpPr>
          <p:nvPr>
            <p:ph idx="1"/>
          </p:nvPr>
        </p:nvSpPr>
        <p:spPr>
          <a:xfrm>
            <a:off x="150812" y="1219200"/>
            <a:ext cx="11811000" cy="5486400"/>
          </a:xfrm>
        </p:spPr>
        <p:txBody>
          <a:bodyPr>
            <a:normAutofit/>
          </a:bodyPr>
          <a:lstStyle/>
          <a:p>
            <a:r>
              <a:rPr lang="en-US" dirty="0"/>
              <a:t>How long is a newborn covered without notification to the insurer?</a:t>
            </a:r>
          </a:p>
          <a:p>
            <a:endParaRPr lang="en-US" dirty="0"/>
          </a:p>
          <a:p>
            <a:r>
              <a:rPr lang="en-US" dirty="0"/>
              <a:t>From the time labor has begun, and the insurer must be notified within 31 days</a:t>
            </a:r>
          </a:p>
          <a:p>
            <a:r>
              <a:rPr lang="en-US" dirty="0" smtClean="0"/>
              <a:t>From </a:t>
            </a:r>
            <a:r>
              <a:rPr lang="en-US" dirty="0"/>
              <a:t>the moment of birth, and the insurer must be notified within 90 days</a:t>
            </a:r>
          </a:p>
          <a:p>
            <a:r>
              <a:rPr lang="en-US" dirty="0" smtClean="0"/>
              <a:t>A </a:t>
            </a:r>
            <a:r>
              <a:rPr lang="en-US" dirty="0"/>
              <a:t>newborn is not covered without notification to the insurer.</a:t>
            </a:r>
          </a:p>
          <a:p>
            <a:r>
              <a:rPr lang="en-US" i="1" dirty="0" smtClean="0"/>
              <a:t>From </a:t>
            </a:r>
            <a:r>
              <a:rPr lang="en-US" i="1" dirty="0"/>
              <a:t>the moment of birth, and the insurer must be notified within 31 days</a:t>
            </a:r>
          </a:p>
          <a:p>
            <a:endParaRPr lang="en-US" dirty="0"/>
          </a:p>
          <a:p>
            <a:r>
              <a:rPr lang="en-US" dirty="0"/>
              <a:t>A newborn covered without notification to the insurer from the moment of birth. The insured must notify the insurer within 31 days of birth.</a:t>
            </a:r>
          </a:p>
          <a:p>
            <a:endParaRPr lang="en-US" dirty="0"/>
          </a:p>
        </p:txBody>
      </p:sp>
    </p:spTree>
    <p:extLst>
      <p:ext uri="{BB962C8B-B14F-4D97-AF65-F5344CB8AC3E}">
        <p14:creationId xmlns:p14="http://schemas.microsoft.com/office/powerpoint/2010/main" val="423317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Example</a:t>
            </a:r>
            <a:endParaRPr lang="en-US" dirty="0"/>
          </a:p>
        </p:txBody>
      </p:sp>
      <p:sp>
        <p:nvSpPr>
          <p:cNvPr id="3" name="Content Placeholder 2"/>
          <p:cNvSpPr>
            <a:spLocks noGrp="1"/>
          </p:cNvSpPr>
          <p:nvPr>
            <p:ph idx="1"/>
          </p:nvPr>
        </p:nvSpPr>
        <p:spPr>
          <a:xfrm>
            <a:off x="227012" y="1219200"/>
            <a:ext cx="11811000" cy="5486400"/>
          </a:xfrm>
        </p:spPr>
        <p:txBody>
          <a:bodyPr>
            <a:normAutofit/>
          </a:bodyPr>
          <a:lstStyle/>
          <a:p>
            <a:r>
              <a:rPr lang="en-US" dirty="0"/>
              <a:t>Under the ACA, health insurance can no longer be underwritten based on which of the following factors?</a:t>
            </a:r>
          </a:p>
          <a:p>
            <a:endParaRPr lang="en-US" dirty="0"/>
          </a:p>
          <a:p>
            <a:r>
              <a:rPr lang="en-US" i="1" dirty="0"/>
              <a:t>The applicant’s health condition</a:t>
            </a:r>
          </a:p>
          <a:p>
            <a:r>
              <a:rPr lang="en-US" dirty="0" smtClean="0"/>
              <a:t>The </a:t>
            </a:r>
            <a:r>
              <a:rPr lang="en-US" dirty="0"/>
              <a:t>applicant’s family composition</a:t>
            </a:r>
          </a:p>
          <a:p>
            <a:r>
              <a:rPr lang="en-US" dirty="0" smtClean="0"/>
              <a:t>The </a:t>
            </a:r>
            <a:r>
              <a:rPr lang="en-US" dirty="0"/>
              <a:t>applicant’s age</a:t>
            </a:r>
          </a:p>
          <a:p>
            <a:r>
              <a:rPr lang="en-US" dirty="0" smtClean="0"/>
              <a:t>The </a:t>
            </a:r>
            <a:r>
              <a:rPr lang="en-US" dirty="0"/>
              <a:t>applicant’s tobacco use</a:t>
            </a:r>
          </a:p>
          <a:p>
            <a:endParaRPr lang="en-US" dirty="0"/>
          </a:p>
          <a:p>
            <a:r>
              <a:rPr lang="en-US" dirty="0"/>
              <a:t>When health insurers set their premium rates, they are only permitted to base those rates on 4 standards: geographic rating area, family composition, age, and tobacco use.</a:t>
            </a:r>
          </a:p>
          <a:p>
            <a:endParaRPr lang="en-US" dirty="0"/>
          </a:p>
        </p:txBody>
      </p:sp>
    </p:spTree>
    <p:extLst>
      <p:ext uri="{BB962C8B-B14F-4D97-AF65-F5344CB8AC3E}">
        <p14:creationId xmlns:p14="http://schemas.microsoft.com/office/powerpoint/2010/main" val="342517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715962"/>
          </a:xfrm>
        </p:spPr>
        <p:txBody>
          <a:bodyPr/>
          <a:lstStyle/>
          <a:p>
            <a:r>
              <a:rPr lang="en-US" dirty="0" smtClean="0"/>
              <a:t>Individual LTC contracts</a:t>
            </a:r>
            <a:endParaRPr lang="en-US" dirty="0"/>
          </a:p>
        </p:txBody>
      </p:sp>
      <p:sp>
        <p:nvSpPr>
          <p:cNvPr id="3" name="Content Placeholder 2"/>
          <p:cNvSpPr>
            <a:spLocks noGrp="1"/>
          </p:cNvSpPr>
          <p:nvPr>
            <p:ph idx="1"/>
          </p:nvPr>
        </p:nvSpPr>
        <p:spPr>
          <a:xfrm>
            <a:off x="303212" y="1143000"/>
            <a:ext cx="11734800" cy="5638800"/>
          </a:xfrm>
        </p:spPr>
        <p:txBody>
          <a:bodyPr/>
          <a:lstStyle/>
          <a:p>
            <a:r>
              <a:rPr lang="en-US" dirty="0" smtClean="0"/>
              <a:t>This type of contracts are very common form of contracts in private market, guaranteed renewability, customizable for individual own needs</a:t>
            </a:r>
          </a:p>
          <a:p>
            <a:r>
              <a:rPr lang="en-US" dirty="0" smtClean="0"/>
              <a:t>Group Insurance: </a:t>
            </a:r>
          </a:p>
          <a:p>
            <a:r>
              <a:rPr lang="en-US" dirty="0" smtClean="0"/>
              <a:t>For group insurance a group can be </a:t>
            </a:r>
            <a:r>
              <a:rPr lang="en-US" dirty="0" err="1" smtClean="0"/>
              <a:t>empoyler</a:t>
            </a:r>
            <a:r>
              <a:rPr lang="en-US" dirty="0" smtClean="0"/>
              <a:t> </a:t>
            </a:r>
            <a:r>
              <a:rPr lang="en-US" dirty="0" err="1" smtClean="0"/>
              <a:t>sponsord</a:t>
            </a:r>
            <a:r>
              <a:rPr lang="en-US" dirty="0" smtClean="0"/>
              <a:t> or association </a:t>
            </a:r>
            <a:r>
              <a:rPr lang="en-US" dirty="0" err="1" smtClean="0"/>
              <a:t>sponsord</a:t>
            </a:r>
            <a:r>
              <a:rPr lang="en-US" dirty="0"/>
              <a:t> </a:t>
            </a:r>
            <a:r>
              <a:rPr lang="en-US" dirty="0" smtClean="0"/>
              <a:t>but a group can not be formed to just get an health insurance</a:t>
            </a:r>
          </a:p>
          <a:p>
            <a:pPr marL="45720" indent="0">
              <a:buNone/>
            </a:pPr>
            <a:r>
              <a:rPr lang="en-US" dirty="0" smtClean="0"/>
              <a:t>Employees meet certain criteria or service requirement to get the group insurance, it can contributory or non contributory</a:t>
            </a:r>
          </a:p>
          <a:p>
            <a:pPr marL="45720" indent="0">
              <a:buNone/>
            </a:pPr>
            <a:r>
              <a:rPr lang="en-US" dirty="0" smtClean="0"/>
              <a:t>Association group must be active for two years and have 100 members, have a constitution, by laws, and must hold annual meetings</a:t>
            </a:r>
          </a:p>
          <a:p>
            <a:pPr marL="45720" indent="0">
              <a:buNone/>
            </a:pPr>
            <a:r>
              <a:rPr lang="en-US" dirty="0" smtClean="0"/>
              <a:t>Professional organization, trade associations, college alumni associations, veteran associations, customer or large retail chains and saving account depositors are few examples</a:t>
            </a:r>
            <a:endParaRPr lang="en-US" dirty="0"/>
          </a:p>
        </p:txBody>
      </p:sp>
    </p:spTree>
    <p:extLst>
      <p:ext uri="{BB962C8B-B14F-4D97-AF65-F5344CB8AC3E}">
        <p14:creationId xmlns:p14="http://schemas.microsoft.com/office/powerpoint/2010/main" val="20651518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868362"/>
          </a:xfrm>
        </p:spPr>
        <p:txBody>
          <a:bodyPr/>
          <a:lstStyle/>
          <a:p>
            <a:r>
              <a:rPr lang="en-US" dirty="0" smtClean="0"/>
              <a:t>Cobra</a:t>
            </a:r>
            <a:endParaRPr lang="en-US" dirty="0"/>
          </a:p>
        </p:txBody>
      </p:sp>
      <p:sp>
        <p:nvSpPr>
          <p:cNvPr id="3" name="Content Placeholder 2"/>
          <p:cNvSpPr>
            <a:spLocks noGrp="1"/>
          </p:cNvSpPr>
          <p:nvPr>
            <p:ph idx="1"/>
          </p:nvPr>
        </p:nvSpPr>
        <p:spPr>
          <a:xfrm>
            <a:off x="227012" y="1295400"/>
            <a:ext cx="11887200" cy="5562600"/>
          </a:xfrm>
        </p:spPr>
        <p:txBody>
          <a:bodyPr>
            <a:normAutofit/>
          </a:bodyPr>
          <a:lstStyle/>
          <a:p>
            <a:r>
              <a:rPr lang="en-US" dirty="0" smtClean="0"/>
              <a:t>COBRA of 1985 requires all the employers with 20 or more employees to offer group health coverage to terminated employees and their families</a:t>
            </a:r>
          </a:p>
          <a:p>
            <a:r>
              <a:rPr lang="en-US" dirty="0" smtClean="0"/>
              <a:t>Qualifying events</a:t>
            </a:r>
          </a:p>
          <a:p>
            <a:r>
              <a:rPr lang="en-US" dirty="0" smtClean="0"/>
              <a:t>Voluntary termination of employment</a:t>
            </a:r>
          </a:p>
          <a:p>
            <a:r>
              <a:rPr lang="en-US" dirty="0" smtClean="0"/>
              <a:t>Termination of employment for a reason other than gross misconduct </a:t>
            </a:r>
          </a:p>
          <a:p>
            <a:r>
              <a:rPr lang="en-US" dirty="0" smtClean="0"/>
              <a:t>A change of employment from full time to part time</a:t>
            </a:r>
          </a:p>
          <a:p>
            <a:r>
              <a:rPr lang="en-US" dirty="0"/>
              <a:t>Cobra  terminated employee - 60 days </a:t>
            </a:r>
            <a:r>
              <a:rPr lang="en-US" dirty="0" smtClean="0"/>
              <a:t>extension</a:t>
            </a:r>
          </a:p>
          <a:p>
            <a:r>
              <a:rPr lang="en-US" dirty="0" smtClean="0"/>
              <a:t>Coverage can be extended to 18 months in the any of these events occur.</a:t>
            </a:r>
          </a:p>
          <a:p>
            <a:r>
              <a:rPr lang="en-US" dirty="0" smtClean="0"/>
              <a:t>For events such as death, divorce, legal separation the coverage period to terminated employees dependents</a:t>
            </a:r>
          </a:p>
          <a:p>
            <a:r>
              <a:rPr lang="en-US" dirty="0" smtClean="0"/>
              <a:t>Under ACA coverage for children extend until adult child reaches age 26</a:t>
            </a:r>
          </a:p>
        </p:txBody>
      </p:sp>
    </p:spTree>
    <p:extLst>
      <p:ext uri="{BB962C8B-B14F-4D97-AF65-F5344CB8AC3E}">
        <p14:creationId xmlns:p14="http://schemas.microsoft.com/office/powerpoint/2010/main" val="3393603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639762"/>
          </a:xfrm>
        </p:spPr>
        <p:txBody>
          <a:bodyPr>
            <a:normAutofit fontScale="90000"/>
          </a:bodyPr>
          <a:lstStyle/>
          <a:p>
            <a:r>
              <a:rPr lang="en-US" dirty="0" smtClean="0"/>
              <a:t>Example</a:t>
            </a:r>
            <a:endParaRPr lang="en-US" dirty="0"/>
          </a:p>
        </p:txBody>
      </p:sp>
      <p:sp>
        <p:nvSpPr>
          <p:cNvPr id="3" name="Content Placeholder 2"/>
          <p:cNvSpPr>
            <a:spLocks noGrp="1"/>
          </p:cNvSpPr>
          <p:nvPr>
            <p:ph idx="1"/>
          </p:nvPr>
        </p:nvSpPr>
        <p:spPr>
          <a:xfrm>
            <a:off x="227012" y="1066800"/>
            <a:ext cx="11658600" cy="5562600"/>
          </a:xfrm>
        </p:spPr>
        <p:txBody>
          <a:bodyPr/>
          <a:lstStyle/>
          <a:p>
            <a:endParaRPr lang="en-US" dirty="0"/>
          </a:p>
        </p:txBody>
      </p:sp>
    </p:spTree>
    <p:extLst>
      <p:ext uri="{BB962C8B-B14F-4D97-AF65-F5344CB8AC3E}">
        <p14:creationId xmlns:p14="http://schemas.microsoft.com/office/powerpoint/2010/main" val="23639353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country report presentation</Template>
  <TotalTime>3018</TotalTime>
  <Words>4282</Words>
  <Application>Microsoft Office PowerPoint</Application>
  <PresentationFormat>Custom</PresentationFormat>
  <Paragraphs>345</Paragraphs>
  <Slides>45</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Century Gothic</vt:lpstr>
      <vt:lpstr>World country report presentation</vt:lpstr>
      <vt:lpstr>Chapter 6</vt:lpstr>
      <vt:lpstr>Basic Policies </vt:lpstr>
      <vt:lpstr>Surgical Expense</vt:lpstr>
      <vt:lpstr>Major medical policies</vt:lpstr>
      <vt:lpstr>Health Maintenance Organization HMO</vt:lpstr>
      <vt:lpstr>PowerPoint Presentation</vt:lpstr>
      <vt:lpstr>PowerPoint Presentation</vt:lpstr>
      <vt:lpstr>Example</vt:lpstr>
      <vt:lpstr>Exapmple</vt:lpstr>
      <vt:lpstr>Example</vt:lpstr>
      <vt:lpstr>Example</vt:lpstr>
      <vt:lpstr>Preferred provider organization PPO</vt:lpstr>
      <vt:lpstr>Point of service POS plans</vt:lpstr>
      <vt:lpstr>High deductible health plans   HDHP Health savings account   HSA</vt:lpstr>
      <vt:lpstr>Disability Income</vt:lpstr>
      <vt:lpstr>Business overhead expense   (BOE)</vt:lpstr>
      <vt:lpstr>Business disability buyout policy</vt:lpstr>
      <vt:lpstr>Key Employee Policy</vt:lpstr>
      <vt:lpstr>Accidental death and dismembermemt</vt:lpstr>
      <vt:lpstr>Example</vt:lpstr>
      <vt:lpstr>Example</vt:lpstr>
      <vt:lpstr>Example</vt:lpstr>
      <vt:lpstr>Example</vt:lpstr>
      <vt:lpstr>Example</vt:lpstr>
      <vt:lpstr>Example</vt:lpstr>
      <vt:lpstr>Long Term Care    LTC</vt:lpstr>
      <vt:lpstr>LTC</vt:lpstr>
      <vt:lpstr>Example</vt:lpstr>
      <vt:lpstr>LTC</vt:lpstr>
      <vt:lpstr>Example</vt:lpstr>
      <vt:lpstr>Example:</vt:lpstr>
      <vt:lpstr>Example</vt:lpstr>
      <vt:lpstr>Example</vt:lpstr>
      <vt:lpstr>Example</vt:lpstr>
      <vt:lpstr>FSA flexible spending accounts</vt:lpstr>
      <vt:lpstr>Example</vt:lpstr>
      <vt:lpstr>Example</vt:lpstr>
      <vt:lpstr>Example </vt:lpstr>
      <vt:lpstr>Example</vt:lpstr>
      <vt:lpstr>Example</vt:lpstr>
      <vt:lpstr>Example</vt:lpstr>
      <vt:lpstr>Example</vt:lpstr>
      <vt:lpstr>Individual LTC contracts</vt:lpstr>
      <vt:lpstr>Cobra</vt:lpstr>
      <vt:lpstr>Example</vt:lpstr>
    </vt:vector>
  </TitlesOfParts>
  <Company>CommVault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creator>Raheel Khan</dc:creator>
  <cp:lastModifiedBy>Raheel Khan</cp:lastModifiedBy>
  <cp:revision>91</cp:revision>
  <dcterms:created xsi:type="dcterms:W3CDTF">2022-05-11T19:40:06Z</dcterms:created>
  <dcterms:modified xsi:type="dcterms:W3CDTF">2022-05-14T00:21:43Z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