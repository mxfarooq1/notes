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4"/>
  </p:notesMasterIdLst>
  <p:handoutMasterIdLst>
    <p:handoutMasterId r:id="rId45"/>
  </p:handoutMasterIdLst>
  <p:sldIdLst>
    <p:sldId id="269" r:id="rId2"/>
    <p:sldId id="297" r:id="rId3"/>
    <p:sldId id="298" r:id="rId4"/>
    <p:sldId id="283" r:id="rId5"/>
    <p:sldId id="288" r:id="rId6"/>
    <p:sldId id="299" r:id="rId7"/>
    <p:sldId id="284" r:id="rId8"/>
    <p:sldId id="285" r:id="rId9"/>
    <p:sldId id="301" r:id="rId10"/>
    <p:sldId id="300" r:id="rId11"/>
    <p:sldId id="302" r:id="rId12"/>
    <p:sldId id="308" r:id="rId13"/>
    <p:sldId id="303" r:id="rId14"/>
    <p:sldId id="304" r:id="rId15"/>
    <p:sldId id="309" r:id="rId16"/>
    <p:sldId id="305" r:id="rId17"/>
    <p:sldId id="306" r:id="rId18"/>
    <p:sldId id="286" r:id="rId19"/>
    <p:sldId id="287" r:id="rId20"/>
    <p:sldId id="307" r:id="rId21"/>
    <p:sldId id="270" r:id="rId22"/>
    <p:sldId id="278" r:id="rId23"/>
    <p:sldId id="279" r:id="rId24"/>
    <p:sldId id="271" r:id="rId25"/>
    <p:sldId id="272" r:id="rId26"/>
    <p:sldId id="280" r:id="rId27"/>
    <p:sldId id="273" r:id="rId28"/>
    <p:sldId id="281" r:id="rId29"/>
    <p:sldId id="282" r:id="rId30"/>
    <p:sldId id="289" r:id="rId31"/>
    <p:sldId id="290" r:id="rId32"/>
    <p:sldId id="310" r:id="rId33"/>
    <p:sldId id="311" r:id="rId34"/>
    <p:sldId id="313" r:id="rId35"/>
    <p:sldId id="312" r:id="rId36"/>
    <p:sldId id="314" r:id="rId37"/>
    <p:sldId id="315" r:id="rId38"/>
    <p:sldId id="316" r:id="rId39"/>
    <p:sldId id="293" r:id="rId40"/>
    <p:sldId id="294" r:id="rId41"/>
    <p:sldId id="295" r:id="rId42"/>
    <p:sldId id="296" r:id="rId4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p:cViewPr varScale="1">
        <p:scale>
          <a:sx n="72" d="100"/>
          <a:sy n="72" d="100"/>
        </p:scale>
        <p:origin x="331" y="67"/>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2/17/2022</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2/17/2022</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21</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24</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25</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27</a:t>
            </a:fld>
            <a:endParaRPr lang="en-US"/>
          </a:p>
        </p:txBody>
      </p:sp>
    </p:spTree>
    <p:extLst>
      <p:ext uri="{BB962C8B-B14F-4D97-AF65-F5344CB8AC3E}">
        <p14:creationId xmlns:p14="http://schemas.microsoft.com/office/powerpoint/2010/main" val="3890140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2/17/2022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2/17/2022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2/17/2022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2/17/2022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2/17/2022</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2/17/2022</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2/17/2022</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2/17/2022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2/17/2022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2/17/2022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2/17/2022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2/17/2022</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Types of insurance policies</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policies </a:t>
            </a:r>
            <a:endParaRPr lang="en-US" dirty="0"/>
          </a:p>
        </p:txBody>
      </p:sp>
      <p:sp>
        <p:nvSpPr>
          <p:cNvPr id="3" name="Content Placeholder 2"/>
          <p:cNvSpPr>
            <a:spLocks noGrp="1"/>
          </p:cNvSpPr>
          <p:nvPr>
            <p:ph idx="1"/>
          </p:nvPr>
        </p:nvSpPr>
        <p:spPr/>
        <p:txBody>
          <a:bodyPr>
            <a:normAutofit lnSpcReduction="10000"/>
          </a:bodyPr>
          <a:lstStyle/>
          <a:p>
            <a:r>
              <a:rPr lang="en-US" dirty="0" smtClean="0"/>
              <a:t>Types of term policies </a:t>
            </a:r>
          </a:p>
          <a:p>
            <a:r>
              <a:rPr lang="en-US" dirty="0" smtClean="0"/>
              <a:t>Level term</a:t>
            </a:r>
          </a:p>
          <a:p>
            <a:r>
              <a:rPr lang="en-US" dirty="0" smtClean="0"/>
              <a:t>Level increasing term</a:t>
            </a:r>
          </a:p>
          <a:p>
            <a:r>
              <a:rPr lang="en-US" dirty="0" smtClean="0"/>
              <a:t>Level decreasing term</a:t>
            </a:r>
          </a:p>
          <a:p>
            <a:endParaRPr lang="en-US" dirty="0"/>
          </a:p>
          <a:p>
            <a:r>
              <a:rPr lang="en-US" dirty="0" smtClean="0"/>
              <a:t>Level term: most common type, temporary, level means death benefit that does not change.</a:t>
            </a:r>
          </a:p>
          <a:p>
            <a:r>
              <a:rPr lang="en-US" dirty="0" smtClean="0"/>
              <a:t>When policy renews, premium will be based in insured’s attained age at the time of renewal</a:t>
            </a:r>
            <a:endParaRPr lang="en-US" dirty="0"/>
          </a:p>
        </p:txBody>
      </p:sp>
    </p:spTree>
    <p:extLst>
      <p:ext uri="{BB962C8B-B14F-4D97-AF65-F5344CB8AC3E}">
        <p14:creationId xmlns:p14="http://schemas.microsoft.com/office/powerpoint/2010/main" val="8528041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28600"/>
            <a:ext cx="9753600" cy="685800"/>
          </a:xfrm>
        </p:spPr>
        <p:txBody>
          <a:bodyPr/>
          <a:lstStyle/>
          <a:p>
            <a:r>
              <a:rPr lang="en-US" dirty="0" smtClean="0"/>
              <a:t>Level term</a:t>
            </a:r>
            <a:endParaRPr lang="en-US" dirty="0"/>
          </a:p>
        </p:txBody>
      </p:sp>
      <p:sp>
        <p:nvSpPr>
          <p:cNvPr id="3" name="Content Placeholder 2"/>
          <p:cNvSpPr>
            <a:spLocks noGrp="1"/>
          </p:cNvSpPr>
          <p:nvPr>
            <p:ph idx="1"/>
          </p:nvPr>
        </p:nvSpPr>
        <p:spPr>
          <a:xfrm>
            <a:off x="227012" y="1066800"/>
            <a:ext cx="11811000" cy="5715000"/>
          </a:xfrm>
        </p:spPr>
        <p:txBody>
          <a:bodyPr/>
          <a:lstStyle/>
          <a:p>
            <a:r>
              <a:rPr lang="en-US" dirty="0" smtClean="0"/>
              <a:t>Annually renewable term: guaranteed renewable each year with proof of insurability</a:t>
            </a:r>
          </a:p>
          <a:p>
            <a:r>
              <a:rPr lang="en-US" dirty="0" smtClean="0"/>
              <a:t>Decreasing term: level premium and death benefit decreases every year</a:t>
            </a:r>
          </a:p>
          <a:p>
            <a:r>
              <a:rPr lang="en-US" dirty="0" smtClean="0"/>
              <a:t>Return of premium: is a an increasing term, pays beneficiary an additional death benefit which equals to the amount of premium paid</a:t>
            </a:r>
          </a:p>
          <a:p>
            <a:r>
              <a:rPr lang="en-US" dirty="0" smtClean="0"/>
              <a:t>Special features: Renewable and convertible</a:t>
            </a:r>
          </a:p>
          <a:p>
            <a:r>
              <a:rPr lang="en-US" dirty="0" smtClean="0"/>
              <a:t>Policyholder can renew the policy without requiring evidence of insurability</a:t>
            </a:r>
          </a:p>
          <a:p>
            <a:r>
              <a:rPr lang="en-US" dirty="0" smtClean="0"/>
              <a:t>Both the cases premium based on the attained age</a:t>
            </a:r>
            <a:endParaRPr lang="en-US" dirty="0"/>
          </a:p>
        </p:txBody>
      </p:sp>
    </p:spTree>
    <p:extLst>
      <p:ext uri="{BB962C8B-B14F-4D97-AF65-F5344CB8AC3E}">
        <p14:creationId xmlns:p14="http://schemas.microsoft.com/office/powerpoint/2010/main" val="22699975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7012" y="304800"/>
            <a:ext cx="11811000" cy="6400799"/>
          </a:xfrm>
        </p:spPr>
        <p:txBody>
          <a:bodyPr>
            <a:normAutofit/>
          </a:bodyPr>
          <a:lstStyle/>
          <a:p>
            <a:r>
              <a:rPr lang="en-US" sz="3600" b="1" dirty="0" smtClean="0"/>
              <a:t>Whole life insurance</a:t>
            </a:r>
            <a:r>
              <a:rPr lang="en-US" sz="2000" dirty="0" smtClean="0"/>
              <a:t>:</a:t>
            </a:r>
            <a:br>
              <a:rPr lang="en-US" sz="2000" dirty="0" smtClean="0"/>
            </a:br>
            <a:r>
              <a:rPr lang="en-US" sz="2000" dirty="0"/>
              <a:t/>
            </a:r>
            <a:br>
              <a:rPr lang="en-US" sz="20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endParaRPr lang="en-US" sz="2200" dirty="0"/>
          </a:p>
        </p:txBody>
      </p:sp>
    </p:spTree>
    <p:extLst>
      <p:ext uri="{BB962C8B-B14F-4D97-AF65-F5344CB8AC3E}">
        <p14:creationId xmlns:p14="http://schemas.microsoft.com/office/powerpoint/2010/main" val="422246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7012" y="304800"/>
            <a:ext cx="11811000" cy="6400799"/>
          </a:xfrm>
        </p:spPr>
        <p:txBody>
          <a:bodyPr>
            <a:normAutofit/>
          </a:bodyPr>
          <a:lstStyle/>
          <a:p>
            <a:r>
              <a:rPr lang="en-US" sz="3600" b="1" dirty="0" smtClean="0"/>
              <a:t>Whole life insurance</a:t>
            </a:r>
            <a:r>
              <a:rPr lang="en-US" sz="2000" dirty="0" smtClean="0"/>
              <a:t>:</a:t>
            </a:r>
            <a:br>
              <a:rPr lang="en-US" sz="2000" dirty="0" smtClean="0"/>
            </a:br>
            <a:r>
              <a:rPr lang="en-US" sz="2000" dirty="0"/>
              <a:t/>
            </a:r>
            <a:br>
              <a:rPr lang="en-US" sz="2000" dirty="0"/>
            </a:br>
            <a:r>
              <a:rPr lang="en-US" sz="2000" dirty="0" smtClean="0"/>
              <a:t>With </a:t>
            </a:r>
            <a:r>
              <a:rPr lang="en-US" sz="2000" dirty="0"/>
              <a:t>a whole life insurance policy, the amount of </a:t>
            </a:r>
            <a:r>
              <a:rPr lang="en-US" sz="2000" b="1" dirty="0"/>
              <a:t>death benefit can remain level </a:t>
            </a:r>
            <a:r>
              <a:rPr lang="en-US" sz="2200" b="1" dirty="0"/>
              <a:t>throughout the life of the policy</a:t>
            </a:r>
            <a:r>
              <a:rPr lang="en-US" sz="2200" dirty="0"/>
              <a:t>. </a:t>
            </a:r>
            <a:r>
              <a:rPr lang="en-US" sz="2200" dirty="0" smtClean="0"/>
              <a:t/>
            </a:r>
            <a:br>
              <a:rPr lang="en-US" sz="2200" dirty="0" smtClean="0"/>
            </a:br>
            <a:r>
              <a:rPr lang="en-US" sz="2200" dirty="0"/>
              <a:t/>
            </a:r>
            <a:br>
              <a:rPr lang="en-US" sz="2200" dirty="0"/>
            </a:br>
            <a:r>
              <a:rPr lang="en-US" sz="2200" dirty="0" smtClean="0"/>
              <a:t>In </a:t>
            </a:r>
            <a:r>
              <a:rPr lang="en-US" sz="2200" dirty="0"/>
              <a:t>addition, the p</a:t>
            </a:r>
            <a:r>
              <a:rPr lang="en-US" sz="2200" b="1" dirty="0"/>
              <a:t>remiums on whole life insurance will remain the same through the entire duration of the policy</a:t>
            </a:r>
            <a:r>
              <a:rPr lang="en-US" sz="2200" b="1" dirty="0" smtClean="0"/>
              <a:t>.</a:t>
            </a:r>
            <a:br>
              <a:rPr lang="en-US" sz="2200" b="1" dirty="0" smtClean="0"/>
            </a:br>
            <a:r>
              <a:rPr lang="en-US" sz="2200" dirty="0"/>
              <a:t/>
            </a:r>
            <a:br>
              <a:rPr lang="en-US" sz="2200" dirty="0"/>
            </a:br>
            <a:r>
              <a:rPr lang="en-US" sz="2200" dirty="0"/>
              <a:t>Participating whole life insurance policies will </a:t>
            </a:r>
            <a:r>
              <a:rPr lang="en-US" sz="2200" b="1" dirty="0"/>
              <a:t>share in the issuing insurance company’s excess profits in the form of dividends.</a:t>
            </a:r>
            <a:r>
              <a:rPr lang="en-US" sz="2200" dirty="0"/>
              <a:t> </a:t>
            </a:r>
            <a:r>
              <a:rPr lang="en-US" sz="2200" dirty="0" smtClean="0"/>
              <a:t/>
            </a:r>
            <a:br>
              <a:rPr lang="en-US" sz="2200" dirty="0" smtClean="0"/>
            </a:br>
            <a:r>
              <a:rPr lang="en-US" sz="2200" dirty="0"/>
              <a:t/>
            </a:r>
            <a:br>
              <a:rPr lang="en-US" sz="2200" dirty="0"/>
            </a:br>
            <a:r>
              <a:rPr lang="en-US" sz="2200" dirty="0" smtClean="0"/>
              <a:t>These </a:t>
            </a:r>
            <a:r>
              <a:rPr lang="en-US" sz="2200" dirty="0"/>
              <a:t>dividend payments will typically go into the policy’s cash value component, adding to the amount of funds in this account</a:t>
            </a:r>
            <a:r>
              <a:rPr lang="en-US" sz="2200" dirty="0" smtClean="0"/>
              <a:t>.</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endParaRPr lang="en-US" sz="2200" dirty="0"/>
          </a:p>
        </p:txBody>
      </p:sp>
    </p:spTree>
    <p:extLst>
      <p:ext uri="{BB962C8B-B14F-4D97-AF65-F5344CB8AC3E}">
        <p14:creationId xmlns:p14="http://schemas.microsoft.com/office/powerpoint/2010/main" val="1934518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2" y="152400"/>
            <a:ext cx="9753600" cy="609600"/>
          </a:xfrm>
        </p:spPr>
        <p:txBody>
          <a:bodyPr>
            <a:normAutofit fontScale="90000"/>
          </a:bodyPr>
          <a:lstStyle/>
          <a:p>
            <a:r>
              <a:rPr lang="en-US" dirty="0" smtClean="0"/>
              <a:t>Traditional whole life insurance</a:t>
            </a:r>
            <a:endParaRPr lang="en-US" dirty="0"/>
          </a:p>
        </p:txBody>
      </p:sp>
      <p:sp>
        <p:nvSpPr>
          <p:cNvPr id="3" name="Content Placeholder 2"/>
          <p:cNvSpPr>
            <a:spLocks noGrp="1"/>
          </p:cNvSpPr>
          <p:nvPr>
            <p:ph idx="1"/>
          </p:nvPr>
        </p:nvSpPr>
        <p:spPr>
          <a:xfrm>
            <a:off x="150812" y="685800"/>
            <a:ext cx="11811000" cy="6019800"/>
          </a:xfrm>
        </p:spPr>
        <p:txBody>
          <a:bodyPr>
            <a:normAutofit/>
          </a:bodyPr>
          <a:lstStyle/>
          <a:p>
            <a:r>
              <a:rPr lang="en-US" dirty="0" smtClean="0"/>
              <a:t>Whole life insurance is considered the most common type of permanent insurance</a:t>
            </a:r>
          </a:p>
          <a:p>
            <a:r>
              <a:rPr lang="en-US" dirty="0" smtClean="0"/>
              <a:t>Provides life protection and cash value (savings element)</a:t>
            </a:r>
          </a:p>
          <a:p>
            <a:r>
              <a:rPr lang="en-US" dirty="0" smtClean="0"/>
              <a:t>Level premium: based on issue age, so premium remains the same</a:t>
            </a:r>
          </a:p>
          <a:p>
            <a:r>
              <a:rPr lang="en-US" dirty="0" smtClean="0"/>
              <a:t>Death benefit: is guaranteed and remains level for the life of policy</a:t>
            </a:r>
          </a:p>
          <a:p>
            <a:r>
              <a:rPr lang="en-US" dirty="0" smtClean="0"/>
              <a:t>Cash value: created by accumulation of premium, schedule to equal the face amount of the policy, policy matures (insured reaches 100) is paid out to the policy holder, policy holder of insured shouldn’t the same person, cash values are credited on a regular basis and has guaranteed interest rate</a:t>
            </a:r>
          </a:p>
        </p:txBody>
      </p:sp>
    </p:spTree>
    <p:extLst>
      <p:ext uri="{BB962C8B-B14F-4D97-AF65-F5344CB8AC3E}">
        <p14:creationId xmlns:p14="http://schemas.microsoft.com/office/powerpoint/2010/main" val="3126435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7012" y="304800"/>
            <a:ext cx="11658600" cy="6324600"/>
          </a:xfrm>
        </p:spPr>
        <p:txBody>
          <a:bodyPr>
            <a:normAutofit/>
          </a:bodyPr>
          <a:lstStyle/>
          <a:p>
            <a:r>
              <a:rPr lang="en-US" b="1" dirty="0"/>
              <a:t>Single premium</a:t>
            </a:r>
            <a:r>
              <a:rPr lang="en-US" dirty="0"/>
              <a:t> whole life policies are a type of limited pay policy where the policy holder pays just one large single premium and the policy is considered to be paid up. </a:t>
            </a:r>
          </a:p>
          <a:p>
            <a:r>
              <a:rPr lang="en-US" dirty="0"/>
              <a:t>- A whole life insurance policy will allow for a </a:t>
            </a:r>
            <a:r>
              <a:rPr lang="en-US" b="1" dirty="0"/>
              <a:t>guaranteed amount of death benefit</a:t>
            </a:r>
            <a:r>
              <a:rPr lang="en-US" dirty="0"/>
              <a:t> to be paid out should the insured pass away. In addition, the cash value inside of the account will grow at a guaranteed rate of return, while also remaining safe</a:t>
            </a:r>
          </a:p>
          <a:p>
            <a:r>
              <a:rPr lang="en-US" b="1" dirty="0"/>
              <a:t>Over time</a:t>
            </a:r>
            <a:r>
              <a:rPr lang="en-US" dirty="0"/>
              <a:t>, as the insured’s </a:t>
            </a:r>
            <a:r>
              <a:rPr lang="en-US" b="1" dirty="0"/>
              <a:t>age increased,</a:t>
            </a:r>
            <a:r>
              <a:rPr lang="en-US" dirty="0"/>
              <a:t> a </a:t>
            </a:r>
            <a:r>
              <a:rPr lang="en-US" b="1" dirty="0"/>
              <a:t>larger percentage of the premium paid</a:t>
            </a:r>
            <a:r>
              <a:rPr lang="en-US" dirty="0"/>
              <a:t> will g</a:t>
            </a:r>
            <a:r>
              <a:rPr lang="en-US" b="1" dirty="0"/>
              <a:t>o towards the cost of providing the death benefit</a:t>
            </a:r>
            <a:r>
              <a:rPr lang="en-US" dirty="0"/>
              <a:t>, and a smaller portion will go towards the cash value component</a:t>
            </a:r>
          </a:p>
          <a:p>
            <a:r>
              <a:rPr lang="en-US" dirty="0"/>
              <a:t>In the first several years of a whole life insurance policy, a </a:t>
            </a:r>
            <a:r>
              <a:rPr lang="en-US" b="1" dirty="0"/>
              <a:t>smaller percentage of the premium paid</a:t>
            </a:r>
            <a:r>
              <a:rPr lang="en-US" dirty="0"/>
              <a:t> will go towards the cost of providing the death benefit. This is because of the insured’s younger age. As the i</a:t>
            </a:r>
            <a:r>
              <a:rPr lang="en-US" b="1" dirty="0"/>
              <a:t>nsured’s age increases, a larger percentage of the premium</a:t>
            </a:r>
            <a:r>
              <a:rPr lang="en-US" dirty="0"/>
              <a:t> will be required to fund the cost of providing the death benefit.</a:t>
            </a:r>
          </a:p>
          <a:p>
            <a:endParaRPr lang="en-US" dirty="0"/>
          </a:p>
        </p:txBody>
      </p:sp>
    </p:spTree>
    <p:extLst>
      <p:ext uri="{BB962C8B-B14F-4D97-AF65-F5344CB8AC3E}">
        <p14:creationId xmlns:p14="http://schemas.microsoft.com/office/powerpoint/2010/main" val="2439521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7012" y="228600"/>
            <a:ext cx="11658600" cy="6400800"/>
          </a:xfrm>
        </p:spPr>
        <p:txBody>
          <a:bodyPr>
            <a:normAutofit/>
          </a:bodyPr>
          <a:lstStyle/>
          <a:p>
            <a:r>
              <a:rPr lang="en-US" dirty="0"/>
              <a:t>A whole life insurance policy technically combines the death benefits that are found in a</a:t>
            </a:r>
            <a:r>
              <a:rPr lang="en-US" b="1" dirty="0"/>
              <a:t> term life plan with a savings account</a:t>
            </a:r>
            <a:r>
              <a:rPr lang="en-US" dirty="0"/>
              <a:t>. There are no underlying stock or mutual fund investments in a whole life insurance </a:t>
            </a:r>
            <a:r>
              <a:rPr lang="en-US" dirty="0" smtClean="0"/>
              <a:t>policy  </a:t>
            </a:r>
            <a:r>
              <a:rPr lang="en-US" dirty="0"/>
              <a:t>interest rate sensitive </a:t>
            </a:r>
          </a:p>
          <a:p>
            <a:r>
              <a:rPr lang="en-US" dirty="0"/>
              <a:t>policy holder decide to </a:t>
            </a:r>
            <a:r>
              <a:rPr lang="en-US" b="1" dirty="0"/>
              <a:t>cancel, or “surrender,” a whole life insurance policy</a:t>
            </a:r>
            <a:r>
              <a:rPr lang="en-US" dirty="0"/>
              <a:t>, they would receive the amount of the </a:t>
            </a:r>
            <a:r>
              <a:rPr lang="en-US" b="1" dirty="0"/>
              <a:t>cash surrender value</a:t>
            </a:r>
            <a:endParaRPr lang="en-US" dirty="0"/>
          </a:p>
          <a:p>
            <a:r>
              <a:rPr lang="en-US" dirty="0"/>
              <a:t>Whole life insurance requires a </a:t>
            </a:r>
            <a:r>
              <a:rPr lang="en-US" b="1" dirty="0"/>
              <a:t>set amount of premium that goes towards paying the cost of the death benefit and funding the cash value component</a:t>
            </a:r>
            <a:r>
              <a:rPr lang="en-US" dirty="0"/>
              <a:t>.</a:t>
            </a:r>
          </a:p>
          <a:p>
            <a:r>
              <a:rPr lang="en-US" dirty="0"/>
              <a:t> </a:t>
            </a:r>
          </a:p>
          <a:p>
            <a:endParaRPr lang="en-US" dirty="0"/>
          </a:p>
        </p:txBody>
      </p:sp>
    </p:spTree>
    <p:extLst>
      <p:ext uri="{BB962C8B-B14F-4D97-AF65-F5344CB8AC3E}">
        <p14:creationId xmlns:p14="http://schemas.microsoft.com/office/powerpoint/2010/main" val="189580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1370123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212" y="274638"/>
            <a:ext cx="11582400" cy="1325562"/>
          </a:xfrm>
        </p:spPr>
        <p:txBody>
          <a:bodyPr/>
          <a:lstStyle/>
          <a:p>
            <a:r>
              <a:rPr lang="en-US" dirty="0"/>
              <a:t>three basic form of whole life insurance</a:t>
            </a:r>
          </a:p>
        </p:txBody>
      </p:sp>
      <p:sp>
        <p:nvSpPr>
          <p:cNvPr id="3" name="Content Placeholder 2"/>
          <p:cNvSpPr>
            <a:spLocks noGrp="1"/>
          </p:cNvSpPr>
          <p:nvPr>
            <p:ph idx="1"/>
          </p:nvPr>
        </p:nvSpPr>
        <p:spPr/>
        <p:txBody>
          <a:bodyPr/>
          <a:lstStyle/>
          <a:p>
            <a:r>
              <a:rPr lang="en-US" dirty="0"/>
              <a:t>There are three basic form of whole life insurance</a:t>
            </a:r>
          </a:p>
          <a:p>
            <a:r>
              <a:rPr lang="en-US" dirty="0"/>
              <a:t>Straight whole life</a:t>
            </a:r>
          </a:p>
          <a:p>
            <a:r>
              <a:rPr lang="en-US" dirty="0"/>
              <a:t>Limited pay whole life</a:t>
            </a:r>
          </a:p>
          <a:p>
            <a:r>
              <a:rPr lang="en-US" dirty="0"/>
              <a:t>Straight premium whole life</a:t>
            </a:r>
          </a:p>
          <a:p>
            <a:endParaRPr lang="en-US" dirty="0"/>
          </a:p>
        </p:txBody>
      </p:sp>
    </p:spTree>
    <p:extLst>
      <p:ext uri="{BB962C8B-B14F-4D97-AF65-F5344CB8AC3E}">
        <p14:creationId xmlns:p14="http://schemas.microsoft.com/office/powerpoint/2010/main" val="36926288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Straight whole life</a:t>
            </a:r>
            <a:endParaRPr lang="en-US" dirty="0"/>
          </a:p>
        </p:txBody>
      </p:sp>
      <p:sp>
        <p:nvSpPr>
          <p:cNvPr id="3" name="Content Placeholder 2"/>
          <p:cNvSpPr>
            <a:spLocks noGrp="1"/>
          </p:cNvSpPr>
          <p:nvPr>
            <p:ph idx="1"/>
          </p:nvPr>
        </p:nvSpPr>
        <p:spPr/>
        <p:txBody>
          <a:bodyPr/>
          <a:lstStyle/>
          <a:p>
            <a:r>
              <a:rPr lang="en-US" dirty="0" smtClean="0"/>
              <a:t>Ordinary whole life, or continuous premium whole life, </a:t>
            </a:r>
          </a:p>
          <a:p>
            <a:r>
              <a:rPr lang="en-US" dirty="0" smtClean="0"/>
              <a:t>The day the policy is bought and till the insured death or age till 100 whoever occurs first</a:t>
            </a:r>
          </a:p>
          <a:p>
            <a:r>
              <a:rPr lang="en-US" dirty="0" smtClean="0"/>
              <a:t>Lowest premium</a:t>
            </a:r>
          </a:p>
          <a:p>
            <a:r>
              <a:rPr lang="en-US" dirty="0" smtClean="0"/>
              <a:t> Most basic whole life policy</a:t>
            </a:r>
            <a:endParaRPr lang="en-US" dirty="0"/>
          </a:p>
        </p:txBody>
      </p:sp>
    </p:spTree>
    <p:extLst>
      <p:ext uri="{BB962C8B-B14F-4D97-AF65-F5344CB8AC3E}">
        <p14:creationId xmlns:p14="http://schemas.microsoft.com/office/powerpoint/2010/main" val="907042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812" y="152400"/>
            <a:ext cx="11887200" cy="6629400"/>
          </a:xfrm>
        </p:spPr>
        <p:txBody>
          <a:bodyPr>
            <a:normAutofit/>
          </a:bodyPr>
          <a:lstStyle/>
          <a:p>
            <a:r>
              <a:rPr lang="en-US" b="1" dirty="0"/>
              <a:t>Straight Life Refund</a:t>
            </a:r>
            <a:r>
              <a:rPr lang="en-US" dirty="0"/>
              <a:t> Payout is not an option. Payout options include:</a:t>
            </a:r>
          </a:p>
          <a:p>
            <a:r>
              <a:rPr lang="en-US" dirty="0"/>
              <a:t>Straight Life Income </a:t>
            </a:r>
          </a:p>
          <a:p>
            <a:r>
              <a:rPr lang="en-US" dirty="0"/>
              <a:t>Cash Refund </a:t>
            </a:r>
          </a:p>
          <a:p>
            <a:r>
              <a:rPr lang="en-US" dirty="0"/>
              <a:t>Installment Refund </a:t>
            </a:r>
          </a:p>
          <a:p>
            <a:r>
              <a:rPr lang="en-US" dirty="0"/>
              <a:t>Life with Period Certain </a:t>
            </a:r>
          </a:p>
          <a:p>
            <a:r>
              <a:rPr lang="en-US" dirty="0"/>
              <a:t>Period Certain </a:t>
            </a:r>
          </a:p>
          <a:p>
            <a:r>
              <a:rPr lang="en-US" dirty="0"/>
              <a:t>Joint and Full Survivor Payout</a:t>
            </a:r>
          </a:p>
          <a:p>
            <a:r>
              <a:rPr lang="en-US" dirty="0"/>
              <a:t>Payments will cease upon the death of the annuitant. </a:t>
            </a:r>
          </a:p>
          <a:p>
            <a:r>
              <a:rPr lang="en-US" dirty="0"/>
              <a:t>Straight Life Income Payout Option:  Payments will cease upon the death of the annuitant.</a:t>
            </a:r>
          </a:p>
          <a:p>
            <a:r>
              <a:rPr lang="en-US" b="1" dirty="0"/>
              <a:t>Period Certain pay</a:t>
            </a:r>
            <a:r>
              <a:rPr lang="en-US" dirty="0"/>
              <a:t> guaranteed income even if the annuitant has died in defined periods such as </a:t>
            </a:r>
            <a:r>
              <a:rPr lang="en-US" b="1" dirty="0"/>
              <a:t>10, 15, 20</a:t>
            </a:r>
            <a:r>
              <a:rPr lang="en-US" dirty="0"/>
              <a:t>, or another defined number of years in the contract.</a:t>
            </a:r>
          </a:p>
          <a:p>
            <a:endParaRPr lang="en-US" dirty="0"/>
          </a:p>
        </p:txBody>
      </p:sp>
    </p:spTree>
    <p:extLst>
      <p:ext uri="{BB962C8B-B14F-4D97-AF65-F5344CB8AC3E}">
        <p14:creationId xmlns:p14="http://schemas.microsoft.com/office/powerpoint/2010/main" val="14038023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Limited Pay</a:t>
            </a:r>
            <a:endParaRPr lang="en-US" dirty="0"/>
          </a:p>
        </p:txBody>
      </p:sp>
      <p:sp>
        <p:nvSpPr>
          <p:cNvPr id="3" name="Content Placeholder 2"/>
          <p:cNvSpPr>
            <a:spLocks noGrp="1"/>
          </p:cNvSpPr>
          <p:nvPr>
            <p:ph idx="1"/>
          </p:nvPr>
        </p:nvSpPr>
        <p:spPr/>
        <p:txBody>
          <a:bodyPr/>
          <a:lstStyle/>
          <a:p>
            <a:r>
              <a:rPr lang="en-US" dirty="0" smtClean="0"/>
              <a:t>Designed so that premiums will be completely paid well before the ager of 100</a:t>
            </a:r>
          </a:p>
          <a:p>
            <a:r>
              <a:rPr lang="en-US" dirty="0" smtClean="0"/>
              <a:t>Common version is 20 paid up periods, 20 years and LP-65 life paid up at 65</a:t>
            </a:r>
          </a:p>
          <a:p>
            <a:r>
              <a:rPr lang="en-US" dirty="0" smtClean="0"/>
              <a:t>Shorter premium paying period than straight life insurance</a:t>
            </a:r>
          </a:p>
          <a:p>
            <a:r>
              <a:rPr lang="en-US" dirty="0" smtClean="0"/>
              <a:t>Annual premium is higher </a:t>
            </a:r>
          </a:p>
          <a:p>
            <a:r>
              <a:rPr lang="en-US" dirty="0" smtClean="0"/>
              <a:t>Cash value build up faster</a:t>
            </a:r>
          </a:p>
          <a:p>
            <a:endParaRPr lang="en-US" dirty="0" smtClean="0"/>
          </a:p>
          <a:p>
            <a:endParaRPr lang="en-US" dirty="0" smtClean="0"/>
          </a:p>
          <a:p>
            <a:pPr marL="45720" indent="0">
              <a:buNone/>
            </a:pPr>
            <a:endParaRPr lang="en-US" dirty="0"/>
          </a:p>
        </p:txBody>
      </p:sp>
    </p:spTree>
    <p:extLst>
      <p:ext uri="{BB962C8B-B14F-4D97-AF65-F5344CB8AC3E}">
        <p14:creationId xmlns:p14="http://schemas.microsoft.com/office/powerpoint/2010/main" val="29014011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812" y="228600"/>
            <a:ext cx="9753600" cy="762000"/>
          </a:xfrm>
        </p:spPr>
        <p:txBody>
          <a:bodyPr/>
          <a:lstStyle/>
          <a:p>
            <a:r>
              <a:rPr lang="en-US" dirty="0" smtClean="0"/>
              <a:t>Single premium</a:t>
            </a:r>
            <a:endParaRPr lang="en-US" dirty="0"/>
          </a:p>
        </p:txBody>
      </p:sp>
      <p:sp>
        <p:nvSpPr>
          <p:cNvPr id="3" name="Content Placeholder 2"/>
          <p:cNvSpPr>
            <a:spLocks noGrp="1"/>
          </p:cNvSpPr>
          <p:nvPr>
            <p:ph idx="1"/>
          </p:nvPr>
        </p:nvSpPr>
        <p:spPr>
          <a:xfrm>
            <a:off x="150812" y="990600"/>
            <a:ext cx="11887200" cy="5638800"/>
          </a:xfrm>
        </p:spPr>
        <p:txBody>
          <a:bodyPr>
            <a:normAutofit fontScale="92500" lnSpcReduction="20000"/>
          </a:bodyPr>
          <a:lstStyle/>
          <a:p>
            <a:r>
              <a:rPr lang="en-US" dirty="0" smtClean="0"/>
              <a:t>Single premium whole life </a:t>
            </a:r>
          </a:p>
          <a:p>
            <a:r>
              <a:rPr lang="en-US" dirty="0" smtClean="0"/>
              <a:t>Provide level death benefit until the insured reaches age 100 for a one time lump sum payment</a:t>
            </a:r>
          </a:p>
          <a:p>
            <a:r>
              <a:rPr lang="en-US" dirty="0" smtClean="0"/>
              <a:t>Policy is paid up one premium payment and generates immediate cash.</a:t>
            </a:r>
          </a:p>
          <a:p>
            <a:r>
              <a:rPr lang="en-US" b="1" dirty="0"/>
              <a:t>Single premium immediate annuity</a:t>
            </a:r>
            <a:endParaRPr lang="en-US" dirty="0"/>
          </a:p>
          <a:p>
            <a:r>
              <a:rPr lang="en-US" dirty="0"/>
              <a:t>Many insurance companies will allow an insured to purchase a</a:t>
            </a:r>
            <a:r>
              <a:rPr lang="en-US" b="1" dirty="0"/>
              <a:t> single premium immediate annuity</a:t>
            </a:r>
            <a:r>
              <a:rPr lang="en-US" dirty="0"/>
              <a:t> with the cash value that is in the life insurance policy. The income received from such an annuity will be determined based upon the amount of cash in the policy, the income option that is chosen, and the current age and life expectancy of the annuitant. </a:t>
            </a:r>
          </a:p>
          <a:p>
            <a:endParaRPr lang="en-US" dirty="0"/>
          </a:p>
          <a:p>
            <a:endParaRPr lang="en-US" dirty="0"/>
          </a:p>
          <a:p>
            <a:r>
              <a:rPr lang="en-US" dirty="0"/>
              <a:t>The ____________ non-forfeiture option allows the insured’s permanent life insurance policy to be converted into a term life insurance policy with the same face amount of coverage.</a:t>
            </a:r>
            <a:r>
              <a:rPr lang="en-US" b="1" dirty="0"/>
              <a:t> Extended term</a:t>
            </a:r>
            <a:endParaRPr lang="en-US" dirty="0"/>
          </a:p>
          <a:p>
            <a:endParaRPr lang="en-US" dirty="0"/>
          </a:p>
        </p:txBody>
      </p:sp>
    </p:spTree>
    <p:extLst>
      <p:ext uri="{BB962C8B-B14F-4D97-AF65-F5344CB8AC3E}">
        <p14:creationId xmlns:p14="http://schemas.microsoft.com/office/powerpoint/2010/main" val="13883170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3212" y="304800"/>
            <a:ext cx="11658600" cy="6324600"/>
          </a:xfrm>
        </p:spPr>
        <p:txBody>
          <a:bodyPr>
            <a:normAutofit/>
          </a:bodyPr>
          <a:lstStyle/>
          <a:p>
            <a:r>
              <a:rPr lang="en-US" b="1" dirty="0"/>
              <a:t>Single premium immediate annuity</a:t>
            </a:r>
            <a:endParaRPr lang="en-US" dirty="0"/>
          </a:p>
          <a:p>
            <a:r>
              <a:rPr lang="en-US" dirty="0"/>
              <a:t>Many insurance companies will allow an insured to purchase a</a:t>
            </a:r>
            <a:r>
              <a:rPr lang="en-US" b="1" dirty="0"/>
              <a:t> single premium immediate annuity</a:t>
            </a:r>
            <a:r>
              <a:rPr lang="en-US" dirty="0"/>
              <a:t> with the cash value that is in the life insurance policy. The income received from such an annuity will be determined based upon the amount of cash in the policy, the income option that is chosen, and the current age and life expectancy of the annuitant. </a:t>
            </a:r>
          </a:p>
          <a:p>
            <a:endParaRPr lang="en-US" dirty="0"/>
          </a:p>
          <a:p>
            <a:endParaRPr lang="en-US" dirty="0"/>
          </a:p>
          <a:p>
            <a:r>
              <a:rPr lang="en-US" dirty="0"/>
              <a:t>The ____________ non-forfeiture option allows the insured’s permanent life insurance policy to be converted into a term life insurance policy with the same face amount of coverage.</a:t>
            </a:r>
            <a:r>
              <a:rPr lang="en-US" b="1" dirty="0"/>
              <a:t> Extended term</a:t>
            </a:r>
            <a:endParaRPr lang="en-US" dirty="0"/>
          </a:p>
          <a:p>
            <a:endParaRPr lang="en-US" dirty="0"/>
          </a:p>
        </p:txBody>
      </p:sp>
    </p:spTree>
    <p:extLst>
      <p:ext uri="{BB962C8B-B14F-4D97-AF65-F5344CB8AC3E}">
        <p14:creationId xmlns:p14="http://schemas.microsoft.com/office/powerpoint/2010/main" val="18734031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7012" y="304800"/>
            <a:ext cx="11811000" cy="6400799"/>
          </a:xfrm>
        </p:spPr>
        <p:txBody>
          <a:bodyPr>
            <a:normAutofit/>
          </a:bodyPr>
          <a:lstStyle/>
          <a:p>
            <a:r>
              <a:rPr lang="en-US" sz="3600" b="1" dirty="0" smtClean="0"/>
              <a:t>Interest sensitive, market sensitive and adjustable life products</a:t>
            </a:r>
            <a:r>
              <a:rPr lang="en-US" sz="2000" dirty="0" smtClean="0"/>
              <a:t>:</a:t>
            </a:r>
            <a:r>
              <a:rPr lang="en-US" sz="2000" dirty="0" smtClean="0"/>
              <a:t/>
            </a:r>
            <a:br>
              <a:rPr lang="en-US" sz="2000" dirty="0" smtClean="0"/>
            </a:br>
            <a:r>
              <a:rPr lang="en-US" sz="2000" dirty="0"/>
              <a:t/>
            </a:r>
            <a:br>
              <a:rPr lang="en-US" sz="20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endParaRPr lang="en-US" sz="2200" dirty="0"/>
          </a:p>
        </p:txBody>
      </p:sp>
    </p:spTree>
    <p:extLst>
      <p:ext uri="{BB962C8B-B14F-4D97-AF65-F5344CB8AC3E}">
        <p14:creationId xmlns:p14="http://schemas.microsoft.com/office/powerpoint/2010/main" val="1051354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Adjustable Life </a:t>
            </a:r>
            <a:endParaRPr lang="en-US" dirty="0"/>
          </a:p>
        </p:txBody>
      </p:sp>
      <p:sp>
        <p:nvSpPr>
          <p:cNvPr id="3" name="Content Placeholder 2"/>
          <p:cNvSpPr>
            <a:spLocks noGrp="1"/>
          </p:cNvSpPr>
          <p:nvPr>
            <p:ph idx="1"/>
          </p:nvPr>
        </p:nvSpPr>
        <p:spPr/>
        <p:txBody>
          <a:bodyPr/>
          <a:lstStyle/>
          <a:p>
            <a:r>
              <a:rPr lang="en-US" dirty="0" smtClean="0"/>
              <a:t>Established in an effort to provide insured both term and permanent coverage</a:t>
            </a:r>
          </a:p>
          <a:p>
            <a:r>
              <a:rPr lang="en-US" dirty="0" smtClean="0"/>
              <a:t>Increase or decrease the premium paying period of the premium</a:t>
            </a:r>
          </a:p>
          <a:p>
            <a:r>
              <a:rPr lang="en-US" dirty="0" smtClean="0"/>
              <a:t>Increase or decrease the face amount</a:t>
            </a:r>
          </a:p>
          <a:p>
            <a:r>
              <a:rPr lang="en-US" dirty="0" smtClean="0"/>
              <a:t>Change the period of protection</a:t>
            </a:r>
            <a:endParaRPr lang="en-US" dirty="0"/>
          </a:p>
        </p:txBody>
      </p:sp>
    </p:spTree>
    <p:extLst>
      <p:ext uri="{BB962C8B-B14F-4D97-AF65-F5344CB8AC3E}">
        <p14:creationId xmlns:p14="http://schemas.microsoft.com/office/powerpoint/2010/main" val="9638858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Universal Life</a:t>
            </a:r>
            <a:endParaRPr lang="en-US" dirty="0"/>
          </a:p>
        </p:txBody>
      </p:sp>
    </p:spTree>
    <p:extLst>
      <p:ext uri="{BB962C8B-B14F-4D97-AF65-F5344CB8AC3E}">
        <p14:creationId xmlns:p14="http://schemas.microsoft.com/office/powerpoint/2010/main" val="424635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7012" y="228600"/>
            <a:ext cx="11658600" cy="6400800"/>
          </a:xfrm>
        </p:spPr>
        <p:txBody>
          <a:bodyPr>
            <a:normAutofit fontScale="92500"/>
          </a:bodyPr>
          <a:lstStyle/>
          <a:p>
            <a:r>
              <a:rPr lang="en-US" dirty="0" smtClean="0"/>
              <a:t>- U</a:t>
            </a:r>
            <a:r>
              <a:rPr lang="en-US" b="1" dirty="0" smtClean="0"/>
              <a:t>niversal </a:t>
            </a:r>
            <a:r>
              <a:rPr lang="en-US" b="1" dirty="0"/>
              <a:t>life</a:t>
            </a:r>
            <a:r>
              <a:rPr lang="en-US" dirty="0"/>
              <a:t> insurance policy, the cash value in the plan is used for purchasing short – t</a:t>
            </a:r>
            <a:r>
              <a:rPr lang="en-US" b="1" dirty="0"/>
              <a:t>erm interest bearing investments</a:t>
            </a:r>
            <a:r>
              <a:rPr lang="en-US" dirty="0"/>
              <a:t>. However, with this type of policy, there is also a minimum guaranteed interest rate in the cash value portion.</a:t>
            </a:r>
          </a:p>
          <a:p>
            <a:r>
              <a:rPr lang="en-US" dirty="0"/>
              <a:t>Universal life insurance allows the policy holder to allocate their premium payment as they choose (within certain guidelines) between funding the amount of death benefit and growing the cash value component.  </a:t>
            </a:r>
            <a:endParaRPr lang="en-US" dirty="0" smtClean="0"/>
          </a:p>
          <a:p>
            <a:r>
              <a:rPr lang="en-US" dirty="0"/>
              <a:t>A joint and survivor policy, also known as a survivorship or last to die policy, pays a death benefit when both contracted parties are deceased. Survivorship policies will always be less expensive than Joint Life/first to die policies because the premiums will be paid into the policy for a greater length, and the death benefit will be delayed noting both individuals must die</a:t>
            </a:r>
          </a:p>
          <a:p>
            <a:r>
              <a:rPr lang="en-US" dirty="0"/>
              <a:t>Universal life insurance allows the policy holder to allocate their</a:t>
            </a:r>
            <a:r>
              <a:rPr lang="en-US" b="1" dirty="0"/>
              <a:t> premium payment as they choose (within certain guidelines) between funding the amount of death benefit and growing the cash value component.</a:t>
            </a:r>
            <a:r>
              <a:rPr lang="en-US" dirty="0"/>
              <a:t> Term life insurance does not have any type of cash or investment component. Whole life insurance requires a set amount of premium- </a:t>
            </a:r>
            <a:r>
              <a:rPr lang="en-US" b="1" dirty="0"/>
              <a:t>flexibility</a:t>
            </a:r>
            <a:r>
              <a:rPr lang="en-US" dirty="0"/>
              <a:t> to move funds between the payment of the </a:t>
            </a:r>
            <a:r>
              <a:rPr lang="en-US" b="1" dirty="0"/>
              <a:t>death benefit</a:t>
            </a:r>
            <a:r>
              <a:rPr lang="en-US" dirty="0"/>
              <a:t> component and </a:t>
            </a:r>
            <a:r>
              <a:rPr lang="en-US" b="1" dirty="0"/>
              <a:t>funding the cash value</a:t>
            </a:r>
            <a:r>
              <a:rPr lang="en-US" dirty="0"/>
              <a:t> component</a:t>
            </a:r>
            <a:r>
              <a:rPr lang="en-US" dirty="0" smtClean="0"/>
              <a:t>.</a:t>
            </a:r>
            <a:endParaRPr lang="en-US" dirty="0"/>
          </a:p>
        </p:txBody>
      </p:sp>
    </p:spTree>
    <p:extLst>
      <p:ext uri="{BB962C8B-B14F-4D97-AF65-F5344CB8AC3E}">
        <p14:creationId xmlns:p14="http://schemas.microsoft.com/office/powerpoint/2010/main" val="3805476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Universal life</a:t>
            </a:r>
            <a:endParaRPr lang="en-US" dirty="0"/>
          </a:p>
        </p:txBody>
      </p:sp>
      <p:sp>
        <p:nvSpPr>
          <p:cNvPr id="3" name="Content Placeholder 2"/>
          <p:cNvSpPr>
            <a:spLocks noGrp="1"/>
          </p:cNvSpPr>
          <p:nvPr>
            <p:ph idx="1"/>
          </p:nvPr>
        </p:nvSpPr>
        <p:spPr/>
        <p:txBody>
          <a:bodyPr/>
          <a:lstStyle/>
          <a:p>
            <a:r>
              <a:rPr lang="en-US" dirty="0" smtClean="0"/>
              <a:t>Insurance and cash amount, flexible premium</a:t>
            </a:r>
          </a:p>
          <a:p>
            <a:r>
              <a:rPr lang="en-US" dirty="0" smtClean="0"/>
              <a:t>Annually renewable </a:t>
            </a:r>
          </a:p>
          <a:p>
            <a:r>
              <a:rPr lang="en-US" dirty="0" smtClean="0"/>
              <a:t>Partial surrender or partial withdrawal</a:t>
            </a:r>
          </a:p>
          <a:p>
            <a:endParaRPr lang="en-US" dirty="0"/>
          </a:p>
        </p:txBody>
      </p:sp>
    </p:spTree>
    <p:extLst>
      <p:ext uri="{BB962C8B-B14F-4D97-AF65-F5344CB8AC3E}">
        <p14:creationId xmlns:p14="http://schemas.microsoft.com/office/powerpoint/2010/main" val="39235129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205393" y="152400"/>
            <a:ext cx="9753600" cy="1325562"/>
          </a:xfrm>
        </p:spPr>
        <p:txBody>
          <a:bodyPr/>
          <a:lstStyle/>
          <a:p>
            <a:r>
              <a:rPr lang="en-US" dirty="0"/>
              <a:t>two primary classes of life </a:t>
            </a:r>
            <a:r>
              <a:rPr lang="en-US" dirty="0" smtClean="0"/>
              <a:t>insurance – Level Term, Permanent</a:t>
            </a:r>
            <a:endParaRPr lang="en-US" dirty="0"/>
          </a:p>
        </p:txBody>
      </p:sp>
      <p:sp>
        <p:nvSpPr>
          <p:cNvPr id="2" name="Content Placeholder 1"/>
          <p:cNvSpPr>
            <a:spLocks noGrp="1"/>
          </p:cNvSpPr>
          <p:nvPr>
            <p:ph idx="1"/>
          </p:nvPr>
        </p:nvSpPr>
        <p:spPr>
          <a:xfrm>
            <a:off x="150812" y="1600200"/>
            <a:ext cx="11887200" cy="5029200"/>
          </a:xfrm>
        </p:spPr>
        <p:txBody>
          <a:bodyPr/>
          <a:lstStyle/>
          <a:p>
            <a:r>
              <a:rPr lang="en-US" b="1" dirty="0" smtClean="0"/>
              <a:t>Level Term for temporary purposes, cheapest, also called mortgage insurance</a:t>
            </a:r>
          </a:p>
          <a:p>
            <a:r>
              <a:rPr lang="en-US" b="1" dirty="0" smtClean="0"/>
              <a:t>Term </a:t>
            </a:r>
            <a:r>
              <a:rPr lang="en-US" b="1" dirty="0"/>
              <a:t>life</a:t>
            </a:r>
            <a:r>
              <a:rPr lang="en-US" dirty="0"/>
              <a:t> insurance is considered to be “pure” life insurance coverage in that it provides only death benefit coverage with no cash value build-up. Term insurance is also purchased for just a fixed number of years, or “</a:t>
            </a:r>
            <a:r>
              <a:rPr lang="en-US" dirty="0" err="1"/>
              <a:t>term.”Term</a:t>
            </a:r>
            <a:r>
              <a:rPr lang="en-US" dirty="0"/>
              <a:t> life insurance does </a:t>
            </a:r>
            <a:r>
              <a:rPr lang="en-US" b="1" dirty="0"/>
              <a:t>not have any type of cash or investment component.</a:t>
            </a:r>
            <a:endParaRPr lang="en-US" dirty="0"/>
          </a:p>
          <a:p>
            <a:r>
              <a:rPr lang="en-US" dirty="0"/>
              <a:t>Term life insurance provides only a death benefit without any type of cash value in the policy. This type of coverage is considered to be pure life insurance coverage</a:t>
            </a:r>
          </a:p>
          <a:p>
            <a:r>
              <a:rPr lang="en-US" dirty="0"/>
              <a:t>With term life insurance, policies will expire after the period of time, or term, has elapsed</a:t>
            </a:r>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9412" y="381000"/>
            <a:ext cx="11430000" cy="6096000"/>
          </a:xfrm>
        </p:spPr>
        <p:txBody>
          <a:bodyPr>
            <a:normAutofit/>
          </a:bodyPr>
          <a:lstStyle/>
          <a:p>
            <a:r>
              <a:rPr lang="en-US" dirty="0"/>
              <a:t>With term life insurance, policies will expire after the period of time, or term, has elapsed. Typically, if the policy holder wishes to remain insured, they will need to</a:t>
            </a:r>
            <a:r>
              <a:rPr lang="en-US" b="1" dirty="0"/>
              <a:t> re-qualify</a:t>
            </a:r>
            <a:r>
              <a:rPr lang="en-US" dirty="0"/>
              <a:t> based on their then-current age, causing the amount of premium that is due to go up.</a:t>
            </a:r>
          </a:p>
          <a:p>
            <a:r>
              <a:rPr lang="en-US" dirty="0"/>
              <a:t>A basic term life insurance policy provides a death benefit if the insured dies with a specified period of time (10, 15, 20, 30 years). If the client survives the term, no benefit is paid, and no premiums are returned. What insurance rider allows for premiums to be paid back to the insured at the end of a specified period of </a:t>
            </a:r>
            <a:r>
              <a:rPr lang="en-US" dirty="0" smtClean="0"/>
              <a:t>time. </a:t>
            </a:r>
          </a:p>
          <a:p>
            <a:r>
              <a:rPr lang="en-US" dirty="0" smtClean="0"/>
              <a:t> </a:t>
            </a:r>
            <a:r>
              <a:rPr lang="en-US" b="1" dirty="0"/>
              <a:t>Return of Premium Ride</a:t>
            </a:r>
            <a:r>
              <a:rPr lang="en-US" dirty="0"/>
              <a:t>r As the name indicates, premiums are returned to the insured at the end of the specified term of the contract. Another benefit is if the insured dies, the beneficiary receives both the death benefit and paid-in premiums.</a:t>
            </a:r>
          </a:p>
          <a:p>
            <a:pPr marL="45720" indent="0">
              <a:buNone/>
            </a:pPr>
            <a:endParaRPr lang="en-US" dirty="0"/>
          </a:p>
        </p:txBody>
      </p:sp>
    </p:spTree>
    <p:extLst>
      <p:ext uri="{BB962C8B-B14F-4D97-AF65-F5344CB8AC3E}">
        <p14:creationId xmlns:p14="http://schemas.microsoft.com/office/powerpoint/2010/main" val="264241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5612" y="304800"/>
            <a:ext cx="11353800" cy="6172200"/>
          </a:xfrm>
        </p:spPr>
        <p:txBody>
          <a:bodyPr>
            <a:normAutofit fontScale="92500"/>
          </a:bodyPr>
          <a:lstStyle/>
          <a:p>
            <a:r>
              <a:rPr lang="en-US" b="1" dirty="0"/>
              <a:t>guaranteed insurability rider</a:t>
            </a:r>
            <a:r>
              <a:rPr lang="en-US" dirty="0"/>
              <a:t> on a life insurance policy allows the insured to purchase additional death benefit coverage on specific dates in the future, usually based on the pre-determined ages of the insured or on the occurrence of certain life events like marriage or the birth of a child. This can be done without the insured being required to provide evidence of insurability or go through another health exam. The cost of a GI rider is usually very reasonable, typically only a few dollars more per month. The GI rider will be priced at the original health rating of the life insurance contract.</a:t>
            </a:r>
          </a:p>
          <a:p>
            <a:r>
              <a:rPr lang="en-US" dirty="0"/>
              <a:t>A convertible provision guarantees that a policyholder can change a term policy to a whole life or universal life policy without the need for a new physical exam, so any change in the insured’s medical status will not matter. The “conversion” to a permanent policy can be done after the initial insurance policy application, as long as all premium payments are paid. Once converted, the policy conditions must remain consistent with the original insurance contract and on time payment of premiums must also continue. No further review of the policyholder is necessary when the policy is converted from a term to whole life policy. A convertible policy provides some financial flexibility, since the policyholder can buy a cheaper term life policy at first, but can later make the change to a permanent policy if their financial status improves</a:t>
            </a:r>
            <a:r>
              <a:rPr lang="en-US" dirty="0" smtClean="0"/>
              <a:t>.</a:t>
            </a:r>
            <a:endParaRPr lang="en-US" dirty="0"/>
          </a:p>
        </p:txBody>
      </p:sp>
    </p:spTree>
    <p:extLst>
      <p:ext uri="{BB962C8B-B14F-4D97-AF65-F5344CB8AC3E}">
        <p14:creationId xmlns:p14="http://schemas.microsoft.com/office/powerpoint/2010/main" val="56760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03212" y="304800"/>
            <a:ext cx="11506199" cy="6477000"/>
          </a:xfrm>
        </p:spPr>
        <p:txBody>
          <a:bodyPr>
            <a:normAutofit/>
          </a:bodyPr>
          <a:lstStyle/>
          <a:p>
            <a:r>
              <a:rPr lang="en-US" dirty="0"/>
              <a:t>Typically, if the policy holder wishes to remain insured, they will need to</a:t>
            </a:r>
            <a:r>
              <a:rPr lang="en-US" b="1" dirty="0"/>
              <a:t> re-qualify</a:t>
            </a:r>
            <a:r>
              <a:rPr lang="en-US" dirty="0"/>
              <a:t> based on their then-current age, causing the amount of premium that is due to go up.</a:t>
            </a:r>
          </a:p>
          <a:p>
            <a:r>
              <a:rPr lang="en-US" dirty="0"/>
              <a:t>As the name implies, term insurance policies will expire after a certain period of time. In most cases, the policy can purchase a policy with a certain time frame such as 10-years or 15-years.</a:t>
            </a:r>
          </a:p>
          <a:p>
            <a:r>
              <a:rPr lang="en-US" dirty="0"/>
              <a:t>As term life insurance is offered for a set number of years, it is often considered to be “temporary” coverage. In addition, in many cases, premiums for term life are less expensive than other forms of coverage because term life only offers a pure amount of death benefit protection without any type of savings or investment </a:t>
            </a:r>
            <a:r>
              <a:rPr lang="en-US" dirty="0" smtClean="0"/>
              <a:t>component</a:t>
            </a:r>
          </a:p>
          <a:p>
            <a:r>
              <a:rPr lang="en-US" dirty="0"/>
              <a:t>There are </a:t>
            </a:r>
            <a:r>
              <a:rPr lang="en-US" b="1" dirty="0"/>
              <a:t>no dividends paid</a:t>
            </a:r>
            <a:r>
              <a:rPr lang="en-US" dirty="0"/>
              <a:t> on term life insurance policies.</a:t>
            </a:r>
          </a:p>
          <a:p>
            <a:r>
              <a:rPr lang="en-US" dirty="0"/>
              <a:t>Term life insurance policies do not have any </a:t>
            </a:r>
            <a:r>
              <a:rPr lang="en-US" b="1" dirty="0"/>
              <a:t>cash or investment component</a:t>
            </a:r>
            <a:endParaRPr lang="en-US" dirty="0"/>
          </a:p>
          <a:p>
            <a:endParaRPr lang="en-US" dirty="0"/>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sz="half" idx="1"/>
          </p:nvPr>
        </p:nvSpPr>
        <p:spPr>
          <a:xfrm>
            <a:off x="379412" y="1066800"/>
            <a:ext cx="11506199" cy="5105400"/>
          </a:xfrm>
        </p:spPr>
        <p:txBody>
          <a:bodyPr>
            <a:normAutofit/>
          </a:bodyPr>
          <a:lstStyle/>
          <a:p>
            <a:r>
              <a:rPr lang="en-US" dirty="0"/>
              <a:t>Permanent life insurance policies provide either a cash savings or an investment component whereby the policy holder can build up a substantial amount of funds over time. In addition, permanent life insurance can stay in force for the remainder of an insured’s life, provided that premium payments continue to be made.</a:t>
            </a:r>
          </a:p>
          <a:p>
            <a:r>
              <a:rPr lang="en-US" dirty="0"/>
              <a:t>With the </a:t>
            </a:r>
            <a:r>
              <a:rPr lang="en-US" b="1" dirty="0"/>
              <a:t>cash value componen</a:t>
            </a:r>
            <a:r>
              <a:rPr lang="en-US" dirty="0"/>
              <a:t>t of a permanent life insurance policy, the policy holder can borrow, as well as withdraw, funds.</a:t>
            </a:r>
          </a:p>
          <a:p>
            <a:r>
              <a:rPr lang="en-US" dirty="0"/>
              <a:t>Permanent life insurance should be used with </a:t>
            </a:r>
            <a:r>
              <a:rPr lang="en-US" b="1" dirty="0"/>
              <a:t>buy / sell</a:t>
            </a:r>
            <a:r>
              <a:rPr lang="en-US" dirty="0"/>
              <a:t> agreements in order to ensure that the </a:t>
            </a:r>
            <a:r>
              <a:rPr lang="en-US" dirty="0" smtClean="0"/>
              <a:t>insured </a:t>
            </a:r>
            <a:r>
              <a:rPr lang="en-US" dirty="0"/>
              <a:t>will not need to re-qualify for life insurance after a certain amount of time elapses. </a:t>
            </a:r>
          </a:p>
        </p:txBody>
      </p:sp>
      <p:sp>
        <p:nvSpPr>
          <p:cNvPr id="5" name="Title 4"/>
          <p:cNvSpPr>
            <a:spLocks noGrp="1"/>
          </p:cNvSpPr>
          <p:nvPr>
            <p:ph type="title"/>
          </p:nvPr>
        </p:nvSpPr>
        <p:spPr>
          <a:xfrm>
            <a:off x="1217614" y="274638"/>
            <a:ext cx="9753600" cy="792162"/>
          </a:xfrm>
        </p:spPr>
        <p:txBody>
          <a:bodyPr/>
          <a:lstStyle/>
          <a:p>
            <a:r>
              <a:rPr lang="en-US" dirty="0"/>
              <a:t>Permanent life insurance</a:t>
            </a:r>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3212" y="304800"/>
            <a:ext cx="11734800" cy="6400800"/>
          </a:xfrm>
        </p:spPr>
        <p:txBody>
          <a:bodyPr/>
          <a:lstStyle/>
          <a:p>
            <a:r>
              <a:rPr lang="en-US" dirty="0"/>
              <a:t>There is an option available on permanent life insurance policies called the </a:t>
            </a:r>
            <a:r>
              <a:rPr lang="en-US" b="1" dirty="0"/>
              <a:t>non-forfeiture option</a:t>
            </a:r>
            <a:r>
              <a:rPr lang="en-US" dirty="0"/>
              <a:t>. Having this feature can prevent a policy from being terminated - whether intentionally or unintentionally - and allowing the insurance company to use the funds in the policy’s cash value component for premium payment </a:t>
            </a:r>
            <a:endParaRPr lang="en-US" dirty="0" smtClean="0"/>
          </a:p>
          <a:p>
            <a:r>
              <a:rPr lang="en-US" dirty="0" smtClean="0"/>
              <a:t>- </a:t>
            </a:r>
            <a:r>
              <a:rPr lang="en-US" b="1" dirty="0"/>
              <a:t>Extended Term</a:t>
            </a:r>
            <a:r>
              <a:rPr lang="en-US" dirty="0"/>
              <a:t>   non-forfeiture option  allows the insured’s </a:t>
            </a:r>
            <a:r>
              <a:rPr lang="en-US" b="1" dirty="0"/>
              <a:t>permanent life insurance policy to be converted into a term life</a:t>
            </a:r>
            <a:r>
              <a:rPr lang="en-US" dirty="0"/>
              <a:t> insurance policy with the same face amount of coverage.</a:t>
            </a:r>
          </a:p>
          <a:p>
            <a:r>
              <a:rPr lang="en-US" dirty="0"/>
              <a:t>The policy holder can either borrow the cash value as a policy loan or withdraw funds that are in the policy’s </a:t>
            </a:r>
            <a:r>
              <a:rPr lang="en-US" b="1" dirty="0"/>
              <a:t>cash value component</a:t>
            </a:r>
            <a:endParaRPr lang="en-US" dirty="0"/>
          </a:p>
          <a:p>
            <a:r>
              <a:rPr lang="en-US" dirty="0"/>
              <a:t>With the</a:t>
            </a:r>
            <a:r>
              <a:rPr lang="en-US" b="1" dirty="0"/>
              <a:t> extended term option</a:t>
            </a:r>
            <a:r>
              <a:rPr lang="en-US" dirty="0"/>
              <a:t>, the insured’s permanent policy is</a:t>
            </a:r>
            <a:r>
              <a:rPr lang="en-US" b="1" dirty="0"/>
              <a:t> converted to a term</a:t>
            </a:r>
            <a:r>
              <a:rPr lang="en-US" dirty="0"/>
              <a:t> life policy using the cash value in the original policy to pay premiums on the converted term policy</a:t>
            </a:r>
          </a:p>
          <a:p>
            <a:r>
              <a:rPr lang="en-US" b="1" dirty="0"/>
              <a:t>Single premium immediate annuity</a:t>
            </a:r>
            <a:r>
              <a:rPr lang="en-US" dirty="0"/>
              <a:t> The more cash value there is in the original policy, the longer the length of term coverage the insured can obtain</a:t>
            </a:r>
            <a:endParaRPr lang="en-US" dirty="0" smtClean="0"/>
          </a:p>
          <a:p>
            <a:endParaRPr lang="en-US" dirty="0" smtClean="0"/>
          </a:p>
          <a:p>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807635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xfrm>
            <a:off x="227012" y="228600"/>
            <a:ext cx="11734800" cy="6477000"/>
          </a:xfrm>
        </p:spPr>
        <p:txBody>
          <a:bodyPr/>
          <a:lstStyle/>
          <a:p>
            <a:r>
              <a:rPr lang="en-US" dirty="0"/>
              <a:t>The death benefit is the amount that is paid to the policy beneficiary upon the death of the insured. Should a permanent life insurance policy holder decide to cancel the policy prior to the insured’s death, they will receive the amount of the cash surrender </a:t>
            </a:r>
            <a:r>
              <a:rPr lang="en-US" dirty="0" smtClean="0"/>
              <a:t>value</a:t>
            </a:r>
          </a:p>
          <a:p>
            <a:r>
              <a:rPr lang="en-US" dirty="0"/>
              <a:t>The ____________ non-forfeiture option allows the insured’s permanent life insurance policy to be converted into a term life insurance policy with the same face amount of coverage.</a:t>
            </a:r>
            <a:r>
              <a:rPr lang="en-US" b="1" dirty="0"/>
              <a:t> Extended term</a:t>
            </a:r>
            <a:endParaRPr lang="en-US" dirty="0"/>
          </a:p>
          <a:p>
            <a:endParaRPr lang="en-US" dirty="0"/>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3212" y="228600"/>
            <a:ext cx="11582400" cy="6553200"/>
          </a:xfrm>
        </p:spPr>
        <p:txBody>
          <a:bodyPr/>
          <a:lstStyle/>
          <a:p>
            <a:r>
              <a:rPr lang="en-US" dirty="0"/>
              <a:t>The ____________ non-forfeiture option allows the insured’s permanent life insurance policy to be converted into a term life insurance policy with the same face amount of coverage. </a:t>
            </a:r>
          </a:p>
          <a:p>
            <a:r>
              <a:rPr lang="en-US" dirty="0"/>
              <a:t>a. Cash surrender </a:t>
            </a:r>
          </a:p>
          <a:p>
            <a:r>
              <a:rPr lang="en-US" dirty="0"/>
              <a:t>b. Extended term </a:t>
            </a:r>
          </a:p>
          <a:p>
            <a:r>
              <a:rPr lang="en-US" dirty="0"/>
              <a:t>c. Single premium immediate annuity </a:t>
            </a:r>
          </a:p>
          <a:p>
            <a:r>
              <a:rPr lang="en-US" dirty="0"/>
              <a:t>d. Reduced paid-up insurance</a:t>
            </a:r>
          </a:p>
          <a:p>
            <a:r>
              <a:rPr lang="en-US" dirty="0"/>
              <a:t> </a:t>
            </a:r>
          </a:p>
          <a:p>
            <a:r>
              <a:rPr lang="en-US" dirty="0"/>
              <a:t>b - With the</a:t>
            </a:r>
            <a:r>
              <a:rPr lang="en-US" b="1" dirty="0"/>
              <a:t> extended term option</a:t>
            </a:r>
            <a:r>
              <a:rPr lang="en-US" dirty="0"/>
              <a:t>, the insured’s permanent policy is converted to a term life policy using the cash value in the original policy to pay premiums on the converted term policy. The more cash value there is in the original policy, the longer the length of term coverage the insured can obtain</a:t>
            </a:r>
          </a:p>
          <a:p>
            <a:endParaRPr lang="en-US" dirty="0"/>
          </a:p>
        </p:txBody>
      </p:sp>
    </p:spTree>
    <p:extLst>
      <p:ext uri="{BB962C8B-B14F-4D97-AF65-F5344CB8AC3E}">
        <p14:creationId xmlns:p14="http://schemas.microsoft.com/office/powerpoint/2010/main" val="2069949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3212" y="304800"/>
            <a:ext cx="11582400" cy="6324600"/>
          </a:xfrm>
        </p:spPr>
        <p:txBody>
          <a:bodyPr/>
          <a:lstStyle/>
          <a:p>
            <a:r>
              <a:rPr lang="en-US" dirty="0"/>
              <a:t>A convertible provision guarantees that a policyholder can change a term policy to a whole life or universal life policy without the need for a new physical exam, so any change in the insured’s medical status will not matter. The “conversion” to a permanent policy can be done after the initial insurance policy application, as long as all premium payments are paid. Once converted, the policy conditions must remain consistent with the original insurance contract and on time payment of premiums must also continue. No further review of the policyholder is necessary when the policy is converted from a term to whole life policy. </a:t>
            </a:r>
            <a:endParaRPr lang="en-US" dirty="0" smtClean="0"/>
          </a:p>
          <a:p>
            <a:r>
              <a:rPr lang="en-US" dirty="0" smtClean="0"/>
              <a:t>A </a:t>
            </a:r>
            <a:r>
              <a:rPr lang="en-US" dirty="0"/>
              <a:t>convertible policy provides some financial flexibility, since the policyholder can buy a cheaper term life policy at first, but can later make the change to a permanent policy if their financial status improves.</a:t>
            </a:r>
          </a:p>
          <a:p>
            <a:endParaRPr lang="en-US" dirty="0"/>
          </a:p>
        </p:txBody>
      </p:sp>
    </p:spTree>
    <p:extLst>
      <p:ext uri="{BB962C8B-B14F-4D97-AF65-F5344CB8AC3E}">
        <p14:creationId xmlns:p14="http://schemas.microsoft.com/office/powerpoint/2010/main" val="4190443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7012" y="304800"/>
            <a:ext cx="11811000" cy="6400799"/>
          </a:xfrm>
        </p:spPr>
        <p:txBody>
          <a:bodyPr>
            <a:normAutofit/>
          </a:bodyPr>
          <a:lstStyle/>
          <a:p>
            <a:r>
              <a:rPr lang="en-US" sz="3600" b="1" dirty="0"/>
              <a:t>Variable </a:t>
            </a:r>
            <a:r>
              <a:rPr lang="en-US" sz="3600" b="1" dirty="0" smtClean="0"/>
              <a:t>Whole life </a:t>
            </a:r>
            <a:r>
              <a:rPr lang="en-US" sz="3600" b="1" dirty="0" smtClean="0"/>
              <a:t>insurance</a:t>
            </a:r>
            <a:br>
              <a:rPr lang="en-US" sz="3600" b="1" dirty="0" smtClean="0"/>
            </a:br>
            <a:r>
              <a:rPr lang="en-US" sz="3600" b="1" dirty="0"/>
              <a:t/>
            </a:r>
            <a:br>
              <a:rPr lang="en-US" sz="3600" b="1" dirty="0"/>
            </a:br>
            <a:r>
              <a:rPr lang="en-US" sz="3600" b="1" dirty="0" smtClean="0"/>
              <a:t>Equity investment</a:t>
            </a:r>
            <a:r>
              <a:rPr lang="en-US" sz="3600" dirty="0" smtClean="0"/>
              <a:t/>
            </a:r>
            <a:br>
              <a:rPr lang="en-US" sz="3600" dirty="0" smtClean="0"/>
            </a:br>
            <a:r>
              <a:rPr lang="en-US" sz="3600" dirty="0"/>
              <a:t/>
            </a:r>
            <a:br>
              <a:rPr lang="en-US" sz="36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endParaRPr lang="en-US" sz="2200" dirty="0"/>
          </a:p>
        </p:txBody>
      </p:sp>
    </p:spTree>
    <p:extLst>
      <p:ext uri="{BB962C8B-B14F-4D97-AF65-F5344CB8AC3E}">
        <p14:creationId xmlns:p14="http://schemas.microsoft.com/office/powerpoint/2010/main" val="348631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7012" y="228600"/>
            <a:ext cx="11658600" cy="6400800"/>
          </a:xfrm>
        </p:spPr>
        <p:txBody>
          <a:bodyPr/>
          <a:lstStyle/>
          <a:p>
            <a:r>
              <a:rPr lang="en-US" b="1" dirty="0"/>
              <a:t>Variable life insurance</a:t>
            </a:r>
            <a:r>
              <a:rPr lang="en-US" dirty="0"/>
              <a:t> includes an investment component whereby the funds in the account are linked to underlying equity investments. </a:t>
            </a:r>
            <a:endParaRPr lang="en-US" dirty="0" smtClean="0"/>
          </a:p>
          <a:p>
            <a:r>
              <a:rPr lang="en-US" dirty="0" smtClean="0"/>
              <a:t>These </a:t>
            </a:r>
            <a:r>
              <a:rPr lang="en-US" dirty="0"/>
              <a:t>funds move up and down in conjunction with the investments, giving the policy holder the opportunity to increase their investment much more than they would with funds in a whole life insurance policy. </a:t>
            </a:r>
            <a:endParaRPr lang="en-US" dirty="0" smtClean="0"/>
          </a:p>
          <a:p>
            <a:r>
              <a:rPr lang="en-US" dirty="0" smtClean="0"/>
              <a:t>Cash value of the policy is not guaranteed and fluctuates with the market</a:t>
            </a:r>
          </a:p>
          <a:p>
            <a:r>
              <a:rPr lang="en-US" dirty="0" smtClean="0"/>
              <a:t>Policy owner bears the investment risk</a:t>
            </a:r>
          </a:p>
          <a:p>
            <a:endParaRPr lang="en-US" dirty="0" smtClean="0"/>
          </a:p>
          <a:p>
            <a:endParaRPr lang="en-US" dirty="0"/>
          </a:p>
        </p:txBody>
      </p:sp>
    </p:spTree>
    <p:extLst>
      <p:ext uri="{BB962C8B-B14F-4D97-AF65-F5344CB8AC3E}">
        <p14:creationId xmlns:p14="http://schemas.microsoft.com/office/powerpoint/2010/main" val="50760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7012" y="304800"/>
            <a:ext cx="11811000" cy="6400799"/>
          </a:xfrm>
        </p:spPr>
        <p:txBody>
          <a:bodyPr>
            <a:normAutofit/>
          </a:bodyPr>
          <a:lstStyle/>
          <a:p>
            <a:r>
              <a:rPr lang="en-US" sz="3600" b="1" dirty="0"/>
              <a:t>Variable </a:t>
            </a:r>
            <a:r>
              <a:rPr lang="en-US" sz="3600" b="1" dirty="0" smtClean="0"/>
              <a:t>universal life </a:t>
            </a:r>
            <a:r>
              <a:rPr lang="en-US" sz="3600" b="1" dirty="0" smtClean="0"/>
              <a:t>insurance</a:t>
            </a:r>
            <a:br>
              <a:rPr lang="en-US" sz="3600" b="1" dirty="0" smtClean="0"/>
            </a:br>
            <a:r>
              <a:rPr lang="en-US" sz="3600" b="1" dirty="0"/>
              <a:t/>
            </a:r>
            <a:br>
              <a:rPr lang="en-US" sz="3600" b="1" dirty="0"/>
            </a:br>
            <a:r>
              <a:rPr lang="en-US" sz="3600" dirty="0" smtClean="0"/>
              <a:t/>
            </a:r>
            <a:br>
              <a:rPr lang="en-US" sz="3600" dirty="0" smtClean="0"/>
            </a:br>
            <a:r>
              <a:rPr lang="en-US" sz="3600" dirty="0"/>
              <a:t/>
            </a:r>
            <a:br>
              <a:rPr lang="en-US" sz="36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endParaRPr lang="en-US" sz="2200" dirty="0"/>
          </a:p>
        </p:txBody>
      </p:sp>
    </p:spTree>
    <p:extLst>
      <p:ext uri="{BB962C8B-B14F-4D97-AF65-F5344CB8AC3E}">
        <p14:creationId xmlns:p14="http://schemas.microsoft.com/office/powerpoint/2010/main" val="7569737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7612" y="762000"/>
            <a:ext cx="10820402" cy="5943600"/>
          </a:xfrm>
        </p:spPr>
        <p:txBody>
          <a:bodyPr/>
          <a:lstStyle/>
          <a:p>
            <a:r>
              <a:rPr lang="en-US" dirty="0" smtClean="0"/>
              <a:t>Combines universal with variable life</a:t>
            </a:r>
          </a:p>
          <a:p>
            <a:r>
              <a:rPr lang="en-US" dirty="0"/>
              <a:t>Must have both security and Life insurance license (SEC, FINRA, State</a:t>
            </a:r>
            <a:r>
              <a:rPr lang="en-US" dirty="0" smtClean="0"/>
              <a:t>)</a:t>
            </a:r>
          </a:p>
          <a:p>
            <a:endParaRPr lang="en-US" dirty="0"/>
          </a:p>
          <a:p>
            <a:pPr marL="45720" indent="0">
              <a:buNone/>
            </a:pPr>
            <a:endParaRPr lang="en-US" dirty="0"/>
          </a:p>
          <a:p>
            <a:endParaRPr lang="en-US" dirty="0"/>
          </a:p>
        </p:txBody>
      </p:sp>
    </p:spTree>
    <p:extLst>
      <p:ext uri="{BB962C8B-B14F-4D97-AF65-F5344CB8AC3E}">
        <p14:creationId xmlns:p14="http://schemas.microsoft.com/office/powerpoint/2010/main" val="2528720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7012" y="304800"/>
            <a:ext cx="11811000" cy="6400799"/>
          </a:xfrm>
        </p:spPr>
        <p:txBody>
          <a:bodyPr>
            <a:normAutofit/>
          </a:bodyPr>
          <a:lstStyle/>
          <a:p>
            <a:r>
              <a:rPr lang="en-US" sz="3600" b="1" dirty="0" smtClean="0"/>
              <a:t>Interest sensitive whole life</a:t>
            </a:r>
            <a:br>
              <a:rPr lang="en-US" sz="3600" b="1" dirty="0" smtClean="0"/>
            </a:br>
            <a:r>
              <a:rPr lang="en-US" sz="3600" b="1" dirty="0"/>
              <a:t/>
            </a:r>
            <a:br>
              <a:rPr lang="en-US" sz="3600" b="1" dirty="0"/>
            </a:br>
            <a:r>
              <a:rPr lang="en-US" sz="3600" b="1" dirty="0" smtClean="0"/>
              <a:t>Indexed life</a:t>
            </a:r>
            <a:br>
              <a:rPr lang="en-US" sz="3600" b="1" dirty="0" smtClean="0"/>
            </a:br>
            <a:r>
              <a:rPr lang="en-US" sz="3600" b="1" dirty="0"/>
              <a:t/>
            </a:r>
            <a:br>
              <a:rPr lang="en-US" sz="3600" b="1" dirty="0"/>
            </a:br>
            <a:r>
              <a:rPr lang="en-US" sz="3600" b="1" dirty="0" smtClean="0"/>
              <a:t>Joint Life</a:t>
            </a:r>
            <a:r>
              <a:rPr lang="en-US" sz="3600" b="1" dirty="0" smtClean="0"/>
              <a:t/>
            </a:r>
            <a:br>
              <a:rPr lang="en-US" sz="3600" b="1" dirty="0" smtClean="0"/>
            </a:br>
            <a:r>
              <a:rPr lang="en-US" sz="3600" b="1" dirty="0"/>
              <a:t/>
            </a:r>
            <a:br>
              <a:rPr lang="en-US" sz="3600" b="1" dirty="0"/>
            </a:br>
            <a:r>
              <a:rPr lang="en-US" sz="3600" b="1" dirty="0" smtClean="0"/>
              <a:t>Survivorship life</a:t>
            </a:r>
            <a:r>
              <a:rPr lang="en-US" sz="3600" dirty="0" smtClean="0"/>
              <a:t/>
            </a:r>
            <a:br>
              <a:rPr lang="en-US" sz="3600" dirty="0" smtClean="0"/>
            </a:br>
            <a:r>
              <a:rPr lang="en-US" sz="3600" dirty="0"/>
              <a:t/>
            </a:r>
            <a:br>
              <a:rPr lang="en-US" sz="36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r>
              <a:rPr lang="en-US" sz="2200" dirty="0" smtClean="0"/>
              <a:t/>
            </a:r>
            <a:br>
              <a:rPr lang="en-US" sz="2200" dirty="0" smtClean="0"/>
            </a:br>
            <a:r>
              <a:rPr lang="en-US" sz="2200" dirty="0"/>
              <a:t/>
            </a:r>
            <a:br>
              <a:rPr lang="en-US" sz="2200" dirty="0"/>
            </a:br>
            <a:endParaRPr lang="en-US" sz="2200" dirty="0"/>
          </a:p>
        </p:txBody>
      </p:sp>
    </p:spTree>
    <p:extLst>
      <p:ext uri="{BB962C8B-B14F-4D97-AF65-F5344CB8AC3E}">
        <p14:creationId xmlns:p14="http://schemas.microsoft.com/office/powerpoint/2010/main" val="22742746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Interest sensitive whole life</a:t>
            </a:r>
            <a:endParaRPr lang="en-US" dirty="0"/>
          </a:p>
        </p:txBody>
      </p:sp>
      <p:sp>
        <p:nvSpPr>
          <p:cNvPr id="3" name="Content Placeholder 2"/>
          <p:cNvSpPr>
            <a:spLocks noGrp="1"/>
          </p:cNvSpPr>
          <p:nvPr>
            <p:ph idx="1"/>
          </p:nvPr>
        </p:nvSpPr>
        <p:spPr/>
        <p:txBody>
          <a:bodyPr/>
          <a:lstStyle/>
          <a:p>
            <a:r>
              <a:rPr lang="en-US" dirty="0" smtClean="0"/>
              <a:t>Current assumption life, offers guaranteed death benefit to age 100</a:t>
            </a:r>
          </a:p>
          <a:p>
            <a:r>
              <a:rPr lang="en-US" dirty="0" smtClean="0"/>
              <a:t>Insurance Provider set the initial premium based on current assumptions about risk interest and expenses</a:t>
            </a:r>
          </a:p>
          <a:p>
            <a:r>
              <a:rPr lang="en-US" dirty="0" smtClean="0"/>
              <a:t> Credit cash values to money market rates can be higher than the guaranteed levels</a:t>
            </a:r>
          </a:p>
          <a:p>
            <a:r>
              <a:rPr lang="en-US" dirty="0" smtClean="0"/>
              <a:t>Provides for a minimum guaranteed interest rates</a:t>
            </a:r>
          </a:p>
          <a:p>
            <a:r>
              <a:rPr lang="en-US" dirty="0" smtClean="0"/>
              <a:t>Allow shorter premium paying period </a:t>
            </a:r>
            <a:r>
              <a:rPr lang="en-US" dirty="0"/>
              <a:t>o</a:t>
            </a:r>
            <a:r>
              <a:rPr lang="en-US" dirty="0" smtClean="0"/>
              <a:t>r greater cash value accumulation </a:t>
            </a:r>
            <a:endParaRPr lang="en-US" dirty="0"/>
          </a:p>
        </p:txBody>
      </p:sp>
    </p:spTree>
    <p:extLst>
      <p:ext uri="{BB962C8B-B14F-4D97-AF65-F5344CB8AC3E}">
        <p14:creationId xmlns:p14="http://schemas.microsoft.com/office/powerpoint/2010/main" val="463955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life</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9471840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Joint life</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290079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Survivorship life</a:t>
            </a:r>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252735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1</a:t>
            </a:r>
            <a:endParaRPr lang="en-US" dirty="0"/>
          </a:p>
        </p:txBody>
      </p:sp>
      <p:sp>
        <p:nvSpPr>
          <p:cNvPr id="3" name="Content Placeholder 2"/>
          <p:cNvSpPr>
            <a:spLocks noGrp="1"/>
          </p:cNvSpPr>
          <p:nvPr>
            <p:ph idx="1"/>
          </p:nvPr>
        </p:nvSpPr>
        <p:spPr>
          <a:xfrm>
            <a:off x="455612" y="1828800"/>
            <a:ext cx="11430000" cy="4648200"/>
          </a:xfrm>
        </p:spPr>
        <p:txBody>
          <a:bodyPr>
            <a:normAutofit fontScale="85000" lnSpcReduction="20000"/>
          </a:bodyPr>
          <a:lstStyle/>
          <a:p>
            <a:r>
              <a:rPr lang="en-US" dirty="0"/>
              <a:t>The ____________ non-forfeiture option allows the insured’s permanent life insurance policy to be converted into a term life insurance policy with the same face amount of coverage. </a:t>
            </a:r>
          </a:p>
          <a:p>
            <a:r>
              <a:rPr lang="en-US" dirty="0"/>
              <a:t>a. Cash surrender </a:t>
            </a:r>
          </a:p>
          <a:p>
            <a:r>
              <a:rPr lang="en-US" dirty="0"/>
              <a:t>b. Extended term </a:t>
            </a:r>
          </a:p>
          <a:p>
            <a:r>
              <a:rPr lang="en-US" dirty="0"/>
              <a:t>c. Single premium immediate annuity </a:t>
            </a:r>
          </a:p>
          <a:p>
            <a:r>
              <a:rPr lang="en-US" dirty="0"/>
              <a:t>d. Reduced paid-up insurance</a:t>
            </a:r>
          </a:p>
          <a:p>
            <a:r>
              <a:rPr lang="en-US" dirty="0"/>
              <a:t> </a:t>
            </a:r>
          </a:p>
          <a:p>
            <a:r>
              <a:rPr lang="en-US" dirty="0"/>
              <a:t>b - With the</a:t>
            </a:r>
            <a:r>
              <a:rPr lang="en-US" b="1" dirty="0"/>
              <a:t> extended term option</a:t>
            </a:r>
            <a:r>
              <a:rPr lang="en-US" dirty="0"/>
              <a:t>, the insured’s permanent policy is converted to a term life policy using the cash value in the original policy to pay premiums on the converted term policy. The more cash value there is in the original policy, the longer the length of term coverage the insured can obtain</a:t>
            </a:r>
          </a:p>
          <a:p>
            <a:r>
              <a:rPr lang="en-US" dirty="0"/>
              <a:t> </a:t>
            </a:r>
          </a:p>
          <a:p>
            <a:endParaRPr lang="en-US" dirty="0"/>
          </a:p>
        </p:txBody>
      </p:sp>
    </p:spTree>
    <p:extLst>
      <p:ext uri="{BB962C8B-B14F-4D97-AF65-F5344CB8AC3E}">
        <p14:creationId xmlns:p14="http://schemas.microsoft.com/office/powerpoint/2010/main" val="325071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2</a:t>
            </a:r>
            <a:endParaRPr lang="en-US" dirty="0"/>
          </a:p>
        </p:txBody>
      </p:sp>
      <p:sp>
        <p:nvSpPr>
          <p:cNvPr id="3" name="Content Placeholder 2"/>
          <p:cNvSpPr>
            <a:spLocks noGrp="1"/>
          </p:cNvSpPr>
          <p:nvPr>
            <p:ph idx="1"/>
          </p:nvPr>
        </p:nvSpPr>
        <p:spPr>
          <a:xfrm>
            <a:off x="303212" y="1828800"/>
            <a:ext cx="11582400" cy="4800600"/>
          </a:xfrm>
        </p:spPr>
        <p:txBody>
          <a:bodyPr>
            <a:normAutofit fontScale="92500" lnSpcReduction="10000"/>
          </a:bodyPr>
          <a:lstStyle/>
          <a:p>
            <a:r>
              <a:rPr lang="en-US" dirty="0"/>
              <a:t>Which of the following non-forfeiture options will allow the policy holder to be paid an amount that is commensurate with the original policy’s cash value as well as the policy holder’s age for the remainder of his or her life? </a:t>
            </a:r>
          </a:p>
          <a:p>
            <a:r>
              <a:rPr lang="en-US" b="1" dirty="0"/>
              <a:t>a. Single premium immediate annuity </a:t>
            </a:r>
            <a:endParaRPr lang="en-US" dirty="0"/>
          </a:p>
          <a:p>
            <a:r>
              <a:rPr lang="en-US" dirty="0"/>
              <a:t>b. Extended term </a:t>
            </a:r>
          </a:p>
          <a:p>
            <a:r>
              <a:rPr lang="en-US" dirty="0"/>
              <a:t>c. Reduced paid-up </a:t>
            </a:r>
          </a:p>
          <a:p>
            <a:r>
              <a:rPr lang="en-US" dirty="0"/>
              <a:t>d. Cash surrender </a:t>
            </a:r>
          </a:p>
          <a:p>
            <a:r>
              <a:rPr lang="en-US" dirty="0"/>
              <a:t>a - Many insurance companies will allow an insured to purchase a single premium immediate annuity with the cash value that is in the life insurance policy. The income received from such an annuity will be determined based upon the amount of cash in the policy, the income option that is chosen, and the current age and life expectancy of the annuitant. </a:t>
            </a:r>
          </a:p>
          <a:p>
            <a:endParaRPr lang="en-US" dirty="0"/>
          </a:p>
        </p:txBody>
      </p:sp>
    </p:spTree>
    <p:extLst>
      <p:ext uri="{BB962C8B-B14F-4D97-AF65-F5344CB8AC3E}">
        <p14:creationId xmlns:p14="http://schemas.microsoft.com/office/powerpoint/2010/main" val="2068997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812" y="274638"/>
            <a:ext cx="10439402" cy="1325562"/>
          </a:xfrm>
        </p:spPr>
        <p:txBody>
          <a:bodyPr/>
          <a:lstStyle/>
          <a:p>
            <a:r>
              <a:rPr lang="en-US" dirty="0" smtClean="0"/>
              <a:t>Question 3</a:t>
            </a:r>
            <a:endParaRPr lang="en-US" dirty="0"/>
          </a:p>
        </p:txBody>
      </p:sp>
      <p:sp>
        <p:nvSpPr>
          <p:cNvPr id="3" name="Content Placeholder 2"/>
          <p:cNvSpPr>
            <a:spLocks noGrp="1"/>
          </p:cNvSpPr>
          <p:nvPr>
            <p:ph idx="1"/>
          </p:nvPr>
        </p:nvSpPr>
        <p:spPr>
          <a:xfrm>
            <a:off x="303212" y="1828800"/>
            <a:ext cx="11658600" cy="4800600"/>
          </a:xfrm>
        </p:spPr>
        <p:txBody>
          <a:bodyPr>
            <a:normAutofit fontScale="92500" lnSpcReduction="10000"/>
          </a:bodyPr>
          <a:lstStyle/>
          <a:p>
            <a:r>
              <a:rPr lang="en-US" dirty="0"/>
              <a:t>Pete wanted a life insurance policy where he would have the flexibility to move funds between the payment of the death benefit component and funding the cash value component. Which type of life insurance should Pete consider? </a:t>
            </a:r>
          </a:p>
          <a:p>
            <a:r>
              <a:rPr lang="en-US" dirty="0"/>
              <a:t>a. Variable life insurance </a:t>
            </a:r>
          </a:p>
          <a:p>
            <a:r>
              <a:rPr lang="en-US" dirty="0"/>
              <a:t>b. Term life insurance </a:t>
            </a:r>
          </a:p>
          <a:p>
            <a:r>
              <a:rPr lang="en-US" dirty="0"/>
              <a:t>c. Whole life insurance </a:t>
            </a:r>
          </a:p>
          <a:p>
            <a:r>
              <a:rPr lang="en-US" dirty="0"/>
              <a:t>d. Universal life insurance </a:t>
            </a:r>
          </a:p>
          <a:p>
            <a:r>
              <a:rPr lang="en-US" b="1" dirty="0"/>
              <a:t>d - Universal life insurance</a:t>
            </a:r>
            <a:r>
              <a:rPr lang="en-US" dirty="0"/>
              <a:t> allows the policy holder to allocate their premium payment as they choose (within certain guidelines) between funding the amount of death benefit and growing the cash value component. Term life insurance does not have any type of cash or investment component. Whole life insurance requires a set amount of premium that goes towards paying the cost of the death benefit and funding the cash value </a:t>
            </a:r>
            <a:r>
              <a:rPr lang="en-US" dirty="0" smtClean="0"/>
              <a:t>component</a:t>
            </a:r>
            <a:r>
              <a:rPr lang="en-US" dirty="0"/>
              <a:t>.</a:t>
            </a:r>
          </a:p>
        </p:txBody>
      </p:sp>
    </p:spTree>
    <p:extLst>
      <p:ext uri="{BB962C8B-B14F-4D97-AF65-F5344CB8AC3E}">
        <p14:creationId xmlns:p14="http://schemas.microsoft.com/office/powerpoint/2010/main" val="64846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2" y="274638"/>
            <a:ext cx="10591802" cy="1325562"/>
          </a:xfrm>
        </p:spPr>
        <p:txBody>
          <a:bodyPr/>
          <a:lstStyle/>
          <a:p>
            <a:r>
              <a:rPr lang="en-US" dirty="0" smtClean="0"/>
              <a:t>Question 4</a:t>
            </a:r>
            <a:endParaRPr lang="en-US" dirty="0"/>
          </a:p>
        </p:txBody>
      </p:sp>
      <p:sp>
        <p:nvSpPr>
          <p:cNvPr id="3" name="Content Placeholder 2"/>
          <p:cNvSpPr>
            <a:spLocks noGrp="1"/>
          </p:cNvSpPr>
          <p:nvPr>
            <p:ph idx="1"/>
          </p:nvPr>
        </p:nvSpPr>
        <p:spPr>
          <a:xfrm>
            <a:off x="303212" y="1828800"/>
            <a:ext cx="11506200" cy="4876800"/>
          </a:xfrm>
        </p:spPr>
        <p:txBody>
          <a:bodyPr>
            <a:noAutofit/>
          </a:bodyPr>
          <a:lstStyle/>
          <a:p>
            <a:pPr marL="45720" indent="0">
              <a:buNone/>
            </a:pPr>
            <a:r>
              <a:rPr lang="en-US" sz="2000" dirty="0">
                <a:latin typeface="Calibri" panose="020F0502020204030204" pitchFamily="34" charset="0"/>
                <a:cs typeface="Calibri" panose="020F0502020204030204" pitchFamily="34" charset="0"/>
              </a:rPr>
              <a:t>Underwriting is a major consideration when an insured wishes to replace her current policy for all of the following reasons EXCEPT</a:t>
            </a:r>
          </a:p>
          <a:p>
            <a:r>
              <a:rPr lang="en-US" sz="2000" dirty="0" smtClean="0">
                <a:latin typeface="Calibri" panose="020F0502020204030204" pitchFamily="34" charset="0"/>
                <a:cs typeface="Calibri" panose="020F0502020204030204" pitchFamily="34" charset="0"/>
              </a:rPr>
              <a:t>Due </a:t>
            </a:r>
            <a:r>
              <a:rPr lang="en-US" sz="2000" dirty="0">
                <a:latin typeface="Calibri" panose="020F0502020204030204" pitchFamily="34" charset="0"/>
                <a:cs typeface="Calibri" panose="020F0502020204030204" pitchFamily="34" charset="0"/>
              </a:rPr>
              <a:t>to age or health, the policy may change </a:t>
            </a:r>
            <a:r>
              <a:rPr lang="en-US" sz="2000" dirty="0" smtClean="0">
                <a:latin typeface="Calibri" panose="020F0502020204030204" pitchFamily="34" charset="0"/>
                <a:cs typeface="Calibri" panose="020F0502020204030204" pitchFamily="34" charset="0"/>
              </a:rPr>
              <a:t>dramatically</a:t>
            </a:r>
            <a:endParaRPr lang="en-US" sz="2000" dirty="0">
              <a:latin typeface="Calibri" panose="020F0502020204030204" pitchFamily="34" charset="0"/>
              <a:cs typeface="Calibri" panose="020F0502020204030204" pitchFamily="34" charset="0"/>
            </a:endParaRPr>
          </a:p>
          <a:p>
            <a:r>
              <a:rPr lang="en-US" sz="2000" dirty="0" smtClean="0">
                <a:latin typeface="Calibri" panose="020F0502020204030204" pitchFamily="34" charset="0"/>
                <a:cs typeface="Calibri" panose="020F0502020204030204" pitchFamily="34" charset="0"/>
              </a:rPr>
              <a:t>Pre-existing </a:t>
            </a:r>
            <a:r>
              <a:rPr lang="en-US" sz="2000" dirty="0">
                <a:latin typeface="Calibri" panose="020F0502020204030204" pitchFamily="34" charset="0"/>
                <a:cs typeface="Calibri" panose="020F0502020204030204" pitchFamily="34" charset="0"/>
              </a:rPr>
              <a:t>conditions that were previously covered may not be covered under the replacing </a:t>
            </a:r>
            <a:r>
              <a:rPr lang="en-US" sz="2000" dirty="0" smtClean="0">
                <a:latin typeface="Calibri" panose="020F0502020204030204" pitchFamily="34" charset="0"/>
                <a:cs typeface="Calibri" panose="020F0502020204030204" pitchFamily="34" charset="0"/>
              </a:rPr>
              <a:t>policy</a:t>
            </a:r>
            <a:endParaRPr lang="en-US" sz="2000" dirty="0">
              <a:latin typeface="Calibri" panose="020F0502020204030204" pitchFamily="34" charset="0"/>
              <a:cs typeface="Calibri" panose="020F0502020204030204" pitchFamily="34" charset="0"/>
            </a:endParaRPr>
          </a:p>
          <a:p>
            <a:r>
              <a:rPr lang="en-US" sz="2000" dirty="0" smtClean="0">
                <a:latin typeface="Calibri" panose="020F0502020204030204" pitchFamily="34" charset="0"/>
                <a:cs typeface="Calibri" panose="020F0502020204030204" pitchFamily="34" charset="0"/>
              </a:rPr>
              <a:t>Benefits </a:t>
            </a:r>
            <a:r>
              <a:rPr lang="en-US" sz="2000" dirty="0">
                <a:latin typeface="Calibri" panose="020F0502020204030204" pitchFamily="34" charset="0"/>
                <a:cs typeface="Calibri" panose="020F0502020204030204" pitchFamily="34" charset="0"/>
              </a:rPr>
              <a:t>may </a:t>
            </a:r>
            <a:r>
              <a:rPr lang="en-US" sz="2000" dirty="0" smtClean="0">
                <a:latin typeface="Calibri" panose="020F0502020204030204" pitchFamily="34" charset="0"/>
                <a:cs typeface="Calibri" panose="020F0502020204030204" pitchFamily="34" charset="0"/>
              </a:rPr>
              <a:t>change</a:t>
            </a:r>
            <a:endParaRPr lang="en-US" sz="2000" dirty="0">
              <a:latin typeface="Calibri" panose="020F0502020204030204" pitchFamily="34" charset="0"/>
              <a:cs typeface="Calibri" panose="020F0502020204030204" pitchFamily="34" charset="0"/>
            </a:endParaRPr>
          </a:p>
          <a:p>
            <a:r>
              <a:rPr lang="en-US" sz="2000" dirty="0" smtClean="0">
                <a:latin typeface="Calibri" panose="020F0502020204030204" pitchFamily="34" charset="0"/>
                <a:cs typeface="Calibri" panose="020F0502020204030204" pitchFamily="34" charset="0"/>
              </a:rPr>
              <a:t>Premiums </a:t>
            </a:r>
            <a:r>
              <a:rPr lang="en-US" sz="2000" dirty="0">
                <a:latin typeface="Calibri" panose="020F0502020204030204" pitchFamily="34" charset="0"/>
                <a:cs typeface="Calibri" panose="020F0502020204030204" pitchFamily="34" charset="0"/>
              </a:rPr>
              <a:t>always stay the same.</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Underwriting is important when replacement is involved. It is an underwriter's duty to evaluate risk and decide whether or not a person is eligible for coverage. When replacement is involved, the insured may be under the assumption that a replacing policy is in his/her best interests, but after being evaluated by an underwriter, where premium and risk are exchanged, an insured </a:t>
            </a:r>
            <a:r>
              <a:rPr lang="en-US" sz="2000" b="1" dirty="0">
                <a:latin typeface="Calibri" panose="020F0502020204030204" pitchFamily="34" charset="0"/>
                <a:cs typeface="Calibri" panose="020F0502020204030204" pitchFamily="34" charset="0"/>
              </a:rPr>
              <a:t>may not be paying the same premium </a:t>
            </a:r>
            <a:r>
              <a:rPr lang="en-US" sz="2000" dirty="0">
                <a:latin typeface="Calibri" panose="020F0502020204030204" pitchFamily="34" charset="0"/>
                <a:cs typeface="Calibri" panose="020F0502020204030204" pitchFamily="34" charset="0"/>
              </a:rPr>
              <a:t>or receiving the same benefits.</a:t>
            </a:r>
          </a:p>
          <a:p>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81024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851</TotalTime>
  <Words>3183</Words>
  <Application>Microsoft Office PowerPoint</Application>
  <PresentationFormat>Custom</PresentationFormat>
  <Paragraphs>184</Paragraphs>
  <Slides>42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Century Gothic</vt:lpstr>
      <vt:lpstr>World country report presentation</vt:lpstr>
      <vt:lpstr>Types of insurance policies</vt:lpstr>
      <vt:lpstr>Types of policies </vt:lpstr>
      <vt:lpstr>Level term</vt:lpstr>
      <vt:lpstr>Whole life insurance:        </vt:lpstr>
      <vt:lpstr>Whole life insurance:  With a whole life insurance policy, the amount of death benefit can remain level throughout the life of the policy.   In addition, the premiums on whole life insurance will remain the same through the entire duration of the policy.  Participating whole life insurance policies will share in the issuing insurance company’s excess profits in the form of dividends.   These dividend payments will typically go into the policy’s cash value component, adding to the amount of funds in this account.      </vt:lpstr>
      <vt:lpstr>Traditional whole life insurance</vt:lpstr>
      <vt:lpstr>PowerPoint Presentation</vt:lpstr>
      <vt:lpstr>PowerPoint Presentation</vt:lpstr>
      <vt:lpstr>PowerPoint Presentation</vt:lpstr>
      <vt:lpstr>three basic form of whole life insurance</vt:lpstr>
      <vt:lpstr>Straight whole life</vt:lpstr>
      <vt:lpstr>PowerPoint Presentation</vt:lpstr>
      <vt:lpstr>Limited Pay</vt:lpstr>
      <vt:lpstr>Single premium</vt:lpstr>
      <vt:lpstr>PowerPoint Presentation</vt:lpstr>
      <vt:lpstr>Interest sensitive, market sensitive and adjustable life products:        </vt:lpstr>
      <vt:lpstr>Adjustable Life </vt:lpstr>
      <vt:lpstr>Universal Life</vt:lpstr>
      <vt:lpstr>PowerPoint Presentation</vt:lpstr>
      <vt:lpstr>Universal life</vt:lpstr>
      <vt:lpstr>two primary classes of life insurance – Level Term, Permanent</vt:lpstr>
      <vt:lpstr>PowerPoint Presentation</vt:lpstr>
      <vt:lpstr>PowerPoint Presentation</vt:lpstr>
      <vt:lpstr>PowerPoint Presentation</vt:lpstr>
      <vt:lpstr>Permanent life insurance</vt:lpstr>
      <vt:lpstr>PowerPoint Presentation</vt:lpstr>
      <vt:lpstr>PowerPoint Presentation</vt:lpstr>
      <vt:lpstr>PowerPoint Presentation</vt:lpstr>
      <vt:lpstr>PowerPoint Presentation</vt:lpstr>
      <vt:lpstr>Variable Whole life insurance  Equity investment        </vt:lpstr>
      <vt:lpstr>PowerPoint Presentation</vt:lpstr>
      <vt:lpstr>Variable universal life insurance          </vt:lpstr>
      <vt:lpstr>PowerPoint Presentation</vt:lpstr>
      <vt:lpstr>Interest sensitive whole life  Indexed life  Joint Life  Survivorship life        </vt:lpstr>
      <vt:lpstr>Interest sensitive whole life</vt:lpstr>
      <vt:lpstr>Indexed life</vt:lpstr>
      <vt:lpstr>Joint life</vt:lpstr>
      <vt:lpstr>Survivorship life</vt:lpstr>
      <vt:lpstr>Question 1</vt:lpstr>
      <vt:lpstr>Question 2</vt:lpstr>
      <vt:lpstr>Question 3</vt:lpstr>
      <vt:lpstr>Question 4</vt:lpstr>
    </vt:vector>
  </TitlesOfParts>
  <Company>CommVault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Your Country</dc:title>
  <dc:creator>Raheel Khan</dc:creator>
  <cp:lastModifiedBy>Raheel Khan</cp:lastModifiedBy>
  <cp:revision>51</cp:revision>
  <dcterms:created xsi:type="dcterms:W3CDTF">2022-02-16T20:37:53Z</dcterms:created>
  <dcterms:modified xsi:type="dcterms:W3CDTF">2022-02-17T21:47:57Z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